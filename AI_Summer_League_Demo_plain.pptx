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8.xml" ContentType="application/vnd.openxmlformats-officedocument.presentationml.slide+xml"/>
  <Override PartName="/ppt/slides/slide19.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5"/>
    <p:sldId id="260" r:id="rId6"/>
    <p:sldId id="261" r:id="rId7"/>
    <p:sldId id="262" r:id="rId8"/>
    <p:sldId id="263" r:id="rId9"/>
    <p:sldId id="264" r:id="rId10"/>
    <p:sldId id="265" r:id="rId11"/>
    <p:sldId id="273" r:id="rId24"/>
    <p:sldId id="274" r:id="rId25"/>
    <p:sldId id="266" r:id="rId12"/>
    <p:sldId id="267" r:id="rId13"/>
    <p:sldId id="268" r:id="rId14"/>
    <p:sldId id="269" r:id="rId15"/>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  <Relationship Id="rId24" Type="http://schemas.openxmlformats.org/officeDocument/2006/relationships/slide" Target="slides/slide18.xml"/>
  <Relationship Id="rId25" Type="http://schemas.openxmlformats.org/officeDocument/2006/relationships/slide" Target="slides/slide19.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Real errors caught (of 5)</c:v>
                </c:pt>
              </c:strCache>
            </c:strRef>
          </c:tx>
          <c:spPr>
            <a:solidFill>
              <a:srgbClr val="0F7FA6"/>
            </a:solidFill>
            <a:effectLst/>
          </c:spPr>
          <c:invertIfNegative val="0"/>
          <c:dLbls>
            <c:numFmt formatCode="#,##0" sourceLinked="0"/>
            <c:txPr>
              <a:bodyPr/>
              <a:lstStyle/>
              <a:p>
                <a:pPr>
                  <a:defRPr b="0" i="0" strike="noStrike" sz="950" u="none">
                    <a:solidFill>
                      <a:srgbClr val="333333"/>
                    </a:solidFill>
                    <a:latin typeface="Arial"/>
                  </a:defRPr>
                </a:pPr>
              </a:p>
            </c:txPr>
            <c:showLegendKey val="0"/>
            <c:showVal val="1"/>
            <c:showCatName val="0"/>
            <c:showSerName val="0"/>
            <c:showPercent val="0"/>
            <c:showBubbleSize val="0"/>
            <c:showLeaderLines val="0"/>
          </c:dLbls>
          <c:cat>
            <c:multiLvlStrRef>
              <c:f>Sheet1!$A$2:$A$5</c:f>
              <c:multiLvlStrCache>
                <c:ptCount val="4"/>
                <c:lvl>
                  <c:pt idx="0">
                    <c:v>Method A
(best of 3)</c:v>
                  </c:pt>
                  <c:pt idx="1">
                    <c:v>Method B
1st version</c:v>
                  </c:pt>
                  <c:pt idx="2">
                    <c:v>Method B
2nd version</c:v>
                  </c:pt>
                  <c:pt idx="3">
                    <c:v>Method B
final</c:v>
                  </c:pt>
                </c:lvl>
              </c:multiLvlStrCache>
            </c:multiLvlStrRef>
          </c:cat>
          <c:val>
            <c:numRef>
              <c:f>Sheet1!$B$2:$B$5</c:f>
              <c:numCache>
                <c:formatCode>General</c:formatCode>
                <c:ptCount val="4"/>
                <c:pt idx="0">
                  <c:v>0</c:v>
                </c:pt>
                <c:pt idx="1">
                  <c:v>2</c:v>
                </c:pt>
                <c:pt idx="2">
                  <c:v>3</c:v>
                </c:pt>
                <c:pt idx="3">
                  <c:v>4</c:v>
                </c:pt>
              </c:numCache>
            </c:numRef>
          </c:val>
        </c:ser>
        <c:ser>
          <c:idx val="1"/>
          <c:order val="1"/>
          <c:tx>
            <c:strRef>
              <c:f>Sheet1!$C$1</c:f>
              <c:strCache>
                <c:ptCount val="1"/>
                <c:pt idx="0">
                  <c:v>False alarms</c:v>
                </c:pt>
              </c:strCache>
            </c:strRef>
          </c:tx>
          <c:spPr>
            <a:solidFill>
              <a:srgbClr val="C8102E"/>
            </a:solidFill>
            <a:effectLst/>
          </c:spPr>
          <c:invertIfNegative val="0"/>
          <c:dLbls>
            <c:numFmt formatCode="#,##0" sourceLinked="0"/>
            <c:txPr>
              <a:bodyPr/>
              <a:lstStyle/>
              <a:p>
                <a:pPr>
                  <a:defRPr b="0" i="0" strike="noStrike" sz="950" u="none">
                    <a:solidFill>
                      <a:srgbClr val="333333"/>
                    </a:solidFill>
                    <a:latin typeface="Arial"/>
                  </a:defRPr>
                </a:pPr>
              </a:p>
            </c:txPr>
            <c:showLegendKey val="0"/>
            <c:showVal val="1"/>
            <c:showCatName val="0"/>
            <c:showSerName val="0"/>
            <c:showPercent val="0"/>
            <c:showBubbleSize val="0"/>
            <c:showLeaderLines val="0"/>
          </c:dLbls>
          <c:cat>
            <c:multiLvlStrRef>
              <c:f>Sheet1!$A$2:$A$5</c:f>
              <c:multiLvlStrCache>
                <c:ptCount val="4"/>
                <c:lvl>
                  <c:pt idx="0">
                    <c:v>Method A
(best of 3)</c:v>
                  </c:pt>
                  <c:pt idx="1">
                    <c:v>Method B
1st version</c:v>
                  </c:pt>
                  <c:pt idx="2">
                    <c:v>Method B
2nd version</c:v>
                  </c:pt>
                  <c:pt idx="3">
                    <c:v>Method B
final</c:v>
                  </c:pt>
                </c:lvl>
              </c:multiLvlStrCache>
            </c:multiLvlStrRef>
          </c:cat>
          <c:val>
            <c:numRef>
              <c:f>Sheet1!$C$2:$C$5</c:f>
              <c:numCache>
                <c:formatCode>General</c:formatCode>
                <c:ptCount val="4"/>
                <c:pt idx="0">
                  <c:v>4</c:v>
                </c:pt>
                <c:pt idx="1">
                  <c:v>5</c:v>
                </c:pt>
                <c:pt idx="2">
                  <c:v>4</c:v>
                </c:pt>
                <c:pt idx="3">
                  <c:v>1</c:v>
                </c:pt>
              </c:numCache>
            </c:numRef>
          </c:val>
        </c:ser>
        <c:dLbls>
          <c:numFmt formatCode="#,##0" sourceLinked="0"/>
          <c:txPr>
            <a:bodyPr/>
            <a:lstStyle/>
            <a:p>
              <a:pPr>
                <a:defRPr b="0" i="0" strike="noStrike" sz="950" u="none">
                  <a:solidFill>
                    <a:srgbClr val="333333"/>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333333"/>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9525" cap="flat">
              <a:solidFill>
                <a:srgbClr val="E0E0E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50" b="0" i="0" u="none" strike="noStrike">
                <a:solidFill>
                  <a:srgbClr val="808080"/>
                </a:solidFill>
                <a:latin typeface="Arial"/>
              </a:defRPr>
            </a:pPr>
            <a:endParaRPr lang="en-US"/>
          </a:p>
        </c:txPr>
        <c:crossAx val="2094734554"/>
        <c:crosses val="autoZero"/>
        <c:crossBetween val="between"/>
        <c:majorUnit val="1"/>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a hands-on experiment with Spark AIR on a real file review task. The punchline: how you structure the task matters more than how smart the model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also carries the file-review explanation (merged from old slide 3): the file behind every rating, independent re-check, internal record vs published article must agree. Then the tool (Spark AIR, gemma4) and the experiment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North Holly: 2025 refunding, BBB+. Four documents. The quality review already found real inconsistencies, so we have an answer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E1/E2 presented as pure characterization contradictions — no unit talk here; the mills vs $/100 explanation is deliberately saved for the Method A false-alarm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more: maturity typo, shifted value table, and the MADS year mismatch — which the official review didn't even log; remember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message is NOT deliberately bad. We ran it three times to check consistency.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Zero of five across three runs, ~4 false positives each, runs disagree. Explain the unit convention HERE (mills vs $ per $100, factor of 10): the flagged pair is the same number — false alarm — while the real E1/E2 contradiction next to it goes unmentioned.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designing Method B we probed the model: 10/10 tiny targeted questions correct, sub-second. Capability isn't the bottleneck — task structure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of the talk: the decomposition is not an AI trick — it comes from writing down what the review work actually is. The intern analogy is the key message.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three excerpts briefly. Point out the style: forbid guessing, forbid converting during extraction, define 'same' and 'disagreement' explicitly. And stress fairness: no answer knowledge in any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Wrap-up of the iteration story (details now on the v2/v3 slides): chart shows 0/5 to 4.5/5; stress that only instructions changed and diagnosability is the difference vs one-shot.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model, same documents. Only the task structure changed. Plus one finding the official review didn't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Pre-empt the obvious pushback. The prompts are class-specific by design — that's amortized effort, not over-fitting. The recipe itself is general. Then name the trade-off: specificity buys capability but costs customization; whether tailoring is cost-efficient is case by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takeaways, then the one-liner. Pause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the File Review AI project as the inspiration; thank Jeff and the squad.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1920240"/>
            <a:ext cx="10881360" cy="822960"/>
          </a:xfrm>
          <a:prstGeom prst="rect">
            <a:avLst/>
          </a:prstGeom>
          <a:noFill/>
          <a:ln/>
        </p:spPr>
        <p:txBody>
          <a:bodyPr wrap="square" lIns="0" tIns="0" rIns="0" bIns="0" rtlCol="0" anchor="ctr"/>
          <a:lstStyle/>
          <a:p>
            <a:pPr indent="0" marL="0">
              <a:buNone/>
            </a:pPr>
            <a:r>
              <a:rPr lang="en-US" sz="4000" b="1" dirty="0">
                <a:solidFill>
                  <a:srgbClr val="222222"/>
                </a:solidFill>
                <a:latin typeface="Arial" pitchFamily="34" charset="0"/>
                <a:ea typeface="Arial" pitchFamily="34" charset="-122"/>
                <a:cs typeface="Arial" pitchFamily="34" charset="-120"/>
              </a:rPr>
              <a:t>Small model, big task</a:t>
            </a:r>
            <a:endParaRPr lang="en-US" sz="4000" dirty="0"/>
          </a:p>
        </p:txBody>
      </p:sp>
      <p:sp>
        <p:nvSpPr>
          <p:cNvPr id="3" name="Text 1"/>
          <p:cNvSpPr/>
          <p:nvPr/>
        </p:nvSpPr>
        <p:spPr>
          <a:xfrm>
            <a:off x="640080" y="2834640"/>
            <a:ext cx="10515600" cy="868680"/>
          </a:xfrm>
          <a:prstGeom prst="rect">
            <a:avLst/>
          </a:prstGeom>
          <a:noFill/>
          <a:ln/>
        </p:spPr>
        <p:txBody>
          <a:bodyPr wrap="square" lIns="0" tIns="0" rIns="0" bIns="0" rtlCol="0" anchor="ctr"/>
          <a:lstStyle/>
          <a:p>
            <a:pPr indent="0" marL="0">
              <a:buNone/>
            </a:pPr>
            <a:r>
              <a:rPr lang="en-US" sz="1800" dirty="0">
                <a:solidFill>
                  <a:srgbClr val="333333"/>
                </a:solidFill>
                <a:latin typeface="Arial" pitchFamily="34" charset="0"/>
                <a:ea typeface="Arial" pitchFamily="34" charset="-122"/>
                <a:cs typeface="Arial" pitchFamily="34" charset="-120"/>
              </a:rPr>
              <a:t>Chain-of-Thought Context Engineering on Spark AIR:</a:t>
            </a:r>
            <a:endParaRPr lang="en-US" sz="1800" dirty="0"/>
          </a:p>
          <a:p>
            <a:pPr indent="0" marL="0">
              <a:buNone/>
            </a:pPr>
            <a:r>
              <a:rPr lang="en-US" sz="1800" dirty="0">
                <a:solidFill>
                  <a:srgbClr val="333333"/>
                </a:solidFill>
                <a:latin typeface="Arial" pitchFamily="34" charset="0"/>
                <a:ea typeface="Arial" pitchFamily="34" charset="-122"/>
                <a:cs typeface="Arial" pitchFamily="34" charset="-120"/>
              </a:rPr>
              <a:t>building complex workflows from simple prompts — an experiment on a real rating file</a:t>
            </a:r>
            <a:endParaRPr lang="en-US" sz="1800" dirty="0"/>
          </a:p>
        </p:txBody>
      </p:sp>
      <p:sp>
        <p:nvSpPr>
          <p:cNvPr id="4" name="Text 2"/>
          <p:cNvSpPr/>
          <p:nvPr/>
        </p:nvSpPr>
        <p:spPr>
          <a:xfrm>
            <a:off x="640080" y="5120640"/>
            <a:ext cx="7315200" cy="640080"/>
          </a:xfrm>
          <a:prstGeom prst="rect">
            <a:avLst/>
          </a:prstGeom>
          <a:noFill/>
          <a:ln/>
        </p:spPr>
        <p:txBody>
          <a:bodyPr wrap="square" lIns="0" tIns="0" rIns="0" bIns="0" rtlCol="0" anchor="ctr"/>
          <a:lstStyle/>
          <a:p>
            <a:pPr indent="0" marL="0">
              <a:buNone/>
            </a:pPr>
            <a:r>
              <a:rPr lang="en-US" sz="1400" dirty="0">
                <a:solidFill>
                  <a:srgbClr val="333333"/>
                </a:solidFill>
                <a:latin typeface="Arial" pitchFamily="34" charset="0"/>
                <a:ea typeface="Arial" pitchFamily="34" charset="-122"/>
                <a:cs typeface="Arial" pitchFamily="34" charset="-120"/>
              </a:rPr>
              <a:t>Lun Du — AQV Review &amp; Validation</a:t>
            </a:r>
            <a:endParaRPr lang="en-US" sz="1400" dirty="0"/>
          </a:p>
          <a:p>
            <a:pPr indent="0" marL="0">
              <a:buNone/>
            </a:pPr>
            <a:r>
              <a:rPr lang="en-US" sz="1400" dirty="0">
                <a:solidFill>
                  <a:srgbClr val="333333"/>
                </a:solidFill>
                <a:latin typeface="Arial" pitchFamily="34" charset="0"/>
                <a:ea typeface="Arial" pitchFamily="34" charset="-122"/>
                <a:cs typeface="Arial" pitchFamily="34" charset="-120"/>
              </a:rPr>
              <a:t>AI Summer League, August 6,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The task, and the tool</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The task — file review: behind every published rating sits a file — the analyst's internal record, the model outputs, and the published article. A file review is an independent re-check by an AQV reviewer who wasn't involved: were the criteria applied correctly? Is the record complete? Do the internal record and the published article tell the same story?</a:t>
            </a:r>
            <a:endParaRPr lang="en-US" sz="1500" dirty="0"/>
          </a:p>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The tool — Spark AIR: our internal AI platform, running gemma4-26B-A4B-it locally. Fast and local, but as a smaller model it can struggle with multi-step, high-complexity requests when everything is asked in a single prompt.</a:t>
            </a:r>
            <a:endParaRPr lang="en-US" sz="1500" dirty="0"/>
          </a:p>
          <a:p>
            <a:pPr marL="177800" indent="-177800">
              <a:spcAft>
                <a:spcPts val="1600"/>
              </a:spcAft>
              <a:buSzPct val="100000"/>
              <a:buChar char="–"/>
            </a:pPr>
            <a:r>
              <a:rPr lang="en-US" sz="1500" b="1" dirty="0">
                <a:solidFill>
                  <a:srgbClr val="333333"/>
                </a:solidFill>
                <a:latin typeface="Arial" pitchFamily="34" charset="0"/>
                <a:ea typeface="Arial" pitchFamily="34" charset="-122"/>
                <a:cs typeface="Arial" pitchFamily="34" charset="-120"/>
              </a:rPr>
              <a:t>The question for this experiment: how do we structure the task so a small model succeeds?</a:t>
            </a:r>
            <a:endParaRPr lang="en-US" sz="15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Our test case: one real rating file</a:t>
            </a:r>
            <a:endParaRPr lang="en-US" sz="2400" dirty="0"/>
          </a:p>
        </p:txBody>
      </p:sp>
      <p:sp>
        <p:nvSpPr>
          <p:cNvPr id="3" name="Text 1"/>
          <p:cNvSpPr/>
          <p:nvPr/>
        </p:nvSpPr>
        <p:spPr>
          <a:xfrm>
            <a:off x="640080" y="1280160"/>
            <a:ext cx="10881360" cy="146304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North Holly Metropolitan District, CO — Colorado metro district; series 2025 GO refunding bonds, rated BBB+ in Nov 2025.</a:t>
            </a:r>
            <a:endParaRPr lang="en-US" sz="1500" dirty="0"/>
          </a:p>
          <a:p>
            <a:pPr marL="177800" indent="-177800">
              <a:spcAft>
                <a:spcPts val="1700"/>
              </a:spcAft>
              <a:buSzPct val="100000"/>
              <a:buChar char="–"/>
            </a:pPr>
            <a:r>
              <a:rPr lang="en-US" sz="1400" i="1" dirty="0">
                <a:solidFill>
                  <a:srgbClr val="808080"/>
                </a:solidFill>
                <a:latin typeface="Arial" pitchFamily="34" charset="0"/>
                <a:ea typeface="Arial" pitchFamily="34" charset="-122"/>
                <a:cs typeface="Arial" pitchFamily="34" charset="-120"/>
              </a:rPr>
              <a:t>[ live: open the published article PDF — show what it looks like; the issuer, the rated bonds, the rating and date ]</a:t>
            </a:r>
            <a:endParaRPr lang="en-US" sz="1400" dirty="0"/>
          </a:p>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Four documents uploaded to Spark AIR:</a:t>
            </a:r>
            <a:endParaRPr lang="en-US" sz="1500" dirty="0"/>
          </a:p>
        </p:txBody>
      </p:sp>
      <p:sp>
        <p:nvSpPr>
          <p:cNvPr id="4" name="Text 2"/>
          <p:cNvSpPr/>
          <p:nvPr/>
        </p:nvSpPr>
        <p:spPr>
          <a:xfrm>
            <a:off x="1005840" y="2743200"/>
            <a:ext cx="10332720" cy="1005840"/>
          </a:xfrm>
          <a:prstGeom prst="rect">
            <a:avLst/>
          </a:prstGeom>
          <a:noFill/>
          <a:ln/>
        </p:spPr>
        <p:txBody>
          <a:bodyPr wrap="square" lIns="0" tIns="0" rIns="0" bIns="0" rtlCol="0" anchor="ctr"/>
          <a:lstStyle/>
          <a:p>
            <a:pPr indent="0" marL="0">
              <a:lnSpc>
                <a:spcPts val="2600"/>
              </a:lnSpc>
              <a:buNone/>
            </a:pPr>
            <a:r>
              <a:rPr lang="en-US" sz="1350" b="1" dirty="0">
                <a:solidFill>
                  <a:srgbClr val="333333"/>
                </a:solidFill>
                <a:latin typeface="Arial" pitchFamily="34" charset="0"/>
                <a:ea typeface="Arial" pitchFamily="34" charset="-122"/>
                <a:cs typeface="Arial" pitchFamily="34" charset="-120"/>
              </a:rPr>
              <a:t>Internal:  </a:t>
            </a:r>
            <a:pPr indent="0" marL="0">
              <a:lnSpc>
                <a:spcPts val="2600"/>
              </a:lnSpc>
              <a:buNone/>
            </a:pPr>
            <a:r>
              <a:rPr lang="en-US" sz="1350" dirty="0">
                <a:solidFill>
                  <a:srgbClr val="333333"/>
                </a:solidFill>
                <a:latin typeface="Arial" pitchFamily="34" charset="0"/>
                <a:ea typeface="Arial" pitchFamily="34" charset="-122"/>
                <a:cs typeface="Arial" pitchFamily="34" charset="-120"/>
              </a:rPr>
              <a:t>MUD RSR (model output, Excel)   ·   RAMP (internal rating record, Word)   ·   Criteria article (PDF)</a:t>
            </a:r>
            <a:pPr indent="0" marL="0">
              <a:lnSpc>
                <a:spcPts val="2600"/>
              </a:lnSpc>
              <a:buNone/>
            </a:pPr>
            <a:r>
              <a:rPr lang="en-US" sz="1350" dirty="0">
                <a:solidFill>
                  <a:srgbClr val="333333"/>
                </a:solidFill>
                <a:latin typeface="Arial" pitchFamily="34" charset="0"/>
                <a:ea typeface="Arial" pitchFamily="34" charset="-122"/>
                <a:cs typeface="Arial" pitchFamily="34" charset="-120"/>
              </a:rPr>
              <a:t>
</a:t>
            </a:r>
            <a:pPr indent="0" marL="0">
              <a:lnSpc>
                <a:spcPts val="2600"/>
              </a:lnSpc>
              <a:buNone/>
            </a:pPr>
            <a:r>
              <a:rPr lang="en-US" sz="1350" b="1" dirty="0">
                <a:solidFill>
                  <a:srgbClr val="333333"/>
                </a:solidFill>
                <a:latin typeface="Arial" pitchFamily="34" charset="0"/>
                <a:ea typeface="Arial" pitchFamily="34" charset="-122"/>
                <a:cs typeface="Arial" pitchFamily="34" charset="-120"/>
              </a:rPr>
              <a:t>Published:  </a:t>
            </a:r>
            <a:pPr indent="0" marL="0">
              <a:lnSpc>
                <a:spcPts val="2600"/>
              </a:lnSpc>
              <a:buNone/>
            </a:pPr>
            <a:r>
              <a:rPr lang="en-US" sz="1350" dirty="0">
                <a:solidFill>
                  <a:srgbClr val="333333"/>
                </a:solidFill>
                <a:latin typeface="Arial" pitchFamily="34" charset="0"/>
                <a:ea typeface="Arial" pitchFamily="34" charset="-122"/>
                <a:cs typeface="Arial" pitchFamily="34" charset="-120"/>
              </a:rPr>
              <a:t>Research update / rating article (PDF)</a:t>
            </a:r>
            <a:endParaRPr lang="en-US" sz="1350" dirty="0"/>
          </a:p>
        </p:txBody>
      </p:sp>
      <p:sp>
        <p:nvSpPr>
          <p:cNvPr id="5" name="Text 3"/>
          <p:cNvSpPr/>
          <p:nvPr/>
        </p:nvSpPr>
        <p:spPr>
          <a:xfrm>
            <a:off x="640080" y="4114800"/>
            <a:ext cx="10881360" cy="822960"/>
          </a:xfrm>
          <a:prstGeom prst="rect">
            <a:avLst/>
          </a:prstGeom>
          <a:noFill/>
          <a:ln/>
        </p:spPr>
        <p:txBody>
          <a:bodyPr wrap="square" lIns="0" tIns="0" rIns="0" bIns="0" rtlCol="0" anchor="ctr"/>
          <a:lstStyle/>
          <a:p>
            <a:pPr indent="0" marL="0">
              <a:buNone/>
            </a:pPr>
            <a:r>
              <a:rPr lang="en-US" sz="1500" dirty="0">
                <a:solidFill>
                  <a:srgbClr val="333333"/>
                </a:solidFill>
                <a:latin typeface="Arial" pitchFamily="34" charset="0"/>
                <a:ea typeface="Arial" pitchFamily="34" charset="-122"/>
                <a:cs typeface="Arial" pitchFamily="34" charset="-120"/>
              </a:rPr>
              <a:t>Why this file? Its official quality review logged real inconsistencies between the internal record and the publication — so we know exactly what a perfect answer looks like.</a:t>
            </a:r>
            <a:endParaRPr lang="en-US" sz="1500" dirty="0"/>
          </a:p>
        </p:txBody>
      </p:sp>
      <p:sp>
        <p:nvSpPr>
          <p:cNvPr id="6" name="Text 4"/>
          <p:cNvSpPr/>
          <p:nvPr/>
        </p:nvSpPr>
        <p:spPr>
          <a:xfrm>
            <a:off x="640080" y="5120640"/>
            <a:ext cx="10881360" cy="45720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The task we gave the AI: the reviewer's consistency check — do these documents agree?</a:t>
            </a:r>
            <a:endParaRPr lang="en-US" sz="1500" dirty="0"/>
          </a:p>
        </p:txBody>
      </p:sp>
      <p:sp>
        <p:nvSpPr>
          <p:cNvPr id="7" name="Text 5"/>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The known errors (1/2): E1 &amp; E2 — contradictory characterizations</a:t>
            </a:r>
            <a:endParaRPr lang="en-US" sz="2400" dirty="0"/>
          </a:p>
        </p:txBody>
      </p:sp>
      <p:sp>
        <p:nvSpPr>
          <p:cNvPr id="3" name="Text 1"/>
          <p:cNvSpPr/>
          <p:nvPr/>
        </p:nvSpPr>
        <p:spPr>
          <a:xfrm>
            <a:off x="640080" y="1234440"/>
            <a:ext cx="10881360" cy="365760"/>
          </a:xfrm>
          <a:prstGeom prst="rect">
            <a:avLst/>
          </a:prstGeom>
          <a:noFill/>
          <a:ln/>
        </p:spPr>
        <p:txBody>
          <a:bodyPr wrap="square" lIns="0" tIns="0" rIns="0" bIns="0" rtlCol="0" anchor="ctr"/>
          <a:lstStyle/>
          <a:p>
            <a:pPr indent="0" marL="0">
              <a:buNone/>
            </a:pPr>
            <a:r>
              <a:rPr lang="en-US" sz="1500" dirty="0">
                <a:solidFill>
                  <a:srgbClr val="333333"/>
                </a:solidFill>
                <a:latin typeface="Arial" pitchFamily="34" charset="0"/>
                <a:ea typeface="Arial" pitchFamily="34" charset="-122"/>
                <a:cs typeface="Arial" pitchFamily="34" charset="-120"/>
              </a:rPr>
              <a:t>The property tax rates — same metrics, opposite judgments:</a:t>
            </a:r>
            <a:endParaRPr lang="en-US" sz="1500" dirty="0"/>
          </a:p>
        </p:txBody>
      </p:sp>
      <p:sp>
        <p:nvSpPr>
          <p:cNvPr id="4" name="Text 2"/>
          <p:cNvSpPr/>
          <p:nvPr/>
        </p:nvSpPr>
        <p:spPr>
          <a:xfrm>
            <a:off x="777240" y="1828800"/>
            <a:ext cx="3108960" cy="365760"/>
          </a:xfrm>
          <a:prstGeom prst="rect">
            <a:avLst/>
          </a:prstGeom>
          <a:noFill/>
          <a:ln/>
        </p:spPr>
        <p:txBody>
          <a:bodyPr wrap="square" lIns="0" tIns="0" rIns="0" bIns="0" rtlCol="0" anchor="ctr"/>
          <a:lstStyle/>
          <a:p>
            <a:pPr indent="0" marL="0">
              <a:buNone/>
            </a:pPr>
            <a:endParaRPr lang="en-US" sz="1100" dirty="0"/>
          </a:p>
        </p:txBody>
      </p:sp>
      <p:sp>
        <p:nvSpPr>
          <p:cNvPr id="5" name="Text 3"/>
          <p:cNvSpPr/>
          <p:nvPr/>
        </p:nvSpPr>
        <p:spPr>
          <a:xfrm>
            <a:off x="4023360" y="1828800"/>
            <a:ext cx="1920240" cy="365760"/>
          </a:xfrm>
          <a:prstGeom prst="rect">
            <a:avLst/>
          </a:prstGeom>
          <a:noFill/>
          <a:ln/>
        </p:spPr>
        <p:txBody>
          <a:bodyPr wrap="square" lIns="0" tIns="0" rIns="0" bIns="0" rtlCol="0" anchor="ctr"/>
          <a:lstStyle/>
          <a:p>
            <a:pPr indent="0" marL="0">
              <a:buNone/>
            </a:pPr>
            <a:r>
              <a:rPr lang="en-US" sz="1100" dirty="0">
                <a:solidFill>
                  <a:srgbClr val="808080"/>
                </a:solidFill>
                <a:latin typeface="Arial" pitchFamily="34" charset="0"/>
                <a:ea typeface="Arial" pitchFamily="34" charset="-122"/>
                <a:cs typeface="Arial" pitchFamily="34" charset="-120"/>
              </a:rPr>
              <a:t>Internal record (MUD RSR)</a:t>
            </a:r>
            <a:endParaRPr lang="en-US" sz="1100" dirty="0"/>
          </a:p>
        </p:txBody>
      </p:sp>
      <p:sp>
        <p:nvSpPr>
          <p:cNvPr id="6" name="Text 4"/>
          <p:cNvSpPr/>
          <p:nvPr/>
        </p:nvSpPr>
        <p:spPr>
          <a:xfrm>
            <a:off x="6035040" y="1828800"/>
            <a:ext cx="2834640" cy="365760"/>
          </a:xfrm>
          <a:prstGeom prst="rect">
            <a:avLst/>
          </a:prstGeom>
          <a:noFill/>
          <a:ln/>
        </p:spPr>
        <p:txBody>
          <a:bodyPr wrap="square" lIns="0" tIns="0" rIns="0" bIns="0" rtlCol="0" anchor="ctr"/>
          <a:lstStyle/>
          <a:p>
            <a:pPr indent="0" marL="0">
              <a:buNone/>
            </a:pPr>
            <a:r>
              <a:rPr lang="en-US" sz="1100" dirty="0">
                <a:solidFill>
                  <a:srgbClr val="808080"/>
                </a:solidFill>
                <a:latin typeface="Arial" pitchFamily="34" charset="0"/>
                <a:ea typeface="Arial" pitchFamily="34" charset="-122"/>
                <a:cs typeface="Arial" pitchFamily="34" charset="-120"/>
              </a:rPr>
              <a:t>Published article</a:t>
            </a:r>
            <a:endParaRPr lang="en-US" sz="1100" dirty="0"/>
          </a:p>
        </p:txBody>
      </p:sp>
      <p:sp>
        <p:nvSpPr>
          <p:cNvPr id="7" name="Text 5"/>
          <p:cNvSpPr/>
          <p:nvPr/>
        </p:nvSpPr>
        <p:spPr>
          <a:xfrm>
            <a:off x="8961120" y="1828800"/>
            <a:ext cx="1828800" cy="365760"/>
          </a:xfrm>
          <a:prstGeom prst="rect">
            <a:avLst/>
          </a:prstGeom>
          <a:noFill/>
          <a:ln/>
        </p:spPr>
        <p:txBody>
          <a:bodyPr wrap="square" lIns="0" tIns="0" rIns="0" bIns="0" rtlCol="0" anchor="ctr"/>
          <a:lstStyle/>
          <a:p>
            <a:pPr indent="0" marL="0">
              <a:buNone/>
            </a:pPr>
            <a:r>
              <a:rPr lang="en-US" sz="1100" dirty="0">
                <a:solidFill>
                  <a:srgbClr val="808080"/>
                </a:solidFill>
                <a:latin typeface="Arial" pitchFamily="34" charset="0"/>
                <a:ea typeface="Arial" pitchFamily="34" charset="-122"/>
                <a:cs typeface="Arial" pitchFamily="34" charset="-120"/>
              </a:rPr>
              <a:t>AQV finding</a:t>
            </a:r>
            <a:endParaRPr lang="en-US" sz="1100" dirty="0"/>
          </a:p>
        </p:txBody>
      </p:sp>
      <p:sp>
        <p:nvSpPr>
          <p:cNvPr id="8" name="Shape 6"/>
          <p:cNvSpPr/>
          <p:nvPr/>
        </p:nvSpPr>
        <p:spPr>
          <a:xfrm>
            <a:off x="640080" y="2194560"/>
            <a:ext cx="10332720" cy="594360"/>
          </a:xfrm>
          <a:prstGeom prst="rect">
            <a:avLst/>
          </a:prstGeom>
          <a:solidFill>
            <a:srgbClr val="EFEFEF"/>
          </a:solidFill>
          <a:ln w="6350">
            <a:solidFill>
              <a:srgbClr val="BFBFBF"/>
            </a:solidFill>
            <a:prstDash val="solid"/>
          </a:ln>
        </p:spPr>
      </p:sp>
      <p:sp>
        <p:nvSpPr>
          <p:cNvPr id="9" name="Text 7"/>
          <p:cNvSpPr/>
          <p:nvPr/>
        </p:nvSpPr>
        <p:spPr>
          <a:xfrm>
            <a:off x="777240" y="2240280"/>
            <a:ext cx="3108960" cy="502920"/>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E1 — Direct property tax rate</a:t>
            </a:r>
            <a:endParaRPr lang="en-US" sz="1300" dirty="0"/>
          </a:p>
        </p:txBody>
      </p:sp>
      <p:sp>
        <p:nvSpPr>
          <p:cNvPr id="10" name="Text 8"/>
          <p:cNvSpPr/>
          <p:nvPr/>
        </p:nvSpPr>
        <p:spPr>
          <a:xfrm>
            <a:off x="4023360" y="2240280"/>
            <a:ext cx="1920240" cy="502920"/>
          </a:xfrm>
          <a:prstGeom prst="rect">
            <a:avLst/>
          </a:prstGeom>
          <a:noFill/>
          <a:ln/>
        </p:spPr>
        <p:txBody>
          <a:bodyPr wrap="square" lIns="0" tIns="0" rIns="0" bIns="0" rtlCol="0" anchor="ctr"/>
          <a:lstStyle/>
          <a:p>
            <a:pPr indent="0" marL="0">
              <a:buNone/>
            </a:pPr>
            <a:r>
              <a:rPr lang="en-US" sz="1500" b="1" dirty="0">
                <a:solidFill>
                  <a:srgbClr val="2E6B2A"/>
                </a:solidFill>
                <a:latin typeface="Arial" pitchFamily="34" charset="0"/>
                <a:ea typeface="Arial" pitchFamily="34" charset="-122"/>
                <a:cs typeface="Arial" pitchFamily="34" charset="-120"/>
              </a:rPr>
              <a:t>“Very Low”</a:t>
            </a:r>
            <a:endParaRPr lang="en-US" sz="1500" dirty="0"/>
          </a:p>
        </p:txBody>
      </p:sp>
      <p:sp>
        <p:nvSpPr>
          <p:cNvPr id="11" name="Text 9"/>
          <p:cNvSpPr/>
          <p:nvPr/>
        </p:nvSpPr>
        <p:spPr>
          <a:xfrm>
            <a:off x="6035040" y="2240280"/>
            <a:ext cx="2834640" cy="502920"/>
          </a:xfrm>
          <a:prstGeom prst="rect">
            <a:avLst/>
          </a:prstGeom>
          <a:noFill/>
          <a:ln/>
        </p:spPr>
        <p:txBody>
          <a:bodyPr wrap="square" lIns="0" tIns="0" rIns="0" bIns="0" rtlCol="0" anchor="ctr"/>
          <a:lstStyle/>
          <a:p>
            <a:pPr indent="0" marL="0">
              <a:buNone/>
            </a:pPr>
            <a:r>
              <a:rPr lang="en-US" sz="1300" dirty="0">
                <a:solidFill>
                  <a:srgbClr val="C8102E"/>
                </a:solidFill>
                <a:latin typeface="Arial" pitchFamily="34" charset="0"/>
                <a:ea typeface="Arial" pitchFamily="34" charset="-122"/>
                <a:cs typeface="Arial" pitchFamily="34" charset="-120"/>
              </a:rPr>
              <a:t>“High”</a:t>
            </a:r>
            <a:endParaRPr lang="en-US" sz="1300" dirty="0"/>
          </a:p>
        </p:txBody>
      </p:sp>
      <p:sp>
        <p:nvSpPr>
          <p:cNvPr id="12" name="Text 10"/>
          <p:cNvSpPr/>
          <p:nvPr/>
        </p:nvSpPr>
        <p:spPr>
          <a:xfrm>
            <a:off x="8961120" y="2240280"/>
            <a:ext cx="1828800" cy="502920"/>
          </a:xfrm>
          <a:prstGeom prst="rect">
            <a:avLst/>
          </a:prstGeom>
          <a:noFill/>
          <a:ln/>
        </p:spPr>
        <p:txBody>
          <a:bodyPr wrap="square" lIns="0" tIns="0" rIns="0" bIns="0" rtlCol="0" anchor="ctr"/>
          <a:lstStyle/>
          <a:p>
            <a:pPr indent="0" marL="0">
              <a:buNone/>
            </a:pPr>
            <a:r>
              <a:rPr lang="en-US" sz="1500" b="1" dirty="0">
                <a:solidFill>
                  <a:srgbClr val="808080"/>
                </a:solidFill>
                <a:latin typeface="Arial" pitchFamily="34" charset="0"/>
                <a:ea typeface="Arial" pitchFamily="34" charset="-122"/>
                <a:cs typeface="Arial" pitchFamily="34" charset="-120"/>
              </a:rPr>
              <a:t>Medium risk</a:t>
            </a:r>
            <a:endParaRPr lang="en-US" sz="1500" dirty="0"/>
          </a:p>
        </p:txBody>
      </p:sp>
      <p:sp>
        <p:nvSpPr>
          <p:cNvPr id="13" name="Shape 11"/>
          <p:cNvSpPr/>
          <p:nvPr/>
        </p:nvSpPr>
        <p:spPr>
          <a:xfrm>
            <a:off x="640080" y="2852928"/>
            <a:ext cx="10332720" cy="594360"/>
          </a:xfrm>
          <a:prstGeom prst="rect">
            <a:avLst/>
          </a:prstGeom>
          <a:solidFill>
            <a:srgbClr val="FFFFFF"/>
          </a:solidFill>
          <a:ln w="6350">
            <a:solidFill>
              <a:srgbClr val="BFBFBF"/>
            </a:solidFill>
            <a:prstDash val="solid"/>
          </a:ln>
        </p:spPr>
      </p:sp>
      <p:sp>
        <p:nvSpPr>
          <p:cNvPr id="14" name="Text 12"/>
          <p:cNvSpPr/>
          <p:nvPr/>
        </p:nvSpPr>
        <p:spPr>
          <a:xfrm>
            <a:off x="777240" y="2898648"/>
            <a:ext cx="3108960" cy="502920"/>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E2 — Total property tax rate</a:t>
            </a:r>
            <a:endParaRPr lang="en-US" sz="1300" dirty="0"/>
          </a:p>
        </p:txBody>
      </p:sp>
      <p:sp>
        <p:nvSpPr>
          <p:cNvPr id="15" name="Text 13"/>
          <p:cNvSpPr/>
          <p:nvPr/>
        </p:nvSpPr>
        <p:spPr>
          <a:xfrm>
            <a:off x="4023360" y="2898648"/>
            <a:ext cx="1920240" cy="502920"/>
          </a:xfrm>
          <a:prstGeom prst="rect">
            <a:avLst/>
          </a:prstGeom>
          <a:noFill/>
          <a:ln/>
        </p:spPr>
        <p:txBody>
          <a:bodyPr wrap="square" lIns="0" tIns="0" rIns="0" bIns="0" rtlCol="0" anchor="ctr"/>
          <a:lstStyle/>
          <a:p>
            <a:pPr indent="0" marL="0">
              <a:buNone/>
            </a:pPr>
            <a:r>
              <a:rPr lang="en-US" sz="1500" b="1" dirty="0">
                <a:solidFill>
                  <a:srgbClr val="2E6B2A"/>
                </a:solidFill>
                <a:latin typeface="Arial" pitchFamily="34" charset="0"/>
                <a:ea typeface="Arial" pitchFamily="34" charset="-122"/>
                <a:cs typeface="Arial" pitchFamily="34" charset="-120"/>
              </a:rPr>
              <a:t>“Very Low”</a:t>
            </a:r>
            <a:endParaRPr lang="en-US" sz="1500" dirty="0"/>
          </a:p>
        </p:txBody>
      </p:sp>
      <p:sp>
        <p:nvSpPr>
          <p:cNvPr id="16" name="Text 14"/>
          <p:cNvSpPr/>
          <p:nvPr/>
        </p:nvSpPr>
        <p:spPr>
          <a:xfrm>
            <a:off x="6035040" y="2898648"/>
            <a:ext cx="2834640" cy="502920"/>
          </a:xfrm>
          <a:prstGeom prst="rect">
            <a:avLst/>
          </a:prstGeom>
          <a:noFill/>
          <a:ln/>
        </p:spPr>
        <p:txBody>
          <a:bodyPr wrap="square" lIns="0" tIns="0" rIns="0" bIns="0" rtlCol="0" anchor="ctr"/>
          <a:lstStyle/>
          <a:p>
            <a:pPr indent="0" marL="0">
              <a:buNone/>
            </a:pPr>
            <a:r>
              <a:rPr lang="en-US" sz="1300" dirty="0">
                <a:solidFill>
                  <a:srgbClr val="C8102E"/>
                </a:solidFill>
                <a:latin typeface="Arial" pitchFamily="34" charset="0"/>
                <a:ea typeface="Arial" pitchFamily="34" charset="-122"/>
                <a:cs typeface="Arial" pitchFamily="34" charset="-120"/>
              </a:rPr>
              <a:t>“High”</a:t>
            </a:r>
            <a:endParaRPr lang="en-US" sz="1300" dirty="0"/>
          </a:p>
        </p:txBody>
      </p:sp>
      <p:sp>
        <p:nvSpPr>
          <p:cNvPr id="17" name="Text 15"/>
          <p:cNvSpPr/>
          <p:nvPr/>
        </p:nvSpPr>
        <p:spPr>
          <a:xfrm>
            <a:off x="8961120" y="2898648"/>
            <a:ext cx="1828800" cy="502920"/>
          </a:xfrm>
          <a:prstGeom prst="rect">
            <a:avLst/>
          </a:prstGeom>
          <a:noFill/>
          <a:ln/>
        </p:spPr>
        <p:txBody>
          <a:bodyPr wrap="square" lIns="0" tIns="0" rIns="0" bIns="0" rtlCol="0" anchor="ctr"/>
          <a:lstStyle/>
          <a:p>
            <a:pPr indent="0" marL="0">
              <a:buNone/>
            </a:pPr>
            <a:r>
              <a:rPr lang="en-US" sz="1500" b="1" dirty="0">
                <a:solidFill>
                  <a:srgbClr val="808080"/>
                </a:solidFill>
                <a:latin typeface="Arial" pitchFamily="34" charset="0"/>
                <a:ea typeface="Arial" pitchFamily="34" charset="-122"/>
                <a:cs typeface="Arial" pitchFamily="34" charset="-120"/>
              </a:rPr>
              <a:t>Medium risk</a:t>
            </a:r>
            <a:endParaRPr lang="en-US" sz="1500" dirty="0"/>
          </a:p>
        </p:txBody>
      </p:sp>
      <p:sp>
        <p:nvSpPr>
          <p:cNvPr id="18" name="Text 16"/>
          <p:cNvSpPr/>
          <p:nvPr/>
        </p:nvSpPr>
        <p:spPr>
          <a:xfrm>
            <a:off x="640080" y="3703320"/>
            <a:ext cx="10881360" cy="219456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The two documents report the same rates, but characterize them with opposite labels.</a:t>
            </a:r>
            <a:endParaRPr lang="en-US" sz="1500" dirty="0"/>
          </a:p>
          <a:p>
            <a:pPr marL="177800" indent="-177800">
              <a:spcAft>
                <a:spcPts val="1200"/>
              </a:spcAft>
              <a:buSzPct val="100000"/>
              <a:buChar char="–"/>
            </a:pPr>
            <a:r>
              <a:rPr lang="en-US" sz="1500" b="1" dirty="0">
                <a:solidFill>
                  <a:srgbClr val="333333"/>
                </a:solidFill>
                <a:latin typeface="Arial" pitchFamily="34" charset="0"/>
                <a:ea typeface="Arial" pitchFamily="34" charset="-122"/>
                <a:cs typeface="Arial" pitchFamily="34" charset="-120"/>
              </a:rPr>
              <a:t>Both contradictions were logged as findings in the official quality review.</a:t>
            </a:r>
            <a:endParaRPr lang="en-US" sz="1500" dirty="0"/>
          </a:p>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
            </a:r>
            <a:endParaRPr lang="en-US" sz="1500" dirty="0"/>
          </a:p>
        </p:txBody>
      </p:sp>
      <p:sp>
        <p:nvSpPr>
          <p:cNvPr id="19" name="Text 17"/>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The known errors (2/2): E3, E4, E5</a:t>
            </a:r>
            <a:endParaRPr lang="en-US" sz="2400" dirty="0"/>
          </a:p>
        </p:txBody>
      </p:sp>
      <p:sp>
        <p:nvSpPr>
          <p:cNvPr id="3" name="Text 1"/>
          <p:cNvSpPr/>
          <p:nvPr/>
        </p:nvSpPr>
        <p:spPr>
          <a:xfrm>
            <a:off x="777240" y="1417320"/>
            <a:ext cx="3291840" cy="365760"/>
          </a:xfrm>
          <a:prstGeom prst="rect">
            <a:avLst/>
          </a:prstGeom>
          <a:noFill/>
          <a:ln/>
        </p:spPr>
        <p:txBody>
          <a:bodyPr wrap="square" lIns="0" tIns="0" rIns="0" bIns="0" rtlCol="0" anchor="ctr"/>
          <a:lstStyle/>
          <a:p>
            <a:pPr indent="0" marL="0">
              <a:buNone/>
            </a:pPr>
            <a:endParaRPr lang="en-US" sz="1100" dirty="0"/>
          </a:p>
        </p:txBody>
      </p:sp>
      <p:sp>
        <p:nvSpPr>
          <p:cNvPr id="4" name="Text 2"/>
          <p:cNvSpPr/>
          <p:nvPr/>
        </p:nvSpPr>
        <p:spPr>
          <a:xfrm>
            <a:off x="4206240" y="1417320"/>
            <a:ext cx="2377440" cy="365760"/>
          </a:xfrm>
          <a:prstGeom prst="rect">
            <a:avLst/>
          </a:prstGeom>
          <a:noFill/>
          <a:ln/>
        </p:spPr>
        <p:txBody>
          <a:bodyPr wrap="square" lIns="0" tIns="0" rIns="0" bIns="0" rtlCol="0" anchor="ctr"/>
          <a:lstStyle/>
          <a:p>
            <a:pPr indent="0" marL="0">
              <a:buNone/>
            </a:pPr>
            <a:r>
              <a:rPr lang="en-US" sz="1100" dirty="0">
                <a:solidFill>
                  <a:srgbClr val="808080"/>
                </a:solidFill>
                <a:latin typeface="Arial" pitchFamily="34" charset="0"/>
                <a:ea typeface="Arial" pitchFamily="34" charset="-122"/>
                <a:cs typeface="Arial" pitchFamily="34" charset="-120"/>
              </a:rPr>
              <a:t>Internal record</a:t>
            </a:r>
            <a:endParaRPr lang="en-US" sz="1100" dirty="0"/>
          </a:p>
        </p:txBody>
      </p:sp>
      <p:sp>
        <p:nvSpPr>
          <p:cNvPr id="5" name="Text 3"/>
          <p:cNvSpPr/>
          <p:nvPr/>
        </p:nvSpPr>
        <p:spPr>
          <a:xfrm>
            <a:off x="6766560" y="1417320"/>
            <a:ext cx="2286000" cy="365760"/>
          </a:xfrm>
          <a:prstGeom prst="rect">
            <a:avLst/>
          </a:prstGeom>
          <a:noFill/>
          <a:ln/>
        </p:spPr>
        <p:txBody>
          <a:bodyPr wrap="square" lIns="0" tIns="0" rIns="0" bIns="0" rtlCol="0" anchor="ctr"/>
          <a:lstStyle/>
          <a:p>
            <a:pPr indent="0" marL="0">
              <a:buNone/>
            </a:pPr>
            <a:r>
              <a:rPr lang="en-US" sz="1100" dirty="0">
                <a:solidFill>
                  <a:srgbClr val="808080"/>
                </a:solidFill>
                <a:latin typeface="Arial" pitchFamily="34" charset="0"/>
                <a:ea typeface="Arial" pitchFamily="34" charset="-122"/>
                <a:cs typeface="Arial" pitchFamily="34" charset="-120"/>
              </a:rPr>
              <a:t>Published article</a:t>
            </a:r>
            <a:endParaRPr lang="en-US" sz="1100" dirty="0"/>
          </a:p>
        </p:txBody>
      </p:sp>
      <p:sp>
        <p:nvSpPr>
          <p:cNvPr id="6" name="Text 4"/>
          <p:cNvSpPr/>
          <p:nvPr/>
        </p:nvSpPr>
        <p:spPr>
          <a:xfrm>
            <a:off x="9144000" y="1417320"/>
            <a:ext cx="2286000" cy="365760"/>
          </a:xfrm>
          <a:prstGeom prst="rect">
            <a:avLst/>
          </a:prstGeom>
          <a:noFill/>
          <a:ln/>
        </p:spPr>
        <p:txBody>
          <a:bodyPr wrap="square" lIns="0" tIns="0" rIns="0" bIns="0" rtlCol="0" anchor="ctr"/>
          <a:lstStyle/>
          <a:p>
            <a:pPr indent="0" marL="0">
              <a:buNone/>
            </a:pPr>
            <a:endParaRPr lang="en-US" sz="1100" dirty="0"/>
          </a:p>
        </p:txBody>
      </p:sp>
      <p:sp>
        <p:nvSpPr>
          <p:cNvPr id="7" name="Shape 5"/>
          <p:cNvSpPr/>
          <p:nvPr/>
        </p:nvSpPr>
        <p:spPr>
          <a:xfrm>
            <a:off x="640080" y="1783080"/>
            <a:ext cx="10881360" cy="685800"/>
          </a:xfrm>
          <a:prstGeom prst="rect">
            <a:avLst/>
          </a:prstGeom>
          <a:solidFill>
            <a:srgbClr val="EFEFEF"/>
          </a:solidFill>
          <a:ln w="6350">
            <a:solidFill>
              <a:srgbClr val="BFBFBF"/>
            </a:solidFill>
            <a:prstDash val="solid"/>
          </a:ln>
        </p:spPr>
      </p:sp>
      <p:sp>
        <p:nvSpPr>
          <p:cNvPr id="8" name="Text 6"/>
          <p:cNvSpPr/>
          <p:nvPr/>
        </p:nvSpPr>
        <p:spPr>
          <a:xfrm>
            <a:off x="777240" y="1828800"/>
            <a:ext cx="3291840" cy="594360"/>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E3   Bond maturity date</a:t>
            </a:r>
            <a:endParaRPr lang="en-US" sz="1300" dirty="0"/>
          </a:p>
        </p:txBody>
      </p:sp>
      <p:sp>
        <p:nvSpPr>
          <p:cNvPr id="9" name="Text 7"/>
          <p:cNvSpPr/>
          <p:nvPr/>
        </p:nvSpPr>
        <p:spPr>
          <a:xfrm>
            <a:off x="4206240" y="1828800"/>
            <a:ext cx="2377440" cy="594360"/>
          </a:xfrm>
          <a:prstGeom prst="rect">
            <a:avLst/>
          </a:prstGeom>
          <a:noFill/>
          <a:ln/>
        </p:spPr>
        <p:txBody>
          <a:bodyPr wrap="square" lIns="0" tIns="0" rIns="0" bIns="0" rtlCol="0" anchor="ctr"/>
          <a:lstStyle/>
          <a:p>
            <a:pPr indent="0" marL="0">
              <a:buNone/>
            </a:pPr>
            <a:r>
              <a:rPr lang="en-US" sz="1350" b="1" dirty="0">
                <a:solidFill>
                  <a:srgbClr val="222222"/>
                </a:solidFill>
                <a:latin typeface="Arial" pitchFamily="34" charset="0"/>
                <a:ea typeface="Arial" pitchFamily="34" charset="-122"/>
                <a:cs typeface="Arial" pitchFamily="34" charset="-120"/>
              </a:rPr>
              <a:t>12/01/2055</a:t>
            </a:r>
            <a:endParaRPr lang="en-US" sz="1350" dirty="0"/>
          </a:p>
        </p:txBody>
      </p:sp>
      <p:sp>
        <p:nvSpPr>
          <p:cNvPr id="10" name="Text 8"/>
          <p:cNvSpPr/>
          <p:nvPr/>
        </p:nvSpPr>
        <p:spPr>
          <a:xfrm>
            <a:off x="6766560" y="1828800"/>
            <a:ext cx="2286000" cy="594360"/>
          </a:xfrm>
          <a:prstGeom prst="rect">
            <a:avLst/>
          </a:prstGeom>
          <a:noFill/>
          <a:ln/>
        </p:spPr>
        <p:txBody>
          <a:bodyPr wrap="square" lIns="0" tIns="0" rIns="0" bIns="0" rtlCol="0" anchor="ctr"/>
          <a:lstStyle/>
          <a:p>
            <a:pPr indent="0" marL="0">
              <a:buNone/>
            </a:pPr>
            <a:r>
              <a:rPr lang="en-US" sz="1350" b="1" dirty="0">
                <a:solidFill>
                  <a:srgbClr val="C8102E"/>
                </a:solidFill>
                <a:latin typeface="Arial" pitchFamily="34" charset="0"/>
                <a:ea typeface="Arial" pitchFamily="34" charset="-122"/>
                <a:cs typeface="Arial" pitchFamily="34" charset="-120"/>
              </a:rPr>
              <a:t>12/01/2065</a:t>
            </a:r>
            <a:endParaRPr lang="en-US" sz="1350" dirty="0"/>
          </a:p>
        </p:txBody>
      </p:sp>
      <p:sp>
        <p:nvSpPr>
          <p:cNvPr id="11" name="Text 9"/>
          <p:cNvSpPr/>
          <p:nvPr/>
        </p:nvSpPr>
        <p:spPr>
          <a:xfrm>
            <a:off x="9144000" y="1828800"/>
            <a:ext cx="2286000" cy="594360"/>
          </a:xfrm>
          <a:prstGeom prst="rect">
            <a:avLst/>
          </a:prstGeom>
          <a:noFill/>
          <a:ln/>
        </p:spPr>
        <p:txBody>
          <a:bodyPr wrap="square" lIns="0" tIns="0" rIns="0" bIns="0" rtlCol="0" anchor="ctr"/>
          <a:lstStyle/>
          <a:p>
            <a:pPr indent="0" marL="0">
              <a:buNone/>
            </a:pPr>
            <a:r>
              <a:rPr lang="en-US" sz="1150" i="1" dirty="0">
                <a:solidFill>
                  <a:srgbClr val="808080"/>
                </a:solidFill>
                <a:latin typeface="Arial" pitchFamily="34" charset="0"/>
                <a:ea typeface="Arial" pitchFamily="34" charset="-122"/>
                <a:cs typeface="Arial" pitchFamily="34" charset="-120"/>
              </a:rPr>
              <a:t>a 10-year typo in the ratings list</a:t>
            </a:r>
            <a:endParaRPr lang="en-US" sz="1150" dirty="0"/>
          </a:p>
        </p:txBody>
      </p:sp>
      <p:sp>
        <p:nvSpPr>
          <p:cNvPr id="12" name="Shape 10"/>
          <p:cNvSpPr/>
          <p:nvPr/>
        </p:nvSpPr>
        <p:spPr>
          <a:xfrm>
            <a:off x="640080" y="2560320"/>
            <a:ext cx="10881360" cy="685800"/>
          </a:xfrm>
          <a:prstGeom prst="rect">
            <a:avLst/>
          </a:prstGeom>
          <a:solidFill>
            <a:srgbClr val="FFFFFF"/>
          </a:solidFill>
          <a:ln w="6350">
            <a:solidFill>
              <a:srgbClr val="BFBFBF"/>
            </a:solidFill>
            <a:prstDash val="solid"/>
          </a:ln>
        </p:spPr>
      </p:sp>
      <p:sp>
        <p:nvSpPr>
          <p:cNvPr id="13" name="Text 11"/>
          <p:cNvSpPr/>
          <p:nvPr/>
        </p:nvSpPr>
        <p:spPr>
          <a:xfrm>
            <a:off x="777240" y="2606040"/>
            <a:ext cx="3291840" cy="594360"/>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E4   Assessed-value history</a:t>
            </a:r>
            <a:endParaRPr lang="en-US" sz="1300" dirty="0"/>
          </a:p>
        </p:txBody>
      </p:sp>
      <p:sp>
        <p:nvSpPr>
          <p:cNvPr id="14" name="Text 12"/>
          <p:cNvSpPr/>
          <p:nvPr/>
        </p:nvSpPr>
        <p:spPr>
          <a:xfrm>
            <a:off x="4206240" y="2606040"/>
            <a:ext cx="2377440" cy="594360"/>
          </a:xfrm>
          <a:prstGeom prst="rect">
            <a:avLst/>
          </a:prstGeom>
          <a:noFill/>
          <a:ln/>
        </p:spPr>
        <p:txBody>
          <a:bodyPr wrap="square" lIns="0" tIns="0" rIns="0" bIns="0" rtlCol="0" anchor="ctr"/>
          <a:lstStyle/>
          <a:p>
            <a:pPr indent="0" marL="0">
              <a:buNone/>
            </a:pPr>
            <a:r>
              <a:rPr lang="en-US" sz="1350" b="1" dirty="0">
                <a:solidFill>
                  <a:srgbClr val="222222"/>
                </a:solidFill>
                <a:latin typeface="Arial" pitchFamily="34" charset="0"/>
                <a:ea typeface="Arial" pitchFamily="34" charset="-122"/>
                <a:cs typeface="Arial" pitchFamily="34" charset="-120"/>
              </a:rPr>
              <a:t>5 years: 2022–2026</a:t>
            </a:r>
            <a:endParaRPr lang="en-US" sz="1350" dirty="0"/>
          </a:p>
        </p:txBody>
      </p:sp>
      <p:sp>
        <p:nvSpPr>
          <p:cNvPr id="15" name="Text 13"/>
          <p:cNvSpPr/>
          <p:nvPr/>
        </p:nvSpPr>
        <p:spPr>
          <a:xfrm>
            <a:off x="6766560" y="2606040"/>
            <a:ext cx="2286000" cy="594360"/>
          </a:xfrm>
          <a:prstGeom prst="rect">
            <a:avLst/>
          </a:prstGeom>
          <a:noFill/>
          <a:ln/>
        </p:spPr>
        <p:txBody>
          <a:bodyPr wrap="square" lIns="0" tIns="0" rIns="0" bIns="0" rtlCol="0" anchor="ctr"/>
          <a:lstStyle/>
          <a:p>
            <a:pPr indent="0" marL="0">
              <a:buNone/>
            </a:pPr>
            <a:r>
              <a:rPr lang="en-US" sz="1350" b="1" dirty="0">
                <a:solidFill>
                  <a:srgbClr val="C8102E"/>
                </a:solidFill>
                <a:latin typeface="Arial" pitchFamily="34" charset="0"/>
                <a:ea typeface="Arial" pitchFamily="34" charset="-122"/>
                <a:cs typeface="Arial" pitchFamily="34" charset="-120"/>
              </a:rPr>
              <a:t>one year missing</a:t>
            </a:r>
            <a:endParaRPr lang="en-US" sz="1350" dirty="0"/>
          </a:p>
        </p:txBody>
      </p:sp>
      <p:sp>
        <p:nvSpPr>
          <p:cNvPr id="16" name="Text 14"/>
          <p:cNvSpPr/>
          <p:nvPr/>
        </p:nvSpPr>
        <p:spPr>
          <a:xfrm>
            <a:off x="9144000" y="2606040"/>
            <a:ext cx="2286000" cy="594360"/>
          </a:xfrm>
          <a:prstGeom prst="rect">
            <a:avLst/>
          </a:prstGeom>
          <a:noFill/>
          <a:ln/>
        </p:spPr>
        <p:txBody>
          <a:bodyPr wrap="square" lIns="0" tIns="0" rIns="0" bIns="0" rtlCol="0" anchor="ctr"/>
          <a:lstStyle/>
          <a:p>
            <a:pPr indent="0" marL="0">
              <a:buNone/>
            </a:pPr>
            <a:r>
              <a:rPr lang="en-US" sz="1150" i="1" dirty="0">
                <a:solidFill>
                  <a:srgbClr val="808080"/>
                </a:solidFill>
                <a:latin typeface="Arial" pitchFamily="34" charset="0"/>
                <a:ea typeface="Arial" pitchFamily="34" charset="-122"/>
                <a:cs typeface="Arial" pitchFamily="34" charset="-120"/>
              </a:rPr>
              <a:t>every value shifted one column</a:t>
            </a:r>
            <a:endParaRPr lang="en-US" sz="1150" dirty="0"/>
          </a:p>
        </p:txBody>
      </p:sp>
      <p:sp>
        <p:nvSpPr>
          <p:cNvPr id="17" name="Shape 15"/>
          <p:cNvSpPr/>
          <p:nvPr/>
        </p:nvSpPr>
        <p:spPr>
          <a:xfrm>
            <a:off x="640080" y="3337560"/>
            <a:ext cx="10881360" cy="685800"/>
          </a:xfrm>
          <a:prstGeom prst="rect">
            <a:avLst/>
          </a:prstGeom>
          <a:solidFill>
            <a:srgbClr val="EFEFEF"/>
          </a:solidFill>
          <a:ln w="6350">
            <a:solidFill>
              <a:srgbClr val="BFBFBF"/>
            </a:solidFill>
            <a:prstDash val="solid"/>
          </a:ln>
        </p:spPr>
      </p:sp>
      <p:sp>
        <p:nvSpPr>
          <p:cNvPr id="18" name="Text 16"/>
          <p:cNvSpPr/>
          <p:nvPr/>
        </p:nvSpPr>
        <p:spPr>
          <a:xfrm>
            <a:off x="777240" y="3383280"/>
            <a:ext cx="3291840" cy="594360"/>
          </a:xfrm>
          <a:prstGeom prst="rect">
            <a:avLst/>
          </a:prstGeom>
          <a:noFill/>
          <a:ln/>
        </p:spPr>
        <p:txBody>
          <a:bodyPr wrap="square" lIns="0" tIns="0" rIns="0" bIns="0" rtlCol="0" anchor="ctr"/>
          <a:lstStyle/>
          <a:p>
            <a:pPr indent="0" marL="0">
              <a:buNone/>
            </a:pPr>
            <a:r>
              <a:rPr lang="en-US" sz="1300" b="1" dirty="0">
                <a:solidFill>
                  <a:srgbClr val="222222"/>
                </a:solidFill>
                <a:latin typeface="Arial" pitchFamily="34" charset="0"/>
                <a:ea typeface="Arial" pitchFamily="34" charset="-122"/>
                <a:cs typeface="Arial" pitchFamily="34" charset="-120"/>
              </a:rPr>
              <a:t>E5   MADS reference year</a:t>
            </a:r>
            <a:endParaRPr lang="en-US" sz="1300" dirty="0"/>
          </a:p>
        </p:txBody>
      </p:sp>
      <p:sp>
        <p:nvSpPr>
          <p:cNvPr id="19" name="Text 17"/>
          <p:cNvSpPr/>
          <p:nvPr/>
        </p:nvSpPr>
        <p:spPr>
          <a:xfrm>
            <a:off x="4206240" y="3383280"/>
            <a:ext cx="2377440" cy="594360"/>
          </a:xfrm>
          <a:prstGeom prst="rect">
            <a:avLst/>
          </a:prstGeom>
          <a:noFill/>
          <a:ln/>
        </p:spPr>
        <p:txBody>
          <a:bodyPr wrap="square" lIns="0" tIns="0" rIns="0" bIns="0" rtlCol="0" anchor="ctr"/>
          <a:lstStyle/>
          <a:p>
            <a:pPr indent="0" marL="0">
              <a:buNone/>
            </a:pPr>
            <a:r>
              <a:rPr lang="en-US" sz="1350" b="1" dirty="0">
                <a:solidFill>
                  <a:srgbClr val="222222"/>
                </a:solidFill>
                <a:latin typeface="Arial" pitchFamily="34" charset="0"/>
                <a:ea typeface="Arial" pitchFamily="34" charset="-122"/>
                <a:cs typeface="Arial" pitchFamily="34" charset="-120"/>
              </a:rPr>
              <a:t>2038</a:t>
            </a:r>
            <a:endParaRPr lang="en-US" sz="1350" dirty="0"/>
          </a:p>
        </p:txBody>
      </p:sp>
      <p:sp>
        <p:nvSpPr>
          <p:cNvPr id="20" name="Text 18"/>
          <p:cNvSpPr/>
          <p:nvPr/>
        </p:nvSpPr>
        <p:spPr>
          <a:xfrm>
            <a:off x="6766560" y="3383280"/>
            <a:ext cx="2286000" cy="594360"/>
          </a:xfrm>
          <a:prstGeom prst="rect">
            <a:avLst/>
          </a:prstGeom>
          <a:noFill/>
          <a:ln/>
        </p:spPr>
        <p:txBody>
          <a:bodyPr wrap="square" lIns="0" tIns="0" rIns="0" bIns="0" rtlCol="0" anchor="ctr"/>
          <a:lstStyle/>
          <a:p>
            <a:pPr indent="0" marL="0">
              <a:buNone/>
            </a:pPr>
            <a:r>
              <a:rPr lang="en-US" sz="1350" b="1" dirty="0">
                <a:solidFill>
                  <a:srgbClr val="C8102E"/>
                </a:solidFill>
                <a:latin typeface="Arial" pitchFamily="34" charset="0"/>
                <a:ea typeface="Arial" pitchFamily="34" charset="-122"/>
                <a:cs typeface="Arial" pitchFamily="34" charset="-120"/>
              </a:rPr>
              <a:t>2035</a:t>
            </a:r>
            <a:endParaRPr lang="en-US" sz="1350" dirty="0"/>
          </a:p>
        </p:txBody>
      </p:sp>
      <p:sp>
        <p:nvSpPr>
          <p:cNvPr id="21" name="Text 19"/>
          <p:cNvSpPr/>
          <p:nvPr/>
        </p:nvSpPr>
        <p:spPr>
          <a:xfrm>
            <a:off x="9144000" y="3383280"/>
            <a:ext cx="2286000" cy="594360"/>
          </a:xfrm>
          <a:prstGeom prst="rect">
            <a:avLst/>
          </a:prstGeom>
          <a:noFill/>
          <a:ln/>
        </p:spPr>
        <p:txBody>
          <a:bodyPr wrap="square" lIns="0" tIns="0" rIns="0" bIns="0" rtlCol="0" anchor="ctr"/>
          <a:lstStyle/>
          <a:p>
            <a:pPr indent="0" marL="0">
              <a:buNone/>
            </a:pPr>
            <a:r>
              <a:rPr lang="en-US" sz="1150" i="1" dirty="0">
                <a:solidFill>
                  <a:srgbClr val="808080"/>
                </a:solidFill>
                <a:latin typeface="Arial" pitchFamily="34" charset="0"/>
                <a:ea typeface="Arial" pitchFamily="34" charset="-122"/>
                <a:cs typeface="Arial" pitchFamily="34" charset="-120"/>
              </a:rPr>
              <a:t>not even in the official findings</a:t>
            </a:r>
            <a:endParaRPr lang="en-US" sz="1150" dirty="0"/>
          </a:p>
        </p:txBody>
      </p:sp>
      <p:sp>
        <p:nvSpPr>
          <p:cNvPr id="22" name="Text 20"/>
          <p:cNvSpPr/>
          <p:nvPr/>
        </p:nvSpPr>
        <p:spPr>
          <a:xfrm>
            <a:off x="640080" y="4206240"/>
            <a:ext cx="10881360" cy="146304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All five (E1–E5) were found by human reviewers — they are our answer key.</a:t>
            </a:r>
            <a:endParaRPr lang="en-US" sz="1500" dirty="0"/>
          </a:p>
          <a:p>
            <a:pPr marL="177800" indent="-177800">
              <a:spcAft>
                <a:spcPts val="1200"/>
              </a:spcAft>
              <a:buSzPct val="100000"/>
              <a:buChar char="–"/>
            </a:pPr>
            <a:r>
              <a:rPr lang="en-US" sz="1500" b="1" dirty="0">
                <a:solidFill>
                  <a:srgbClr val="333333"/>
                </a:solidFill>
                <a:latin typeface="Arial" pitchFamily="34" charset="0"/>
                <a:ea typeface="Arial" pitchFamily="34" charset="-122"/>
                <a:cs typeface="Arial" pitchFamily="34" charset="-120"/>
              </a:rPr>
              <a:t>The model is never shown the answer key. We only score its output against it.</a:t>
            </a:r>
            <a:endParaRPr lang="en-US" sz="1500" dirty="0"/>
          </a:p>
        </p:txBody>
      </p:sp>
      <p:sp>
        <p:nvSpPr>
          <p:cNvPr id="23" name="Text 21"/>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Method A: what most of us would type</a:t>
            </a:r>
            <a:endParaRPr lang="en-US" sz="2400" dirty="0"/>
          </a:p>
        </p:txBody>
      </p:sp>
      <p:sp>
        <p:nvSpPr>
          <p:cNvPr id="3" name="Shape 1"/>
          <p:cNvSpPr/>
          <p:nvPr/>
        </p:nvSpPr>
        <p:spPr>
          <a:xfrm>
            <a:off x="640080" y="1325880"/>
            <a:ext cx="10881360" cy="2103120"/>
          </a:xfrm>
          <a:prstGeom prst="rect">
            <a:avLst/>
          </a:prstGeom>
          <a:solidFill>
            <a:srgbClr val="F7F7F7"/>
          </a:solidFill>
          <a:ln w="12700">
            <a:solidFill>
              <a:srgbClr val="BFBFBF"/>
            </a:solidFill>
            <a:prstDash val="solid"/>
          </a:ln>
        </p:spPr>
      </p:sp>
      <p:sp>
        <p:nvSpPr>
          <p:cNvPr id="4" name="Text 2"/>
          <p:cNvSpPr/>
          <p:nvPr/>
        </p:nvSpPr>
        <p:spPr>
          <a:xfrm>
            <a:off x="914400" y="1508760"/>
            <a:ext cx="10332720" cy="1737360"/>
          </a:xfrm>
          <a:prstGeom prst="rect">
            <a:avLst/>
          </a:prstGeom>
          <a:noFill/>
          <a:ln/>
        </p:spPr>
        <p:txBody>
          <a:bodyPr wrap="square" lIns="0" tIns="0" rIns="0" bIns="0" rtlCol="0" anchor="ctr"/>
          <a:lstStyle/>
          <a:p>
            <a:pPr indent="0" marL="0">
              <a:buNone/>
            </a:pPr>
            <a:r>
              <a:rPr lang="en-US" sz="1250" dirty="0">
                <a:solidFill>
                  <a:srgbClr val="222222"/>
                </a:solidFill>
                <a:latin typeface="Courier New" pitchFamily="34" charset="0"/>
                <a:ea typeface="Courier New" pitchFamily="34" charset="-122"/>
                <a:cs typeface="Courier New" pitchFamily="34" charset="-120"/>
              </a:rPr>
              <a:t>"You are reviewing a credit rating file. The uploaded documents include the internal rating documents (the RAMP and the MUD RSR model output), the published rating article, and the rating criteria for North Holly Metropolitan District, CO. Find all inconsistencies between the internal documents and the published rating article. List each inconsistency, showing the value from each document."</a:t>
            </a:r>
            <a:endParaRPr lang="en-US" sz="1250" dirty="0"/>
          </a:p>
        </p:txBody>
      </p:sp>
      <p:sp>
        <p:nvSpPr>
          <p:cNvPr id="5" name="Text 3"/>
          <p:cNvSpPr/>
          <p:nvPr/>
        </p:nvSpPr>
        <p:spPr>
          <a:xfrm>
            <a:off x="640080" y="3749040"/>
            <a:ext cx="10881360" cy="201168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One message, all four documents, let the model figure it out.</a:t>
            </a:r>
            <a:endParaRPr lang="en-US" sz="1500" dirty="0"/>
          </a:p>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A perfectly reasonable message — clear, polite, complete. Not a straw man: this is how busy analysts actually use AI assistants.</a:t>
            </a:r>
            <a:endParaRPr lang="en-US" sz="1500" dirty="0"/>
          </a:p>
          <a:p>
            <a:pPr marL="177800" indent="-177800">
              <a:spcAft>
                <a:spcPts val="1200"/>
              </a:spcAft>
              <a:buSzPct val="100000"/>
              <a:buChar char="–"/>
            </a:pPr>
            <a:r>
              <a:rPr lang="en-US" sz="1500" dirty="0">
                <a:solidFill>
                  <a:srgbClr val="333333"/>
                </a:solidFill>
                <a:latin typeface="Arial" pitchFamily="34" charset="0"/>
                <a:ea typeface="Arial" pitchFamily="34" charset="-122"/>
                <a:cs typeface="Arial" pitchFamily="34" charset="-120"/>
              </a:rPr>
              <a:t>We ran it three times.</a:t>
            </a:r>
            <a:endParaRPr lang="en-US" sz="1500" dirty="0"/>
          </a:p>
        </p:txBody>
      </p:sp>
      <p:sp>
        <p:nvSpPr>
          <p:cNvPr id="6" name="Text 4"/>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Method A results: three runs, zero real errors</a:t>
            </a:r>
            <a:endParaRPr lang="en-US" sz="2400" dirty="0"/>
          </a:p>
        </p:txBody>
      </p:sp>
      <p:sp>
        <p:nvSpPr>
          <p:cNvPr id="3" name="Text 1"/>
          <p:cNvSpPr/>
          <p:nvPr/>
        </p:nvSpPr>
        <p:spPr>
          <a:xfrm>
            <a:off x="640080" y="1280160"/>
            <a:ext cx="6949440" cy="4389120"/>
          </a:xfrm>
          <a:prstGeom prst="rect">
            <a:avLst/>
          </a:prstGeom>
          <a:noFill/>
          <a:ln/>
        </p:spPr>
        <p:txBody>
          <a:bodyPr wrap="square" lIns="0" tIns="0" rIns="0" bIns="0" rtlCol="0" anchor="t"/>
          <a:lstStyle/>
          <a:p>
            <a:pPr marL="177800" indent="-177800">
              <a:spcAft>
                <a:spcPts val="1500"/>
              </a:spcAft>
              <a:buSzPct val="100000"/>
              <a:buChar char="–"/>
            </a:pPr>
            <a:r>
              <a:rPr lang="en-US" sz="1500" b="1" dirty="0">
                <a:solidFill>
                  <a:srgbClr val="C8102E"/>
                </a:solidFill>
                <a:latin typeface="Arial" pitchFamily="34" charset="0"/>
                <a:ea typeface="Arial" pitchFamily="34" charset="-122"/>
                <a:cs typeface="Arial" pitchFamily="34" charset="-120"/>
              </a:rPr>
              <a:t>Real errors found: 0 of 5  (across all three runs)</a:t>
            </a:r>
            <a:endParaRPr lang="en-US" sz="1500" dirty="0"/>
          </a:p>
          <a:p>
            <a:pPr marL="177800" indent="-177800">
              <a:spcAft>
                <a:spcPts val="1500"/>
              </a:spcAft>
              <a:buSzPct val="100000"/>
              <a:buChar char="–"/>
            </a:pPr>
            <a:r>
              <a:rPr lang="en-US" sz="1500" dirty="0">
                <a:solidFill>
                  <a:srgbClr val="333333"/>
                </a:solidFill>
                <a:latin typeface="Arial" pitchFamily="34" charset="0"/>
                <a:ea typeface="Arial" pitchFamily="34" charset="-122"/>
                <a:cs typeface="Arial" pitchFamily="34" charset="-120"/>
              </a:rPr>
              <a:t>False alarms: 4 per run — and the three runs each gave a different answer</a:t>
            </a:r>
            <a:endParaRPr lang="en-US" sz="1500" dirty="0"/>
          </a:p>
          <a:p>
            <a:pPr marL="177800" indent="-177800">
              <a:spcAft>
                <a:spcPts val="1500"/>
              </a:spcAft>
              <a:buSzPct val="100000"/>
              <a:buChar char="–"/>
            </a:pPr>
            <a:r>
              <a:rPr lang="en-US" sz="1500" dirty="0">
                <a:solidFill>
                  <a:srgbClr val="333333"/>
                </a:solidFill>
                <a:latin typeface="Arial" pitchFamily="34" charset="0"/>
                <a:ea typeface="Arial" pitchFamily="34" charset="-122"/>
                <a:cs typeface="Arial" pitchFamily="34" charset="-120"/>
              </a:rPr>
              <a:t>Typical false alarm: “6.88 vs 68.82 — inconsistent!” In fact this is the SAME number: the internal record quotes tax rates in $ per $100 of assessed value, the article quotes mills, and 1 mill = $0.10 per $100 — so 6.88 = 68.82. Meanwhile the real contradiction right next to those numbers — E1/E2, “Very Low” vs “High” — was never mentioned.</a:t>
            </a:r>
            <a:endParaRPr lang="en-US" sz="1500" dirty="0"/>
          </a:p>
          <a:p>
            <a:pPr marL="177800" indent="-177800">
              <a:spcAft>
                <a:spcPts val="1500"/>
              </a:spcAft>
              <a:buSzPct val="100000"/>
              <a:buChar char="–"/>
            </a:pPr>
            <a:r>
              <a:rPr lang="en-US" sz="1500" b="1" dirty="0">
                <a:solidFill>
                  <a:srgbClr val="333333"/>
                </a:solidFill>
                <a:latin typeface="Arial" pitchFamily="34" charset="0"/>
                <a:ea typeface="Arial" pitchFamily="34" charset="-122"/>
                <a:cs typeface="Arial" pitchFamily="34" charset="-120"/>
              </a:rPr>
              <a:t>It reported fake differences and missed real ones — differently each time.</a:t>
            </a:r>
            <a:endParaRPr lang="en-US" sz="1500" dirty="0"/>
          </a:p>
        </p:txBody>
      </p:sp>
      <p:sp>
        <p:nvSpPr>
          <p:cNvPr id="4" name="Shape 2"/>
          <p:cNvSpPr/>
          <p:nvPr/>
        </p:nvSpPr>
        <p:spPr>
          <a:xfrm>
            <a:off x="7955280" y="1325880"/>
            <a:ext cx="3566160" cy="4206240"/>
          </a:xfrm>
          <a:prstGeom prst="rect">
            <a:avLst/>
          </a:prstGeom>
          <a:solidFill>
            <a:srgbClr val="FAFAFA"/>
          </a:solidFill>
          <a:ln w="12700">
            <a:solidFill>
              <a:srgbClr val="BFBFBF"/>
            </a:solidFill>
            <a:prstDash val="dash"/>
          </a:ln>
        </p:spPr>
      </p:sp>
      <p:sp>
        <p:nvSpPr>
          <p:cNvPr id="5" name="Text 3"/>
          <p:cNvSpPr/>
          <p:nvPr/>
        </p:nvSpPr>
        <p:spPr>
          <a:xfrm>
            <a:off x="8138160" y="3200400"/>
            <a:ext cx="3200400" cy="457200"/>
          </a:xfrm>
          <a:prstGeom prst="rect">
            <a:avLst/>
          </a:prstGeom>
          <a:noFill/>
          <a:ln/>
        </p:spPr>
        <p:txBody>
          <a:bodyPr wrap="square" lIns="0" tIns="0" rIns="0" bIns="0" rtlCol="0" anchor="ctr"/>
          <a:lstStyle/>
          <a:p>
            <a:pPr algn="ctr" indent="0" marL="0">
              <a:buNone/>
            </a:pPr>
            <a:r>
              <a:rPr lang="en-US" sz="1100" i="1" dirty="0">
                <a:solidFill>
                  <a:srgbClr val="808080"/>
                </a:solidFill>
                <a:latin typeface="Arial" pitchFamily="34" charset="0"/>
                <a:ea typeface="Arial" pitchFamily="34" charset="-122"/>
                <a:cs typeface="Arial" pitchFamily="34" charset="-120"/>
              </a:rPr>
              <a:t>[ screenshot: Method A output, run 1 ]</a:t>
            </a:r>
            <a:endParaRPr lang="en-US" sz="1100" dirty="0"/>
          </a:p>
        </p:txBody>
      </p:sp>
      <p:sp>
        <p:nvSpPr>
          <p:cNvPr id="6" name="Text 4"/>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Why the one-shot fails here</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500"/>
              </a:spcAft>
              <a:buSzPct val="100000"/>
              <a:buChar char="–"/>
            </a:pPr>
            <a:r>
              <a:rPr lang="en-US" sz="1500" dirty="0">
                <a:solidFill>
                  <a:srgbClr val="333333"/>
                </a:solidFill>
                <a:latin typeface="Arial" pitchFamily="34" charset="0"/>
                <a:ea typeface="Arial" pitchFamily="34" charset="-122"/>
                <a:cs typeface="Arial" pitchFamily="34" charset="-120"/>
              </a:rPr>
              <a:t>Retrieval by design — the model doesn't read whole files; it sees a handful of passages fetched from each document, so the two cells that contradict each other rarely arrive side by side.</a:t>
            </a:r>
            <a:endParaRPr lang="en-US" sz="1500" dirty="0"/>
          </a:p>
          <a:p>
            <a:pPr marL="177800" indent="-177800">
              <a:spcAft>
                <a:spcPts val="1500"/>
              </a:spcAft>
              <a:buSzPct val="100000"/>
              <a:buChar char="–"/>
            </a:pPr>
            <a:r>
              <a:rPr lang="en-US" sz="1500" dirty="0">
                <a:solidFill>
                  <a:srgbClr val="333333"/>
                </a:solidFill>
                <a:latin typeface="Arial" pitchFamily="34" charset="0"/>
                <a:ea typeface="Arial" pitchFamily="34" charset="-122"/>
                <a:cs typeface="Arial" pitchFamily="34" charset="-120"/>
              </a:rPr>
              <a:t>No procedure to follow — “find all inconsistencies” gives it no structure, so each run improvises a different plan, and each plan misses something different.</a:t>
            </a:r>
            <a:endParaRPr lang="en-US" sz="1500" dirty="0"/>
          </a:p>
          <a:p>
            <a:pPr marL="177800" indent="-177800">
              <a:spcAft>
                <a:spcPts val="1500"/>
              </a:spcAft>
              <a:buSzPct val="100000"/>
              <a:buChar char="–"/>
            </a:pPr>
            <a:r>
              <a:rPr lang="en-US" sz="1500" dirty="0">
                <a:solidFill>
                  <a:srgbClr val="333333"/>
                </a:solidFill>
                <a:latin typeface="Arial" pitchFamily="34" charset="0"/>
                <a:ea typeface="Arial" pitchFamily="34" charset="-122"/>
                <a:cs typeface="Arial" pitchFamily="34" charset="-120"/>
              </a:rPr>
              <a:t>Cross-document hops — matching a value in one file to a differently-labeled, differently-united value in another is challenging for a smaller model in a single prompt.</a:t>
            </a:r>
            <a:endParaRPr lang="en-US" sz="1500" dirty="0"/>
          </a:p>
          <a:p>
            <a:pPr marL="177800" indent="-177800">
              <a:spcAft>
                <a:spcPts val="1500"/>
              </a:spcAft>
              <a:buSzPct val="100000"/>
              <a:buChar char="–"/>
            </a:pPr>
            <a:r>
              <a:rPr lang="en-US" sz="1500" b="1" dirty="0">
                <a:solidFill>
                  <a:srgbClr val="333333"/>
                </a:solidFill>
                <a:latin typeface="Arial" pitchFamily="34" charset="0"/>
                <a:ea typeface="Arial" pitchFamily="34" charset="-122"/>
                <a:cs typeface="Arial" pitchFamily="34" charset="-120"/>
              </a:rPr>
              <a:t>But: asked one small, specific question at a time, the same model answered 10 out of 10 correctly, in about a second each.</a:t>
            </a:r>
            <a:endParaRPr lang="en-US" sz="1500" dirty="0"/>
          </a:p>
          <a:p>
            <a:pPr marL="177800" indent="-177800">
              <a:spcAft>
                <a:spcPts val="1500"/>
              </a:spcAft>
              <a:buSzPct val="100000"/>
              <a:buChar char="–"/>
            </a:pPr>
            <a:r>
              <a:rPr lang="en-US" sz="1500" b="1" dirty="0">
                <a:solidFill>
                  <a:srgbClr val="C8102E"/>
                </a:solidFill>
                <a:latin typeface="Arial" pitchFamily="34" charset="0"/>
                <a:ea typeface="Arial" pitchFamily="34" charset="-122"/>
                <a:cs typeface="Arial" pitchFamily="34" charset="-120"/>
              </a:rPr>
              <a:t>The model is capable — the task shape was the problem.</a:t>
            </a:r>
            <a:endParaRPr lang="en-US" sz="15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The key step: first think about what we actually check</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Before writing any new prompt, we stopped and listed what a human reviewer actually does with these documents:</a:t>
            </a:r>
            <a:endParaRPr lang="en-US" sz="1500" dirty="0"/>
          </a:p>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(1) Pull each metric out of each document — value, unit, characterization.   (2) Put everything into the same units and formats.   (3) Compare, item by item — numbers, labels, dates, years.</a:t>
            </a:r>
            <a:endParaRPr lang="en-US" sz="1500" dirty="0"/>
          </a:p>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That list IS the pipeline. The steps come directly from how the checking work is actually done.</a:t>
            </a:r>
            <a:endParaRPr lang="en-US" sz="1500" dirty="0"/>
          </a:p>
          <a:p>
            <a:pPr marL="177800" indent="-177800">
              <a:spcAft>
                <a:spcPts val="1600"/>
              </a:spcAft>
              <a:buSzPct val="100000"/>
              <a:buChar char="–"/>
            </a:pPr>
            <a:r>
              <a:rPr lang="en-US" sz="1500" b="1" dirty="0">
                <a:solidFill>
                  <a:srgbClr val="333333"/>
                </a:solidFill>
                <a:latin typeface="Arial" pitchFamily="34" charset="0"/>
                <a:ea typeface="Arial" pitchFamily="34" charset="-122"/>
                <a:cs typeface="Arial" pitchFamily="34" charset="-120"/>
              </a:rPr>
              <a:t>The technique is not fancy, and we don’t need fancy words. We just wrote the checking procedure down as clearly as we could, instead of hoping the model would invent one.</a:t>
            </a:r>
            <a:endParaRPr lang="en-US" sz="1500" dirty="0"/>
          </a:p>
          <a:p>
            <a:pPr marL="177800" indent="-177800">
              <a:spcAft>
                <a:spcPts val="1600"/>
              </a:spcAft>
              <a:buSzPct val="100000"/>
              <a:buChar char="–"/>
            </a:pPr>
            <a:r>
              <a:rPr lang="en-US" sz="1500" b="1" dirty="0">
                <a:solidFill>
                  <a:srgbClr val="333333"/>
                </a:solidFill>
                <a:latin typeface="Arial" pitchFamily="34" charset="0"/>
                <a:ea typeface="Arial" pitchFamily="34" charset="-122"/>
                <a:cs typeface="Arial" pitchFamily="34" charset="-120"/>
              </a:rPr>
              <a:t>Think of it as briefing a brand-new intern: full context, clear instructions, and only simple tasks.</a:t>
            </a:r>
            <a:endParaRPr lang="en-US" sz="15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Final version: Extract → Normalize → Compare</a:t>
            </a:r>
            <a:endParaRPr lang="en-US" sz="2400" dirty="0"/>
          </a:p>
        </p:txBody>
      </p:sp>
      <p:sp>
        <p:nvSpPr>
          <p:cNvPr id="3" name="Text 1"/>
          <p:cNvSpPr/>
          <p:nvPr/>
        </p:nvSpPr>
        <p:spPr>
          <a:xfrm>
            <a:off x="640080" y="1234440"/>
            <a:ext cx="352044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1. Extract</a:t>
            </a:r>
            <a:endParaRPr lang="en-US" sz="1500" dirty="0"/>
          </a:p>
        </p:txBody>
      </p:sp>
      <p:sp>
        <p:nvSpPr>
          <p:cNvPr id="4" name="Text 2"/>
          <p:cNvSpPr/>
          <p:nvPr/>
        </p:nvSpPr>
        <p:spPr>
          <a:xfrm>
            <a:off x="640080" y="1572768"/>
            <a:ext cx="3520440" cy="548640"/>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One document at a time → one structured table.</a:t>
            </a:r>
            <a:endParaRPr lang="en-US" sz="1100" dirty="0"/>
          </a:p>
        </p:txBody>
      </p:sp>
      <p:sp>
        <p:nvSpPr>
          <p:cNvPr id="5" name="Shape 3"/>
          <p:cNvSpPr/>
          <p:nvPr/>
        </p:nvSpPr>
        <p:spPr>
          <a:xfrm>
            <a:off x="640080" y="2194560"/>
            <a:ext cx="3520440" cy="2743200"/>
          </a:xfrm>
          <a:prstGeom prst="rect">
            <a:avLst/>
          </a:prstGeom>
          <a:solidFill>
            <a:srgbClr val="F7F7F7"/>
          </a:solidFill>
          <a:ln w="12700">
            <a:solidFill>
              <a:srgbClr val="BFBFBF"/>
            </a:solidFill>
            <a:prstDash val="solid"/>
          </a:ln>
        </p:spPr>
      </p:sp>
      <p:sp>
        <p:nvSpPr>
          <p:cNvPr id="6" name="Text 4"/>
          <p:cNvSpPr/>
          <p:nvPr/>
        </p:nvSpPr>
        <p:spPr>
          <a:xfrm>
            <a:off x="804672" y="2331720"/>
            <a:ext cx="3191256" cy="2468880"/>
          </a:xfrm>
          <a:prstGeom prst="rect">
            <a:avLst/>
          </a:prstGeom>
          <a:noFill/>
          <a:ln/>
        </p:spPr>
        <p:txBody>
          <a:bodyPr wrap="square" lIns="0" tIns="0" rIns="0" bIns="0" rtlCol="0" anchor="ctr"/>
          <a:lstStyle/>
          <a:p>
            <a:pPr indent="0" marL="0">
              <a:buNone/>
            </a:pPr>
            <a:r>
              <a:rPr lang="en-US" sz="1000" dirty="0">
                <a:solidFill>
                  <a:srgbClr val="222222"/>
                </a:solidFill>
                <a:latin typeface="Courier New" pitchFamily="34" charset="0"/>
                <a:ea typeface="Courier New" pitchFamily="34" charset="-122"/>
                <a:cs typeface="Courier New" pitchFamily="34" charset="-120"/>
              </a:rPr>
              <a:t>“Extract EVERY metric row into a table: Metric | Year | Value | Unit | Characterization. Copy values exactly as written. Do NOT convert units. If a cell is blank, write BLANK. Do not guess.”</a:t>
            </a:r>
            <a:endParaRPr lang="en-US" sz="1000" dirty="0"/>
          </a:p>
        </p:txBody>
      </p:sp>
      <p:sp>
        <p:nvSpPr>
          <p:cNvPr id="7" name="Text 5"/>
          <p:cNvSpPr/>
          <p:nvPr/>
        </p:nvSpPr>
        <p:spPr>
          <a:xfrm>
            <a:off x="4169664" y="3291840"/>
            <a:ext cx="274320" cy="45720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a:t>
            </a:r>
            <a:endParaRPr lang="en-US" sz="2000" dirty="0"/>
          </a:p>
        </p:txBody>
      </p:sp>
      <p:sp>
        <p:nvSpPr>
          <p:cNvPr id="8" name="Text 6"/>
          <p:cNvSpPr/>
          <p:nvPr/>
        </p:nvSpPr>
        <p:spPr>
          <a:xfrm>
            <a:off x="4343400" y="1234440"/>
            <a:ext cx="352044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2. Normalize</a:t>
            </a:r>
            <a:endParaRPr lang="en-US" sz="1500" dirty="0"/>
          </a:p>
        </p:txBody>
      </p:sp>
      <p:sp>
        <p:nvSpPr>
          <p:cNvPr id="9" name="Text 7"/>
          <p:cNvSpPr/>
          <p:nvPr/>
        </p:nvSpPr>
        <p:spPr>
          <a:xfrm>
            <a:off x="4343400" y="1572768"/>
            <a:ext cx="3520440" cy="548640"/>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Same units and formats everywhere. Pure mechanics.</a:t>
            </a:r>
            <a:endParaRPr lang="en-US" sz="1100" dirty="0"/>
          </a:p>
        </p:txBody>
      </p:sp>
      <p:sp>
        <p:nvSpPr>
          <p:cNvPr id="10" name="Shape 8"/>
          <p:cNvSpPr/>
          <p:nvPr/>
        </p:nvSpPr>
        <p:spPr>
          <a:xfrm>
            <a:off x="4343400" y="2194560"/>
            <a:ext cx="3520440" cy="2743200"/>
          </a:xfrm>
          <a:prstGeom prst="rect">
            <a:avLst/>
          </a:prstGeom>
          <a:solidFill>
            <a:srgbClr val="F7F7F7"/>
          </a:solidFill>
          <a:ln w="12700">
            <a:solidFill>
              <a:srgbClr val="BFBFBF"/>
            </a:solidFill>
            <a:prstDash val="solid"/>
          </a:ln>
        </p:spPr>
      </p:sp>
      <p:sp>
        <p:nvSpPr>
          <p:cNvPr id="11" name="Text 9"/>
          <p:cNvSpPr/>
          <p:nvPr/>
        </p:nvSpPr>
        <p:spPr>
          <a:xfrm>
            <a:off x="4507992" y="2331720"/>
            <a:ext cx="3191256" cy="2468880"/>
          </a:xfrm>
          <a:prstGeom prst="rect">
            <a:avLst/>
          </a:prstGeom>
          <a:noFill/>
          <a:ln/>
        </p:spPr>
        <p:txBody>
          <a:bodyPr wrap="square" lIns="0" tIns="0" rIns="0" bIns="0" rtlCol="0" anchor="ctr"/>
          <a:lstStyle/>
          <a:p>
            <a:pPr indent="0" marL="0">
              <a:buNone/>
            </a:pPr>
            <a:r>
              <a:rPr lang="en-US" sz="1000" dirty="0">
                <a:solidFill>
                  <a:srgbClr val="222222"/>
                </a:solidFill>
                <a:latin typeface="Courier New" pitchFamily="34" charset="0"/>
                <a:ea typeface="Courier New" pitchFamily="34" charset="-122"/>
                <a:cs typeface="Courier New" pitchFamily="34" charset="-120"/>
              </a:rPr>
              <a:t>“Rewrite the ENTIRE table in canonical form. A rate in ‘$ per $100 of AV’ is converted by multiplying by 10 → mills. A decimal like 0.25 for a % metric → 25%. Do not compare anything, do not drop any row.”</a:t>
            </a:r>
            <a:endParaRPr lang="en-US" sz="1000" dirty="0"/>
          </a:p>
        </p:txBody>
      </p:sp>
      <p:sp>
        <p:nvSpPr>
          <p:cNvPr id="12" name="Text 10"/>
          <p:cNvSpPr/>
          <p:nvPr/>
        </p:nvSpPr>
        <p:spPr>
          <a:xfrm>
            <a:off x="7872984" y="3291840"/>
            <a:ext cx="274320" cy="457200"/>
          </a:xfrm>
          <a:prstGeom prst="rect">
            <a:avLst/>
          </a:prstGeom>
          <a:noFill/>
          <a:ln/>
        </p:spPr>
        <p:txBody>
          <a:bodyPr wrap="square" lIns="0" tIns="0" rIns="0" bIns="0" rtlCol="0" anchor="ctr"/>
          <a:lstStyle/>
          <a:p>
            <a:pPr indent="0" marL="0">
              <a:buNone/>
            </a:pPr>
            <a:r>
              <a:rPr lang="en-US" sz="2000" b="1" dirty="0">
                <a:solidFill>
                  <a:srgbClr val="222222"/>
                </a:solidFill>
                <a:latin typeface="Arial" pitchFamily="34" charset="0"/>
                <a:ea typeface="Arial" pitchFamily="34" charset="-122"/>
                <a:cs typeface="Arial" pitchFamily="34" charset="-120"/>
              </a:rPr>
              <a:t>→</a:t>
            </a:r>
            <a:endParaRPr lang="en-US" sz="2000" dirty="0"/>
          </a:p>
        </p:txBody>
      </p:sp>
      <p:sp>
        <p:nvSpPr>
          <p:cNvPr id="13" name="Text 11"/>
          <p:cNvSpPr/>
          <p:nvPr/>
        </p:nvSpPr>
        <p:spPr>
          <a:xfrm>
            <a:off x="8046720" y="1234440"/>
            <a:ext cx="3520440" cy="320040"/>
          </a:xfrm>
          <a:prstGeom prst="rect">
            <a:avLst/>
          </a:prstGeom>
          <a:noFill/>
          <a:ln/>
        </p:spPr>
        <p:txBody>
          <a:bodyPr wrap="square" lIns="0" tIns="0" rIns="0" bIns="0" rtlCol="0" anchor="ctr"/>
          <a:lstStyle/>
          <a:p>
            <a:pPr indent="0" marL="0">
              <a:buNone/>
            </a:pPr>
            <a:r>
              <a:rPr lang="en-US" sz="1500" b="1" dirty="0">
                <a:solidFill>
                  <a:srgbClr val="222222"/>
                </a:solidFill>
                <a:latin typeface="Arial" pitchFamily="34" charset="0"/>
                <a:ea typeface="Arial" pitchFamily="34" charset="-122"/>
                <a:cs typeface="Arial" pitchFamily="34" charset="-120"/>
              </a:rPr>
              <a:t>3. Compare</a:t>
            </a:r>
            <a:endParaRPr lang="en-US" sz="1500" dirty="0"/>
          </a:p>
        </p:txBody>
      </p:sp>
      <p:sp>
        <p:nvSpPr>
          <p:cNvPr id="14" name="Text 12"/>
          <p:cNvSpPr/>
          <p:nvPr/>
        </p:nvSpPr>
        <p:spPr>
          <a:xfrm>
            <a:off x="8046720" y="1572768"/>
            <a:ext cx="3520440" cy="548640"/>
          </a:xfrm>
          <a:prstGeom prst="rect">
            <a:avLst/>
          </a:prstGeom>
          <a:noFill/>
          <a:ln/>
        </p:spPr>
        <p:txBody>
          <a:bodyPr wrap="square" lIns="0" tIns="0" rIns="0" bIns="0" rtlCol="0" anchor="ctr"/>
          <a:lstStyle/>
          <a:p>
            <a:pPr indent="0" marL="0">
              <a:buNone/>
            </a:pPr>
            <a:r>
              <a:rPr lang="en-US" sz="1100" dirty="0">
                <a:solidFill>
                  <a:srgbClr val="333333"/>
                </a:solidFill>
                <a:latin typeface="Arial" pitchFamily="34" charset="0"/>
                <a:ea typeface="Arial" pitchFamily="34" charset="-122"/>
                <a:cs typeface="Arial" pitchFamily="34" charset="-120"/>
              </a:rPr>
              <a:t>Two clean tables in, disagreement list out.</a:t>
            </a:r>
            <a:endParaRPr lang="en-US" sz="1100" dirty="0"/>
          </a:p>
        </p:txBody>
      </p:sp>
      <p:sp>
        <p:nvSpPr>
          <p:cNvPr id="15" name="Shape 13"/>
          <p:cNvSpPr/>
          <p:nvPr/>
        </p:nvSpPr>
        <p:spPr>
          <a:xfrm>
            <a:off x="8046720" y="2194560"/>
            <a:ext cx="3520440" cy="2743200"/>
          </a:xfrm>
          <a:prstGeom prst="rect">
            <a:avLst/>
          </a:prstGeom>
          <a:solidFill>
            <a:srgbClr val="F7F7F7"/>
          </a:solidFill>
          <a:ln w="12700">
            <a:solidFill>
              <a:srgbClr val="BFBFBF"/>
            </a:solidFill>
            <a:prstDash val="solid"/>
          </a:ln>
        </p:spPr>
      </p:sp>
      <p:sp>
        <p:nvSpPr>
          <p:cNvPr id="16" name="Text 14"/>
          <p:cNvSpPr/>
          <p:nvPr/>
        </p:nvSpPr>
        <p:spPr>
          <a:xfrm>
            <a:off x="8211312" y="2331720"/>
            <a:ext cx="3191256" cy="2468880"/>
          </a:xfrm>
          <a:prstGeom prst="rect">
            <a:avLst/>
          </a:prstGeom>
          <a:noFill/>
          <a:ln/>
        </p:spPr>
        <p:txBody>
          <a:bodyPr wrap="square" lIns="0" tIns="0" rIns="0" bIns="0" rtlCol="0" anchor="ctr"/>
          <a:lstStyle/>
          <a:p>
            <a:pPr indent="0" marL="0">
              <a:buNone/>
            </a:pPr>
            <a:r>
              <a:rPr lang="en-US" sz="1000" dirty="0">
                <a:solidFill>
                  <a:srgbClr val="222222"/>
                </a:solidFill>
                <a:latin typeface="Courier New" pitchFamily="34" charset="0"/>
                <a:ea typeface="Courier New" pitchFamily="34" charset="-122"/>
                <a:cs typeface="Courier New" pitchFamily="34" charset="-120"/>
              </a:rPr>
              <a:t>“Compare EVERY piece of information that appears in more than one extraction. After unit conversion, values that differ by less than 1% are the SAME — do not report them. Different characterizations for the same metric ARE a disagreement, even when the numbers match.”</a:t>
            </a:r>
            <a:endParaRPr lang="en-US" sz="1000" dirty="0"/>
          </a:p>
        </p:txBody>
      </p:sp>
      <p:sp>
        <p:nvSpPr>
          <p:cNvPr id="17" name="Text 15"/>
          <p:cNvSpPr/>
          <p:nvPr/>
        </p:nvSpPr>
        <p:spPr>
          <a:xfrm>
            <a:off x="640080" y="5120640"/>
            <a:ext cx="10881360" cy="1097280"/>
          </a:xfrm>
          <a:prstGeom prst="rect">
            <a:avLst/>
          </a:prstGeom>
          <a:noFill/>
          <a:ln/>
        </p:spPr>
        <p:txBody>
          <a:bodyPr wrap="square" lIns="0" tIns="0" rIns="0" bIns="0" rtlCol="0" anchor="t"/>
          <a:lstStyle/>
          <a:p>
            <a:pPr marL="177800" indent="-177800">
              <a:spcAft>
                <a:spcPts val="1000"/>
              </a:spcAft>
              <a:buSzPct val="100000"/>
              <a:buChar char="–"/>
            </a:pPr>
            <a:r>
              <a:rPr lang="en-US" sz="1500" dirty="0">
                <a:solidFill>
                  <a:srgbClr val="333333"/>
                </a:solidFill>
                <a:latin typeface="Arial" pitchFamily="34" charset="0"/>
                <a:ea typeface="Arial" pitchFamily="34" charset="-122"/>
                <a:cs typeface="Arial" pitchFamily="34" charset="-120"/>
              </a:rPr>
              <a:t>Real prompt excerpts, shortened — plain English, no fancy words.</a:t>
            </a:r>
            <a:endParaRPr lang="en-US" sz="1500" dirty="0"/>
          </a:p>
          <a:p>
            <a:pPr marL="177800" indent="-177800">
              <a:spcAft>
                <a:spcPts val="1000"/>
              </a:spcAft>
              <a:buSzPct val="100000"/>
              <a:buChar char="–"/>
            </a:pPr>
            <a:r>
              <a:rPr lang="en-US" sz="1500" b="1" dirty="0">
                <a:solidFill>
                  <a:srgbClr val="333333"/>
                </a:solidFill>
                <a:latin typeface="Arial" pitchFamily="34" charset="0"/>
                <a:ea typeface="Arial" pitchFamily="34" charset="-122"/>
                <a:cs typeface="Arial" pitchFamily="34" charset="-120"/>
              </a:rPr>
              <a:t>Note what the prompts contain: what these documents generally look like, and the rules of the task. Never which fields are wrong in this file.</a:t>
            </a:r>
            <a:endParaRPr lang="en-US" sz="1500" dirty="0"/>
          </a:p>
        </p:txBody>
      </p:sp>
      <p:sp>
        <p:nvSpPr>
          <p:cNvPr id="18" name="Text 16"/>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12</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We improved the instructions, not the model</a:t>
            </a:r>
            <a:endParaRPr lang="en-US" sz="2400" dirty="0"/>
          </a:p>
        </p:txBody>
      </p:sp>
      <p:graphicFrame>
        <p:nvGraphicFramePr>
          <p:cNvPr id="3" name="Chart 0" descr=""/>
          <p:cNvGraphicFramePr/>
          <p:nvPr/>
        </p:nvGraphicFramePr>
        <p:xfrm>
          <a:off x="640080" y="1371600"/>
          <a:ext cx="5669280" cy="39319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p:nvPr/>
        </p:nvSpPr>
        <p:spPr>
          <a:xfrm>
            <a:off x="640080" y="5349240"/>
            <a:ext cx="5669280" cy="274320"/>
          </a:xfrm>
          <a:prstGeom prst="rect">
            <a:avLst/>
          </a:prstGeom>
          <a:noFill/>
          <a:ln/>
        </p:spPr>
        <p:txBody>
          <a:bodyPr wrap="square" lIns="0" tIns="0" rIns="0" bIns="0" rtlCol="0" anchor="ctr"/>
          <a:lstStyle/>
          <a:p>
            <a:pPr indent="0" marL="0">
              <a:buNone/>
            </a:pPr>
            <a:r>
              <a:rPr lang="en-US" sz="900" i="1" dirty="0">
                <a:solidFill>
                  <a:srgbClr val="808080"/>
                </a:solidFill>
                <a:latin typeface="Arial" pitchFamily="34" charset="0"/>
                <a:ea typeface="Arial" pitchFamily="34" charset="-122"/>
                <a:cs typeface="Arial" pitchFamily="34" charset="-120"/>
              </a:rPr>
              <a:t>* the final version also caught E2 partially (phrased once instead of twice)</a:t>
            </a:r>
            <a:endParaRPr lang="en-US" sz="900" dirty="0"/>
          </a:p>
        </p:txBody>
      </p:sp>
      <p:sp>
        <p:nvSpPr>
          <p:cNvPr id="5" name="Shape 2"/>
          <p:cNvSpPr/>
          <p:nvPr/>
        </p:nvSpPr>
        <p:spPr>
          <a:xfrm>
            <a:off x="6492240" y="1325880"/>
            <a:ext cx="5029200" cy="1691640"/>
          </a:xfrm>
          <a:prstGeom prst="rect">
            <a:avLst/>
          </a:prstGeom>
          <a:solidFill>
            <a:srgbClr val="FFFFFF"/>
          </a:solidFill>
          <a:ln w="12700">
            <a:solidFill>
              <a:srgbClr val="222222"/>
            </a:solidFill>
            <a:prstDash val="solid"/>
          </a:ln>
        </p:spPr>
      </p:sp>
      <p:sp>
        <p:nvSpPr>
          <p:cNvPr id="6" name="Text 3"/>
          <p:cNvSpPr/>
          <p:nvPr/>
        </p:nvSpPr>
        <p:spPr>
          <a:xfrm>
            <a:off x="6675120" y="1417320"/>
            <a:ext cx="4663440" cy="29260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What changed between versions</a:t>
            </a:r>
            <a:endParaRPr lang="en-US" sz="1250" dirty="0"/>
          </a:p>
        </p:txBody>
      </p:sp>
      <p:sp>
        <p:nvSpPr>
          <p:cNvPr id="7" name="Text 4"/>
          <p:cNvSpPr/>
          <p:nvPr/>
        </p:nvSpPr>
        <p:spPr>
          <a:xfrm>
            <a:off x="6675120" y="1728216"/>
            <a:ext cx="4663440" cy="68580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Only the instructions. Every fix was a general rule — we never told it the answers.</a:t>
            </a:r>
            <a:endParaRPr lang="en-US" sz="1050" dirty="0"/>
          </a:p>
        </p:txBody>
      </p:sp>
      <p:sp>
        <p:nvSpPr>
          <p:cNvPr id="8" name="Text 5"/>
          <p:cNvSpPr/>
          <p:nvPr/>
        </p:nvSpPr>
        <p:spPr>
          <a:xfrm>
            <a:off x="6675120" y="2404872"/>
            <a:ext cx="4663440" cy="548640"/>
          </a:xfrm>
          <a:prstGeom prst="rect">
            <a:avLst/>
          </a:prstGeom>
          <a:noFill/>
          <a:ln/>
        </p:spPr>
        <p:txBody>
          <a:bodyPr wrap="square" lIns="0" tIns="0" rIns="0" bIns="0" rtlCol="0" anchor="ctr"/>
          <a:lstStyle/>
          <a:p>
            <a:pPr indent="0" marL="0">
              <a:buNone/>
            </a:pPr>
            <a:r>
              <a:rPr lang="en-US" sz="950" dirty="0">
                <a:solidFill>
                  <a:srgbClr val="222222"/>
                </a:solidFill>
                <a:latin typeface="Courier New" pitchFamily="34" charset="0"/>
                <a:ea typeface="Courier New" pitchFamily="34" charset="-122"/>
                <a:cs typeface="Courier New" pitchFamily="34" charset="-120"/>
              </a:rPr>
              <a:t/>
            </a:r>
            <a:endParaRPr lang="en-US" sz="950" dirty="0"/>
          </a:p>
        </p:txBody>
      </p:sp>
      <p:sp>
        <p:nvSpPr>
          <p:cNvPr id="9" name="Shape 6"/>
          <p:cNvSpPr/>
          <p:nvPr/>
        </p:nvSpPr>
        <p:spPr>
          <a:xfrm>
            <a:off x="6492240" y="3182112"/>
            <a:ext cx="5029200" cy="1371600"/>
          </a:xfrm>
          <a:prstGeom prst="rect">
            <a:avLst/>
          </a:prstGeom>
          <a:solidFill>
            <a:srgbClr val="FFFFFF"/>
          </a:solidFill>
          <a:ln w="12700">
            <a:solidFill>
              <a:srgbClr val="222222"/>
            </a:solidFill>
            <a:prstDash val="solid"/>
          </a:ln>
        </p:spPr>
      </p:sp>
      <p:sp>
        <p:nvSpPr>
          <p:cNvPr id="10" name="Text 7"/>
          <p:cNvSpPr/>
          <p:nvPr/>
        </p:nvSpPr>
        <p:spPr>
          <a:xfrm>
            <a:off x="6675120" y="3273552"/>
            <a:ext cx="4663440" cy="29260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Why iteration worked</a:t>
            </a:r>
            <a:endParaRPr lang="en-US" sz="1250" dirty="0"/>
          </a:p>
        </p:txBody>
      </p:sp>
      <p:sp>
        <p:nvSpPr>
          <p:cNvPr id="11" name="Text 8"/>
          <p:cNvSpPr/>
          <p:nvPr/>
        </p:nvSpPr>
        <p:spPr>
          <a:xfrm>
            <a:off x="6675120" y="3584448"/>
            <a:ext cx="4663440" cy="68580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Each round we read the step outputs, found the cause, and changed the instructions. The pipeline shows you where it fails — a one-shot doesn’t.</a:t>
            </a:r>
            <a:endParaRPr lang="en-US" sz="1050" dirty="0"/>
          </a:p>
        </p:txBody>
      </p:sp>
      <p:sp>
        <p:nvSpPr>
          <p:cNvPr id="12" name="Shape 9"/>
          <p:cNvSpPr/>
          <p:nvPr/>
        </p:nvSpPr>
        <p:spPr>
          <a:xfrm>
            <a:off x="6492240" y="4718304"/>
            <a:ext cx="5029200" cy="1371600"/>
          </a:xfrm>
          <a:prstGeom prst="rect">
            <a:avLst/>
          </a:prstGeom>
          <a:solidFill>
            <a:srgbClr val="FFFFFF"/>
          </a:solidFill>
          <a:ln w="12700">
            <a:solidFill>
              <a:srgbClr val="222222"/>
            </a:solidFill>
            <a:prstDash val="solid"/>
          </a:ln>
        </p:spPr>
      </p:sp>
      <p:sp>
        <p:nvSpPr>
          <p:cNvPr id="13" name="Text 10"/>
          <p:cNvSpPr/>
          <p:nvPr/>
        </p:nvSpPr>
        <p:spPr>
          <a:xfrm>
            <a:off x="6675120" y="4809744"/>
            <a:ext cx="4663440" cy="29260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Final: 4 + 1 partial, false alarms ≈ 0</a:t>
            </a:r>
            <a:endParaRPr lang="en-US" sz="1250" dirty="0"/>
          </a:p>
        </p:txBody>
      </p:sp>
      <p:sp>
        <p:nvSpPr>
          <p:cNvPr id="14" name="Text 11"/>
          <p:cNvSpPr/>
          <p:nvPr/>
        </p:nvSpPr>
        <p:spPr>
          <a:xfrm>
            <a:off x="6675120" y="5120640"/>
            <a:ext cx="4663440" cy="685800"/>
          </a:xfrm>
          <a:prstGeom prst="rect">
            <a:avLst/>
          </a:prstGeom>
          <a:noFill/>
          <a:ln/>
        </p:spPr>
        <p:txBody>
          <a:bodyPr wrap="square" lIns="0" tIns="0" rIns="0" bIns="0" rtlCol="0" anchor="ctr"/>
          <a:lstStyle/>
          <a:p>
            <a:pPr indent="0" marL="0">
              <a:buNone/>
            </a:pPr>
            <a:r>
              <a:rPr lang="en-US" sz="1050" dirty="0">
                <a:solidFill>
                  <a:srgbClr val="333333"/>
                </a:solidFill>
                <a:latin typeface="Arial" pitchFamily="34" charset="0"/>
                <a:ea typeface="Arial" pitchFamily="34" charset="-122"/>
                <a:cs typeface="Arial" pitchFamily="34" charset="-120"/>
              </a:rPr>
              <a:t>Scores: A 0/5 → 1st version 2/5 → 2nd version 3/5 → final 4.5/5.</a:t>
            </a:r>
            <a:endParaRPr lang="en-US" sz="1050" dirty="0"/>
          </a:p>
        </p:txBody>
      </p:sp>
      <p:sp>
        <p:nvSpPr>
          <p:cNvPr id="15" name="Text 12"/>
          <p:cNvSpPr/>
          <p:nvPr/>
        </p:nvSpPr>
        <p:spPr>
          <a:xfrm>
            <a:off x="640080" y="6035040"/>
            <a:ext cx="10972800" cy="320040"/>
          </a:xfrm>
          <a:prstGeom prst="rect">
            <a:avLst/>
          </a:prstGeom>
          <a:noFill/>
          <a:ln/>
        </p:spPr>
        <p:txBody>
          <a:bodyPr wrap="square" lIns="0" tIns="0" rIns="0" bIns="0" rtlCol="0" anchor="ctr"/>
          <a:lstStyle/>
          <a:p>
            <a:pPr indent="0" marL="0">
              <a:buNone/>
            </a:pPr>
            <a:r>
              <a:rPr lang="en-US" sz="1250" b="1" i="1" dirty="0">
                <a:solidFill>
                  <a:srgbClr val="222222"/>
                </a:solidFill>
                <a:latin typeface="Arial" pitchFamily="34" charset="0"/>
                <a:ea typeface="Arial" pitchFamily="34" charset="-122"/>
                <a:cs typeface="Arial" pitchFamily="34" charset="-120"/>
              </a:rPr>
              <a:t>When a step underperforms, you can see it and fix the instructions. A bad one-shot answer gives you nothing to fix.</a:t>
            </a:r>
            <a:endParaRPr lang="en-US" sz="1250" dirty="0"/>
          </a:p>
        </p:txBody>
      </p:sp>
      <p:sp>
        <p:nvSpPr>
          <p:cNvPr id="16" name="Text 13"/>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Final score: one-shot vs step-by-step</a:t>
            </a:r>
            <a:endParaRPr lang="en-US" sz="2400" dirty="0"/>
          </a:p>
        </p:txBody>
      </p:sp>
      <p:sp>
        <p:nvSpPr>
          <p:cNvPr id="3" name="Text 1"/>
          <p:cNvSpPr/>
          <p:nvPr/>
        </p:nvSpPr>
        <p:spPr>
          <a:xfrm>
            <a:off x="777240" y="1399032"/>
            <a:ext cx="3566160" cy="365760"/>
          </a:xfrm>
          <a:prstGeom prst="rect">
            <a:avLst/>
          </a:prstGeom>
          <a:noFill/>
          <a:ln/>
        </p:spPr>
        <p:txBody>
          <a:bodyPr wrap="square" lIns="0" tIns="0" rIns="0" bIns="0" rtlCol="0" anchor="ctr"/>
          <a:lstStyle/>
          <a:p>
            <a:pPr indent="0" marL="0">
              <a:buNone/>
            </a:pPr>
            <a:endParaRPr lang="en-US" sz="1100" dirty="0"/>
          </a:p>
        </p:txBody>
      </p:sp>
      <p:sp>
        <p:nvSpPr>
          <p:cNvPr id="4" name="Text 2"/>
          <p:cNvSpPr/>
          <p:nvPr/>
        </p:nvSpPr>
        <p:spPr>
          <a:xfrm>
            <a:off x="4480560" y="1399032"/>
            <a:ext cx="1463040" cy="365760"/>
          </a:xfrm>
          <a:prstGeom prst="rect">
            <a:avLst/>
          </a:prstGeom>
          <a:noFill/>
          <a:ln/>
        </p:spPr>
        <p:txBody>
          <a:bodyPr wrap="square" lIns="0" tIns="0" rIns="0" bIns="0" rtlCol="0" anchor="ctr"/>
          <a:lstStyle/>
          <a:p>
            <a:pPr algn="ctr" indent="0" marL="0">
              <a:buNone/>
            </a:pPr>
            <a:r>
              <a:rPr lang="en-US" sz="1100" b="1" dirty="0">
                <a:solidFill>
                  <a:srgbClr val="808080"/>
                </a:solidFill>
                <a:latin typeface="Arial" pitchFamily="34" charset="0"/>
                <a:ea typeface="Arial" pitchFamily="34" charset="-122"/>
                <a:cs typeface="Arial" pitchFamily="34" charset="-120"/>
              </a:rPr>
              <a:t>Method A (3 runs)</a:t>
            </a:r>
            <a:endParaRPr lang="en-US" sz="1100" dirty="0"/>
          </a:p>
        </p:txBody>
      </p:sp>
      <p:sp>
        <p:nvSpPr>
          <p:cNvPr id="5" name="Text 3"/>
          <p:cNvSpPr/>
          <p:nvPr/>
        </p:nvSpPr>
        <p:spPr>
          <a:xfrm>
            <a:off x="6035040" y="1399032"/>
            <a:ext cx="1463040" cy="365760"/>
          </a:xfrm>
          <a:prstGeom prst="rect">
            <a:avLst/>
          </a:prstGeom>
          <a:noFill/>
          <a:ln/>
        </p:spPr>
        <p:txBody>
          <a:bodyPr wrap="square" lIns="0" tIns="0" rIns="0" bIns="0" rtlCol="0" anchor="ctr"/>
          <a:lstStyle/>
          <a:p>
            <a:pPr algn="ctr" indent="0" marL="0">
              <a:buNone/>
            </a:pPr>
            <a:r>
              <a:rPr lang="en-US" sz="1100" b="1" dirty="0">
                <a:solidFill>
                  <a:srgbClr val="808080"/>
                </a:solidFill>
                <a:latin typeface="Arial" pitchFamily="34" charset="0"/>
                <a:ea typeface="Arial" pitchFamily="34" charset="-122"/>
                <a:cs typeface="Arial" pitchFamily="34" charset="-120"/>
              </a:rPr>
              <a:t>Method B final</a:t>
            </a:r>
            <a:endParaRPr lang="en-US" sz="1100" dirty="0"/>
          </a:p>
        </p:txBody>
      </p:sp>
      <p:sp>
        <p:nvSpPr>
          <p:cNvPr id="6" name="Shape 4"/>
          <p:cNvSpPr/>
          <p:nvPr/>
        </p:nvSpPr>
        <p:spPr>
          <a:xfrm>
            <a:off x="640080" y="1783080"/>
            <a:ext cx="6858000" cy="530352"/>
          </a:xfrm>
          <a:prstGeom prst="rect">
            <a:avLst/>
          </a:prstGeom>
          <a:solidFill>
            <a:srgbClr val="EFEFEF"/>
          </a:solidFill>
          <a:ln w="6350">
            <a:solidFill>
              <a:srgbClr val="BFBFBF"/>
            </a:solidFill>
            <a:prstDash val="solid"/>
          </a:ln>
        </p:spPr>
      </p:sp>
      <p:sp>
        <p:nvSpPr>
          <p:cNvPr id="7" name="Text 5"/>
          <p:cNvSpPr/>
          <p:nvPr/>
        </p:nvSpPr>
        <p:spPr>
          <a:xfrm>
            <a:off x="777240" y="1810512"/>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E1   Direct rate characterization</a:t>
            </a:r>
            <a:endParaRPr lang="en-US" sz="1250" dirty="0"/>
          </a:p>
        </p:txBody>
      </p:sp>
      <p:sp>
        <p:nvSpPr>
          <p:cNvPr id="8" name="Text 6"/>
          <p:cNvSpPr/>
          <p:nvPr/>
        </p:nvSpPr>
        <p:spPr>
          <a:xfrm>
            <a:off x="4480560" y="1810512"/>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missed</a:t>
            </a:r>
            <a:endParaRPr lang="en-US" sz="1200" dirty="0"/>
          </a:p>
        </p:txBody>
      </p:sp>
      <p:sp>
        <p:nvSpPr>
          <p:cNvPr id="9" name="Text 7"/>
          <p:cNvSpPr/>
          <p:nvPr/>
        </p:nvSpPr>
        <p:spPr>
          <a:xfrm>
            <a:off x="6035040" y="1810512"/>
            <a:ext cx="1463040" cy="475488"/>
          </a:xfrm>
          <a:prstGeom prst="rect">
            <a:avLst/>
          </a:prstGeom>
          <a:noFill/>
          <a:ln/>
        </p:spPr>
        <p:txBody>
          <a:bodyPr wrap="square" lIns="0" tIns="0" rIns="0" bIns="0" rtlCol="0" anchor="ctr"/>
          <a:lstStyle/>
          <a:p>
            <a:pPr algn="ctr" indent="0" marL="0">
              <a:buNone/>
            </a:pPr>
            <a:r>
              <a:rPr lang="en-US" sz="1200" b="1" dirty="0">
                <a:solidFill>
                  <a:srgbClr val="2E6B2A"/>
                </a:solidFill>
                <a:latin typeface="Arial" pitchFamily="34" charset="0"/>
                <a:ea typeface="Arial" pitchFamily="34" charset="-122"/>
                <a:cs typeface="Arial" pitchFamily="34" charset="-120"/>
              </a:rPr>
              <a:t>caught</a:t>
            </a:r>
            <a:endParaRPr lang="en-US" sz="1200" dirty="0"/>
          </a:p>
        </p:txBody>
      </p:sp>
      <p:sp>
        <p:nvSpPr>
          <p:cNvPr id="10" name="Shape 8"/>
          <p:cNvSpPr/>
          <p:nvPr/>
        </p:nvSpPr>
        <p:spPr>
          <a:xfrm>
            <a:off x="640080" y="2350008"/>
            <a:ext cx="6858000" cy="530352"/>
          </a:xfrm>
          <a:prstGeom prst="rect">
            <a:avLst/>
          </a:prstGeom>
          <a:solidFill>
            <a:srgbClr val="FFFFFF"/>
          </a:solidFill>
          <a:ln w="6350">
            <a:solidFill>
              <a:srgbClr val="BFBFBF"/>
            </a:solidFill>
            <a:prstDash val="solid"/>
          </a:ln>
        </p:spPr>
      </p:sp>
      <p:sp>
        <p:nvSpPr>
          <p:cNvPr id="11" name="Text 9"/>
          <p:cNvSpPr/>
          <p:nvPr/>
        </p:nvSpPr>
        <p:spPr>
          <a:xfrm>
            <a:off x="777240" y="2377440"/>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E2   Total rate characterization</a:t>
            </a:r>
            <a:endParaRPr lang="en-US" sz="1250" dirty="0"/>
          </a:p>
        </p:txBody>
      </p:sp>
      <p:sp>
        <p:nvSpPr>
          <p:cNvPr id="12" name="Text 10"/>
          <p:cNvSpPr/>
          <p:nvPr/>
        </p:nvSpPr>
        <p:spPr>
          <a:xfrm>
            <a:off x="4480560" y="2377440"/>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missed</a:t>
            </a:r>
            <a:endParaRPr lang="en-US" sz="1200" dirty="0"/>
          </a:p>
        </p:txBody>
      </p:sp>
      <p:sp>
        <p:nvSpPr>
          <p:cNvPr id="13" name="Text 11"/>
          <p:cNvSpPr/>
          <p:nvPr/>
        </p:nvSpPr>
        <p:spPr>
          <a:xfrm>
            <a:off x="6035040" y="2377440"/>
            <a:ext cx="1463040" cy="475488"/>
          </a:xfrm>
          <a:prstGeom prst="rect">
            <a:avLst/>
          </a:prstGeom>
          <a:noFill/>
          <a:ln/>
        </p:spPr>
        <p:txBody>
          <a:bodyPr wrap="square" lIns="0" tIns="0" rIns="0" bIns="0" rtlCol="0" anchor="ctr"/>
          <a:lstStyle/>
          <a:p>
            <a:pPr algn="ctr" indent="0" marL="0">
              <a:buNone/>
            </a:pPr>
            <a:r>
              <a:rPr lang="en-US" sz="1200" b="1" dirty="0">
                <a:solidFill>
                  <a:srgbClr val="9C6500"/>
                </a:solidFill>
                <a:latin typeface="Arial" pitchFamily="34" charset="0"/>
                <a:ea typeface="Arial" pitchFamily="34" charset="-122"/>
                <a:cs typeface="Arial" pitchFamily="34" charset="-120"/>
              </a:rPr>
              <a:t>partial</a:t>
            </a:r>
            <a:endParaRPr lang="en-US" sz="1200" dirty="0"/>
          </a:p>
        </p:txBody>
      </p:sp>
      <p:sp>
        <p:nvSpPr>
          <p:cNvPr id="14" name="Shape 12"/>
          <p:cNvSpPr/>
          <p:nvPr/>
        </p:nvSpPr>
        <p:spPr>
          <a:xfrm>
            <a:off x="640080" y="2916936"/>
            <a:ext cx="6858000" cy="530352"/>
          </a:xfrm>
          <a:prstGeom prst="rect">
            <a:avLst/>
          </a:prstGeom>
          <a:solidFill>
            <a:srgbClr val="EFEFEF"/>
          </a:solidFill>
          <a:ln w="6350">
            <a:solidFill>
              <a:srgbClr val="BFBFBF"/>
            </a:solidFill>
            <a:prstDash val="solid"/>
          </a:ln>
        </p:spPr>
      </p:sp>
      <p:sp>
        <p:nvSpPr>
          <p:cNvPr id="15" name="Text 13"/>
          <p:cNvSpPr/>
          <p:nvPr/>
        </p:nvSpPr>
        <p:spPr>
          <a:xfrm>
            <a:off x="777240" y="2944368"/>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E3   Maturity date</a:t>
            </a:r>
            <a:endParaRPr lang="en-US" sz="1250" dirty="0"/>
          </a:p>
        </p:txBody>
      </p:sp>
      <p:sp>
        <p:nvSpPr>
          <p:cNvPr id="16" name="Text 14"/>
          <p:cNvSpPr/>
          <p:nvPr/>
        </p:nvSpPr>
        <p:spPr>
          <a:xfrm>
            <a:off x="4480560" y="2944368"/>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missed</a:t>
            </a:r>
            <a:endParaRPr lang="en-US" sz="1200" dirty="0"/>
          </a:p>
        </p:txBody>
      </p:sp>
      <p:sp>
        <p:nvSpPr>
          <p:cNvPr id="17" name="Text 15"/>
          <p:cNvSpPr/>
          <p:nvPr/>
        </p:nvSpPr>
        <p:spPr>
          <a:xfrm>
            <a:off x="6035040" y="2944368"/>
            <a:ext cx="1463040" cy="475488"/>
          </a:xfrm>
          <a:prstGeom prst="rect">
            <a:avLst/>
          </a:prstGeom>
          <a:noFill/>
          <a:ln/>
        </p:spPr>
        <p:txBody>
          <a:bodyPr wrap="square" lIns="0" tIns="0" rIns="0" bIns="0" rtlCol="0" anchor="ctr"/>
          <a:lstStyle/>
          <a:p>
            <a:pPr algn="ctr" indent="0" marL="0">
              <a:buNone/>
            </a:pPr>
            <a:r>
              <a:rPr lang="en-US" sz="1200" b="1" dirty="0">
                <a:solidFill>
                  <a:srgbClr val="2E6B2A"/>
                </a:solidFill>
                <a:latin typeface="Arial" pitchFamily="34" charset="0"/>
                <a:ea typeface="Arial" pitchFamily="34" charset="-122"/>
                <a:cs typeface="Arial" pitchFamily="34" charset="-120"/>
              </a:rPr>
              <a:t>caught</a:t>
            </a:r>
            <a:endParaRPr lang="en-US" sz="1200" dirty="0"/>
          </a:p>
        </p:txBody>
      </p:sp>
      <p:sp>
        <p:nvSpPr>
          <p:cNvPr id="18" name="Shape 16"/>
          <p:cNvSpPr/>
          <p:nvPr/>
        </p:nvSpPr>
        <p:spPr>
          <a:xfrm>
            <a:off x="640080" y="3483864"/>
            <a:ext cx="6858000" cy="530352"/>
          </a:xfrm>
          <a:prstGeom prst="rect">
            <a:avLst/>
          </a:prstGeom>
          <a:solidFill>
            <a:srgbClr val="FFFFFF"/>
          </a:solidFill>
          <a:ln w="6350">
            <a:solidFill>
              <a:srgbClr val="BFBFBF"/>
            </a:solidFill>
            <a:prstDash val="solid"/>
          </a:ln>
        </p:spPr>
      </p:sp>
      <p:sp>
        <p:nvSpPr>
          <p:cNvPr id="19" name="Text 17"/>
          <p:cNvSpPr/>
          <p:nvPr/>
        </p:nvSpPr>
        <p:spPr>
          <a:xfrm>
            <a:off x="777240" y="3511296"/>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E4   Value table shift</a:t>
            </a:r>
            <a:endParaRPr lang="en-US" sz="1250" dirty="0"/>
          </a:p>
        </p:txBody>
      </p:sp>
      <p:sp>
        <p:nvSpPr>
          <p:cNvPr id="20" name="Text 18"/>
          <p:cNvSpPr/>
          <p:nvPr/>
        </p:nvSpPr>
        <p:spPr>
          <a:xfrm>
            <a:off x="4480560" y="3511296"/>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missed</a:t>
            </a:r>
            <a:endParaRPr lang="en-US" sz="1200" dirty="0"/>
          </a:p>
        </p:txBody>
      </p:sp>
      <p:sp>
        <p:nvSpPr>
          <p:cNvPr id="21" name="Text 19"/>
          <p:cNvSpPr/>
          <p:nvPr/>
        </p:nvSpPr>
        <p:spPr>
          <a:xfrm>
            <a:off x="6035040" y="3511296"/>
            <a:ext cx="1463040" cy="475488"/>
          </a:xfrm>
          <a:prstGeom prst="rect">
            <a:avLst/>
          </a:prstGeom>
          <a:noFill/>
          <a:ln/>
        </p:spPr>
        <p:txBody>
          <a:bodyPr wrap="square" lIns="0" tIns="0" rIns="0" bIns="0" rtlCol="0" anchor="ctr"/>
          <a:lstStyle/>
          <a:p>
            <a:pPr algn="ctr" indent="0" marL="0">
              <a:buNone/>
            </a:pPr>
            <a:r>
              <a:rPr lang="en-US" sz="1200" b="1" dirty="0">
                <a:solidFill>
                  <a:srgbClr val="2E6B2A"/>
                </a:solidFill>
                <a:latin typeface="Arial" pitchFamily="34" charset="0"/>
                <a:ea typeface="Arial" pitchFamily="34" charset="-122"/>
                <a:cs typeface="Arial" pitchFamily="34" charset="-120"/>
              </a:rPr>
              <a:t>caught</a:t>
            </a:r>
            <a:endParaRPr lang="en-US" sz="1200" dirty="0"/>
          </a:p>
        </p:txBody>
      </p:sp>
      <p:sp>
        <p:nvSpPr>
          <p:cNvPr id="22" name="Shape 20"/>
          <p:cNvSpPr/>
          <p:nvPr/>
        </p:nvSpPr>
        <p:spPr>
          <a:xfrm>
            <a:off x="640080" y="4050792"/>
            <a:ext cx="6858000" cy="530352"/>
          </a:xfrm>
          <a:prstGeom prst="rect">
            <a:avLst/>
          </a:prstGeom>
          <a:solidFill>
            <a:srgbClr val="EFEFEF"/>
          </a:solidFill>
          <a:ln w="6350">
            <a:solidFill>
              <a:srgbClr val="BFBFBF"/>
            </a:solidFill>
            <a:prstDash val="solid"/>
          </a:ln>
        </p:spPr>
      </p:sp>
      <p:sp>
        <p:nvSpPr>
          <p:cNvPr id="23" name="Text 21"/>
          <p:cNvSpPr/>
          <p:nvPr/>
        </p:nvSpPr>
        <p:spPr>
          <a:xfrm>
            <a:off x="777240" y="4078224"/>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E5   MADS year</a:t>
            </a:r>
            <a:endParaRPr lang="en-US" sz="1250" dirty="0"/>
          </a:p>
        </p:txBody>
      </p:sp>
      <p:sp>
        <p:nvSpPr>
          <p:cNvPr id="24" name="Text 22"/>
          <p:cNvSpPr/>
          <p:nvPr/>
        </p:nvSpPr>
        <p:spPr>
          <a:xfrm>
            <a:off x="4480560" y="4078224"/>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missed</a:t>
            </a:r>
            <a:endParaRPr lang="en-US" sz="1200" dirty="0"/>
          </a:p>
        </p:txBody>
      </p:sp>
      <p:sp>
        <p:nvSpPr>
          <p:cNvPr id="25" name="Text 23"/>
          <p:cNvSpPr/>
          <p:nvPr/>
        </p:nvSpPr>
        <p:spPr>
          <a:xfrm>
            <a:off x="6035040" y="4078224"/>
            <a:ext cx="1463040" cy="475488"/>
          </a:xfrm>
          <a:prstGeom prst="rect">
            <a:avLst/>
          </a:prstGeom>
          <a:noFill/>
          <a:ln/>
        </p:spPr>
        <p:txBody>
          <a:bodyPr wrap="square" lIns="0" tIns="0" rIns="0" bIns="0" rtlCol="0" anchor="ctr"/>
          <a:lstStyle/>
          <a:p>
            <a:pPr algn="ctr" indent="0" marL="0">
              <a:buNone/>
            </a:pPr>
            <a:r>
              <a:rPr lang="en-US" sz="1200" b="1" dirty="0">
                <a:solidFill>
                  <a:srgbClr val="2E6B2A"/>
                </a:solidFill>
                <a:latin typeface="Arial" pitchFamily="34" charset="0"/>
                <a:ea typeface="Arial" pitchFamily="34" charset="-122"/>
                <a:cs typeface="Arial" pitchFamily="34" charset="-120"/>
              </a:rPr>
              <a:t>caught</a:t>
            </a:r>
            <a:endParaRPr lang="en-US" sz="1200" dirty="0"/>
          </a:p>
        </p:txBody>
      </p:sp>
      <p:sp>
        <p:nvSpPr>
          <p:cNvPr id="26" name="Shape 24"/>
          <p:cNvSpPr/>
          <p:nvPr/>
        </p:nvSpPr>
        <p:spPr>
          <a:xfrm>
            <a:off x="640080" y="4617720"/>
            <a:ext cx="6858000" cy="530352"/>
          </a:xfrm>
          <a:prstGeom prst="rect">
            <a:avLst/>
          </a:prstGeom>
          <a:solidFill>
            <a:srgbClr val="FFFFFF"/>
          </a:solidFill>
          <a:ln w="6350">
            <a:solidFill>
              <a:srgbClr val="BFBFBF"/>
            </a:solidFill>
            <a:prstDash val="solid"/>
          </a:ln>
        </p:spPr>
      </p:sp>
      <p:sp>
        <p:nvSpPr>
          <p:cNvPr id="27" name="Text 25"/>
          <p:cNvSpPr/>
          <p:nvPr/>
        </p:nvSpPr>
        <p:spPr>
          <a:xfrm>
            <a:off x="777240" y="4645152"/>
            <a:ext cx="3566160" cy="475488"/>
          </a:xfrm>
          <a:prstGeom prst="rect">
            <a:avLst/>
          </a:prstGeom>
          <a:noFill/>
          <a:ln/>
        </p:spPr>
        <p:txBody>
          <a:bodyPr wrap="square" lIns="0" tIns="0" rIns="0" bIns="0" rtlCol="0" anchor="ctr"/>
          <a:lstStyle/>
          <a:p>
            <a:pPr indent="0" marL="0">
              <a:buNone/>
            </a:pPr>
            <a:r>
              <a:rPr lang="en-US" sz="1250" b="1" dirty="0">
                <a:solidFill>
                  <a:srgbClr val="222222"/>
                </a:solidFill>
                <a:latin typeface="Arial" pitchFamily="34" charset="0"/>
                <a:ea typeface="Arial" pitchFamily="34" charset="-122"/>
                <a:cs typeface="Arial" pitchFamily="34" charset="-120"/>
              </a:rPr>
              <a:t>False alarms</a:t>
            </a:r>
            <a:endParaRPr lang="en-US" sz="1250" dirty="0"/>
          </a:p>
        </p:txBody>
      </p:sp>
      <p:sp>
        <p:nvSpPr>
          <p:cNvPr id="28" name="Text 26"/>
          <p:cNvSpPr/>
          <p:nvPr/>
        </p:nvSpPr>
        <p:spPr>
          <a:xfrm>
            <a:off x="4480560" y="4645152"/>
            <a:ext cx="1463040" cy="475488"/>
          </a:xfrm>
          <a:prstGeom prst="rect">
            <a:avLst/>
          </a:prstGeom>
          <a:noFill/>
          <a:ln/>
        </p:spPr>
        <p:txBody>
          <a:bodyPr wrap="square" lIns="0" tIns="0" rIns="0" bIns="0" rtlCol="0" anchor="ctr"/>
          <a:lstStyle/>
          <a:p>
            <a:pPr algn="ctr" indent="0" marL="0">
              <a:buNone/>
            </a:pPr>
            <a:r>
              <a:rPr lang="en-US" sz="1200" b="1" dirty="0">
                <a:solidFill>
                  <a:srgbClr val="C8102E"/>
                </a:solidFill>
                <a:latin typeface="Arial" pitchFamily="34" charset="0"/>
                <a:ea typeface="Arial" pitchFamily="34" charset="-122"/>
                <a:cs typeface="Arial" pitchFamily="34" charset="-120"/>
              </a:rPr>
              <a:t>4 per run</a:t>
            </a:r>
            <a:endParaRPr lang="en-US" sz="1200" dirty="0"/>
          </a:p>
        </p:txBody>
      </p:sp>
      <p:sp>
        <p:nvSpPr>
          <p:cNvPr id="29" name="Text 27"/>
          <p:cNvSpPr/>
          <p:nvPr/>
        </p:nvSpPr>
        <p:spPr>
          <a:xfrm>
            <a:off x="6035040" y="4645152"/>
            <a:ext cx="1463040" cy="475488"/>
          </a:xfrm>
          <a:prstGeom prst="rect">
            <a:avLst/>
          </a:prstGeom>
          <a:noFill/>
          <a:ln/>
        </p:spPr>
        <p:txBody>
          <a:bodyPr wrap="square" lIns="0" tIns="0" rIns="0" bIns="0" rtlCol="0" anchor="ctr"/>
          <a:lstStyle/>
          <a:p>
            <a:pPr algn="ctr" indent="0" marL="0">
              <a:buNone/>
            </a:pPr>
            <a:r>
              <a:rPr lang="en-US" sz="1200" b="1" dirty="0">
                <a:solidFill>
                  <a:srgbClr val="2E6B2A"/>
                </a:solidFill>
                <a:latin typeface="Arial" pitchFamily="34" charset="0"/>
                <a:ea typeface="Arial" pitchFamily="34" charset="-122"/>
                <a:cs typeface="Arial" pitchFamily="34" charset="-120"/>
              </a:rPr>
              <a:t>≈ 0–1</a:t>
            </a:r>
            <a:endParaRPr lang="en-US" sz="1200" dirty="0"/>
          </a:p>
        </p:txBody>
      </p:sp>
      <p:sp>
        <p:nvSpPr>
          <p:cNvPr id="30" name="Text 28"/>
          <p:cNvSpPr/>
          <p:nvPr/>
        </p:nvSpPr>
        <p:spPr>
          <a:xfrm>
            <a:off x="640080" y="5303520"/>
            <a:ext cx="6858000" cy="822960"/>
          </a:xfrm>
          <a:prstGeom prst="rect">
            <a:avLst/>
          </a:prstGeom>
          <a:noFill/>
          <a:ln/>
        </p:spPr>
        <p:txBody>
          <a:bodyPr wrap="square" lIns="0" tIns="0" rIns="0" bIns="0" rtlCol="0" anchor="ctr"/>
          <a:lstStyle/>
          <a:p>
            <a:pPr indent="0" marL="0">
              <a:buNone/>
            </a:pPr>
            <a:r>
              <a:rPr lang="en-US" sz="1250" b="1" dirty="0">
                <a:solidFill>
                  <a:srgbClr val="2E6B2A"/>
                </a:solidFill>
                <a:latin typeface="Arial" pitchFamily="34" charset="0"/>
                <a:ea typeface="Arial" pitchFamily="34" charset="-122"/>
                <a:cs typeface="Arial" pitchFamily="34" charset="-120"/>
              </a:rPr>
              <a:t>Bonus: </a:t>
            </a:r>
            <a:pPr indent="0" marL="0">
              <a:buNone/>
            </a:pPr>
            <a:r>
              <a:rPr lang="en-US" sz="1250" dirty="0">
                <a:solidFill>
                  <a:srgbClr val="333333"/>
                </a:solidFill>
                <a:latin typeface="Arial" pitchFamily="34" charset="0"/>
                <a:ea typeface="Arial" pitchFamily="34" charset="-122"/>
                <a:cs typeface="Arial" pitchFamily="34" charset="-120"/>
              </a:rPr>
              <a:t>the step-by-step method surfaced the MADS-year mismatch (2038 vs 2035) — an inconsistency that was not in the official review findings.</a:t>
            </a:r>
            <a:endParaRPr lang="en-US" sz="1250" dirty="0"/>
          </a:p>
        </p:txBody>
      </p:sp>
      <p:sp>
        <p:nvSpPr>
          <p:cNvPr id="31" name="Shape 29"/>
          <p:cNvSpPr/>
          <p:nvPr/>
        </p:nvSpPr>
        <p:spPr>
          <a:xfrm>
            <a:off x="7863840" y="1371600"/>
            <a:ext cx="3657600" cy="4023360"/>
          </a:xfrm>
          <a:prstGeom prst="rect">
            <a:avLst/>
          </a:prstGeom>
          <a:solidFill>
            <a:srgbClr val="FAFAFA"/>
          </a:solidFill>
          <a:ln w="12700">
            <a:solidFill>
              <a:srgbClr val="BFBFBF"/>
            </a:solidFill>
            <a:prstDash val="dash"/>
          </a:ln>
        </p:spPr>
      </p:sp>
      <p:sp>
        <p:nvSpPr>
          <p:cNvPr id="32" name="Text 30"/>
          <p:cNvSpPr/>
          <p:nvPr/>
        </p:nvSpPr>
        <p:spPr>
          <a:xfrm>
            <a:off x="8046720" y="3154680"/>
            <a:ext cx="3291840" cy="457200"/>
          </a:xfrm>
          <a:prstGeom prst="rect">
            <a:avLst/>
          </a:prstGeom>
          <a:noFill/>
          <a:ln/>
        </p:spPr>
        <p:txBody>
          <a:bodyPr wrap="square" lIns="0" tIns="0" rIns="0" bIns="0" rtlCol="0" anchor="ctr"/>
          <a:lstStyle/>
          <a:p>
            <a:pPr algn="ctr" indent="0" marL="0">
              <a:buNone/>
            </a:pPr>
            <a:r>
              <a:rPr lang="en-US" sz="1100" i="1" dirty="0">
                <a:solidFill>
                  <a:srgbClr val="808080"/>
                </a:solidFill>
                <a:latin typeface="Arial" pitchFamily="34" charset="0"/>
                <a:ea typeface="Arial" pitchFamily="34" charset="-122"/>
                <a:cs typeface="Arial" pitchFamily="34" charset="-120"/>
              </a:rPr>
              <a:t>[ screenshot: Method B final comparison output ]</a:t>
            </a:r>
            <a:endParaRPr lang="en-US" sz="1100" dirty="0"/>
          </a:p>
        </p:txBody>
      </p:sp>
      <p:sp>
        <p:nvSpPr>
          <p:cNvPr id="33" name="Text 31"/>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“Aren't these prompts too specific?”</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Fair question. Yes — this prompt set is carved for one class of files: district ratings built on the MUD RSR template.</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But that is exactly the value. Files of the same class share the same templates, so once the prompts are carved, every future file of this class can be checked the same way.</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The example is specific; the method is general: think about what the task actually is, split it into steps, give each step structure, and iterate on the instructions. That recipe carries to any document class.</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The trade-off: the more specific the prompts, the more the model can finish — and the more customization work it takes. A Method A style prompt won't get there on Spark AIR; each task needs some tailoring. Whether that tailoring is cost-efficient is a case-by-case call.</a:t>
            </a:r>
            <a:endParaRPr lang="en-US" sz="1500" dirty="0"/>
          </a:p>
          <a:p>
            <a:pPr marL="177800" indent="-177800">
              <a:spcAft>
                <a:spcPts val="1700"/>
              </a:spcAft>
              <a:buSzPct val="100000"/>
              <a:buChar char="–"/>
            </a:pPr>
            <a:r>
              <a:rPr lang="en-US" sz="1500" b="1" dirty="0">
                <a:solidFill>
                  <a:srgbClr val="333333"/>
                </a:solidFill>
                <a:latin typeface="Arial" pitchFamily="34" charset="0"/>
                <a:ea typeface="Arial" pitchFamily="34" charset="-122"/>
                <a:cs typeface="Arial" pitchFamily="34" charset="-120"/>
              </a:rPr>
              <a:t>Carve once, reuse many times.</a:t>
            </a:r>
            <a:endParaRPr lang="en-US" sz="15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Takeaways</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800"/>
              </a:spcAft>
              <a:buSzPct val="100000"/>
              <a:buChar char="–"/>
            </a:pPr>
            <a:r>
              <a:rPr lang="en-US" sz="1500" dirty="0">
                <a:solidFill>
                  <a:srgbClr val="333333"/>
                </a:solidFill>
                <a:latin typeface="Arial" pitchFamily="34" charset="0"/>
                <a:ea typeface="Arial" pitchFamily="34" charset="-122"/>
                <a:cs typeface="Arial" pitchFamily="34" charset="-120"/>
              </a:rPr>
              <a:t>Small models can do big jobs — as small steps. The same model went 10 for 10 on small targeted questions and 0 for 5 on the big vague ask. Decompose until every step sits inside the model's comfort zone: one document, one job, one checkable output.</a:t>
            </a:r>
            <a:endParaRPr lang="en-US" sz="1500" dirty="0"/>
          </a:p>
          <a:p>
            <a:pPr marL="177800" indent="-177800">
              <a:spcAft>
                <a:spcPts val="1800"/>
              </a:spcAft>
              <a:buSzPct val="100000"/>
              <a:buChar char="–"/>
            </a:pPr>
            <a:r>
              <a:rPr lang="en-US" sz="1500" dirty="0">
                <a:solidFill>
                  <a:srgbClr val="333333"/>
                </a:solidFill>
                <a:latin typeface="Arial" pitchFamily="34" charset="0"/>
                <a:ea typeface="Arial" pitchFamily="34" charset="-122"/>
                <a:cs typeface="Arial" pitchFamily="34" charset="-120"/>
              </a:rPr>
              <a:t>Reliability comes from process, not model size. Clear instructions, tidy formats, and a fixed procedure turned a 0-for-5 model into a 4.5-of-5 system — a dependable component for real internal use cases, without needing a larger model.</a:t>
            </a:r>
            <a:endParaRPr lang="en-US" sz="1500" dirty="0"/>
          </a:p>
          <a:p>
            <a:pPr marL="177800" indent="-177800">
              <a:spcAft>
                <a:spcPts val="1800"/>
              </a:spcAft>
              <a:buSzPct val="100000"/>
              <a:buChar char="–"/>
            </a:pPr>
            <a:r>
              <a:rPr lang="en-US" sz="1500" dirty="0">
                <a:solidFill>
                  <a:srgbClr val="333333"/>
                </a:solidFill>
                <a:latin typeface="Arial" pitchFamily="34" charset="0"/>
                <a:ea typeface="Arial" pitchFamily="34" charset="-122"/>
                <a:cs typeface="Arial" pitchFamily="34" charset="-120"/>
              </a:rPr>
              <a:t>The real win is diagnosability. In compliance work you must see where things fail. Step-by-step methods fail transparently; one-shots just answer wrong.</a:t>
            </a:r>
            <a:endParaRPr lang="en-US" sz="1500" dirty="0"/>
          </a:p>
        </p:txBody>
      </p:sp>
      <p:sp>
        <p:nvSpPr>
          <p:cNvPr id="4" name="Text 2"/>
          <p:cNvSpPr/>
          <p:nvPr/>
        </p:nvSpPr>
        <p:spPr>
          <a:xfrm>
            <a:off x="640080" y="5029200"/>
            <a:ext cx="10881360" cy="548640"/>
          </a:xfrm>
          <a:prstGeom prst="rect">
            <a:avLst/>
          </a:prstGeom>
          <a:noFill/>
          <a:ln/>
        </p:spPr>
        <p:txBody>
          <a:bodyPr wrap="square" lIns="0" tIns="0" rIns="0" bIns="0" rtlCol="0" anchor="ctr"/>
          <a:lstStyle/>
          <a:p>
            <a:pPr indent="0" marL="0">
              <a:buNone/>
            </a:pPr>
            <a:r>
              <a:rPr lang="en-US" sz="2000" b="1" i="1" dirty="0">
                <a:solidFill>
                  <a:srgbClr val="C8102E"/>
                </a:solidFill>
                <a:latin typeface="Arial" pitchFamily="34" charset="0"/>
                <a:ea typeface="Arial" pitchFamily="34" charset="-122"/>
                <a:cs typeface="Arial" pitchFamily="34" charset="-120"/>
              </a:rPr>
              <a:t>“We didn't make the model smarter. We changed the way we ask.”</a:t>
            </a:r>
            <a:endParaRPr lang="en-US" sz="2000" dirty="0"/>
          </a:p>
        </p:txBody>
      </p:sp>
      <p:sp>
        <p:nvSpPr>
          <p:cNvPr id="5" name="Text 3"/>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Thanks</a:t>
            </a:r>
            <a:endParaRPr lang="en-US" sz="2400" dirty="0"/>
          </a:p>
        </p:txBody>
      </p:sp>
      <p:sp>
        <p:nvSpPr>
          <p:cNvPr id="3" name="Text 1"/>
          <p:cNvSpPr/>
          <p:nvPr/>
        </p:nvSpPr>
        <p:spPr>
          <a:xfrm>
            <a:off x="640080" y="1280160"/>
            <a:ext cx="10881360" cy="2560320"/>
          </a:xfrm>
          <a:prstGeom prst="rect">
            <a:avLst/>
          </a:prstGeom>
          <a:noFill/>
          <a:ln/>
        </p:spPr>
        <p:txBody>
          <a:bodyPr wrap="square" lIns="0" tIns="0" rIns="0" bIns="0" rtlCol="0" anchor="t"/>
          <a:lstStyle/>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This experiment was inspired by the File Review AI project — the extract-then-check philosophy demonstrated today grew out of that squad's work on structuring review tasks for AI.</a:t>
            </a:r>
            <a:endParaRPr lang="en-US" sz="1500" dirty="0"/>
          </a:p>
          <a:p>
            <a:pPr marL="177800" indent="-177800">
              <a:spcAft>
                <a:spcPts val="1600"/>
              </a:spcAft>
              <a:buSzPct val="100000"/>
              <a:buChar char="–"/>
            </a:pPr>
            <a:r>
              <a:rPr lang="en-US" sz="1500" b="1" dirty="0">
                <a:solidFill>
                  <a:srgbClr val="333333"/>
                </a:solidFill>
                <a:latin typeface="Arial" pitchFamily="34" charset="0"/>
                <a:ea typeface="Arial" pitchFamily="34" charset="-122"/>
                <a:cs typeface="Arial" pitchFamily="34" charset="-120"/>
              </a:rPr>
              <a:t>Thank you to Jeff and the File Review AI squad.</a:t>
            </a:r>
            <a:endParaRPr lang="en-US" sz="1500" dirty="0"/>
          </a:p>
          <a:p>
            <a:pPr marL="177800" indent="-177800">
              <a:spcAft>
                <a:spcPts val="1600"/>
              </a:spcAft>
              <a:buSzPct val="100000"/>
              <a:buChar char="–"/>
            </a:pPr>
            <a:r>
              <a:rPr lang="en-US" sz="1500" dirty="0">
                <a:solidFill>
                  <a:srgbClr val="333333"/>
                </a:solidFill>
                <a:latin typeface="Arial" pitchFamily="34" charset="0"/>
                <a:ea typeface="Arial" pitchFamily="34" charset="-122"/>
                <a:cs typeface="Arial" pitchFamily="34" charset="-120"/>
              </a:rPr>
              <a:t>Demo materials and prompts available on request.</a:t>
            </a:r>
            <a:endParaRPr lang="en-US" sz="1500" dirty="0"/>
          </a:p>
        </p:txBody>
      </p:sp>
      <p:sp>
        <p:nvSpPr>
          <p:cNvPr id="4" name="Text 2"/>
          <p:cNvSpPr/>
          <p:nvPr/>
        </p:nvSpPr>
        <p:spPr>
          <a:xfrm>
            <a:off x="640080" y="4297680"/>
            <a:ext cx="10881360" cy="822960"/>
          </a:xfrm>
          <a:prstGeom prst="rect">
            <a:avLst/>
          </a:prstGeom>
          <a:noFill/>
          <a:ln/>
        </p:spPr>
        <p:txBody>
          <a:bodyPr wrap="square" lIns="0" tIns="0" rIns="0" bIns="0" rtlCol="0" anchor="ctr"/>
          <a:lstStyle/>
          <a:p>
            <a:pPr indent="0" marL="0">
              <a:buNone/>
            </a:pPr>
            <a:r>
              <a:rPr lang="en-US" sz="3600" b="1" dirty="0">
                <a:solidFill>
                  <a:srgbClr val="222222"/>
                </a:solidFill>
                <a:latin typeface="Arial" pitchFamily="34" charset="0"/>
                <a:ea typeface="Arial" pitchFamily="34" charset="-122"/>
                <a:cs typeface="Arial" pitchFamily="34" charset="-120"/>
              </a:rPr>
              <a:t>Questions?</a:t>
            </a:r>
            <a:endParaRPr lang="en-US" sz="3600" dirty="0"/>
          </a:p>
        </p:txBody>
      </p:sp>
      <p:sp>
        <p:nvSpPr>
          <p:cNvPr id="5" name="Text 3"/>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Method B, first version: Extract → Compare</a:t>
            </a:r>
            <a:endParaRPr lang="en-US" sz="2400" dirty="0"/>
          </a:p>
        </p:txBody>
      </p:sp>
      <p:sp>
        <p:nvSpPr>
          <p:cNvPr id="3" name="Text 1"/>
          <p:cNvSpPr/>
          <p:nvPr/>
        </p:nvSpPr>
        <p:spPr>
          <a:xfrm>
            <a:off x="640080" y="1280160"/>
            <a:ext cx="7010400" cy="4389120"/>
          </a:xfrm>
          <a:prstGeom prst="rect">
            <a:avLst/>
          </a:prstGeom>
          <a:noFill/>
          <a:ln/>
        </p:spPr>
        <p:txBody>
          <a:bodyPr wrap="square" lIns="0" tIns="0" rIns="0" bIns="0" rtlCol="0" anchor="t"/>
          <a:lstStyle/>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Step 1 — Extract, one document at a time: “Convert the document’s data into one structured table: Section | Metric | Year | Value | Unit | Characterization. Copy values exactly as written; do NOT convert units. If a cell is blank, write BLANK. Do not guess.”</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Step 2 — Compare the extractions: “Compare EVERY piece of information that appears in more than one extraction… normalize units before comparing… different characterizations for the same metric ARE a disagreement, even when the numbers match.”</a:t>
            </a:r>
            <a:endParaRPr lang="en-US" sz="1500" dirty="0"/>
          </a:p>
          <a:p>
            <a:pPr marL="177800" indent="-177800">
              <a:spcAft>
                <a:spcPts val="1700"/>
              </a:spcAft>
              <a:buSzPct val="100000"/>
              <a:buChar char="–"/>
            </a:pPr>
            <a:r>
              <a:rPr lang="en-US" sz="1500" b="1" dirty="0">
                <a:solidFill>
                  <a:srgbClr val="333333"/>
                </a:solidFill>
                <a:latin typeface="Arial" pitchFamily="34" charset="0"/>
                <a:ea typeface="Arial" pitchFamily="34" charset="-122"/>
                <a:cs typeface="Arial" pitchFamily="34" charset="-120"/>
              </a:rPr>
              <a:t>Result: 2 of 5 errors caught (E3, E4) — and ~5 false alarms. E1/E2 missed.</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Diagnosis — we read the intermediate tables: in the MUD RSR spreadsheet the characterizations sit in merged cells, so each label landed on one arbitrary year row, and the year-by-year comparison never saw the contradiction.</a:t>
            </a:r>
            <a:endParaRPr lang="en-US" sz="1500" dirty="0"/>
          </a:p>
        </p:txBody>
      </p:sp>
      <p:sp>
        <p:nvSpPr>
          <p:cNvPr id="20" name="ShotBox"/>
          <p:cNvSpPr/>
          <p:nvPr/>
        </p:nvSpPr>
        <p:spPr>
          <a:xfrm>
            <a:off x="7955280" y="1325880"/>
            <a:ext cx="3566160" cy="4206240"/>
          </a:xfrm>
          <a:prstGeom prst="rect">
            <a:avLst/>
          </a:prstGeom>
          <a:solidFill>
            <a:srgbClr val="FAFAFA"/>
          </a:solidFill>
          <a:ln w="12700">
            <a:solidFill>
              <a:srgbClr val="BFBFBF"/>
            </a:solidFill>
            <a:prstDash val="dash"/>
          </a:ln>
        </p:spPr>
      </p:sp>
      <p:sp>
        <p:nvSpPr>
          <p:cNvPr id="21" name="ShotLabel"/>
          <p:cNvSpPr/>
          <p:nvPr/>
        </p:nvSpPr>
        <p:spPr>
          <a:xfrm>
            <a:off x="8138160" y="3200400"/>
            <a:ext cx="3200400" cy="457200"/>
          </a:xfrm>
          <a:prstGeom prst="rect">
            <a:avLst/>
          </a:prstGeom>
          <a:noFill/>
          <a:ln/>
        </p:spPr>
        <p:txBody>
          <a:bodyPr wrap="square" lIns="0" tIns="0" rIns="0" bIns="0" rtlCol="0" anchor="ctr"/>
          <a:lstStyle/>
          <a:p>
            <a:pPr algn="ctr" indent="0" marL="0">
              <a:buNone/>
            </a:pPr>
            <a:r>
              <a:rPr lang="en-US" sz="1100" i="1" dirty="0">
                <a:solidFill>
                  <a:srgbClr val="808080"/>
                </a:solidFill>
                <a:latin typeface="Arial" pitchFamily="34" charset="0"/>
                <a:ea typeface="Arial" pitchFamily="34" charset="-122"/>
                <a:cs typeface="Arial" pitchFamily="34" charset="-120"/>
              </a:rPr>
              <a:t>[ screenshot: 1st-version Step 1 extraction — the characterization appears on only ONE year row ]</a:t>
            </a:r>
            <a:endParaRPr lang="en-US" sz="11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320040"/>
            <a:ext cx="10908792" cy="502920"/>
          </a:xfrm>
          <a:prstGeom prst="rect">
            <a:avLst/>
          </a:prstGeom>
          <a:noFill/>
          <a:ln/>
        </p:spPr>
        <p:txBody>
          <a:bodyPr wrap="square" lIns="0" tIns="0" rIns="0" bIns="0" rtlCol="0" anchor="ctr"/>
          <a:lstStyle/>
          <a:p>
            <a:pPr indent="0" marL="0">
              <a:buNone/>
            </a:pPr>
            <a:r>
              <a:rPr lang="en-US" sz="2400" b="1" dirty="0">
                <a:solidFill>
                  <a:srgbClr val="222222"/>
                </a:solidFill>
                <a:latin typeface="Arial" pitchFamily="34" charset="0"/>
                <a:ea typeface="Arial" pitchFamily="34" charset="-122"/>
                <a:cs typeface="Arial" pitchFamily="34" charset="-120"/>
              </a:rPr>
              <a:t>Second version: better extraction rules</a:t>
            </a:r>
            <a:endParaRPr lang="en-US" sz="2400" dirty="0"/>
          </a:p>
        </p:txBody>
      </p:sp>
      <p:sp>
        <p:nvSpPr>
          <p:cNvPr id="3" name="Text 1"/>
          <p:cNvSpPr/>
          <p:nvPr/>
        </p:nvSpPr>
        <p:spPr>
          <a:xfrm>
            <a:off x="640080" y="1280160"/>
            <a:ext cx="10881360" cy="4389120"/>
          </a:xfrm>
          <a:prstGeom prst="rect">
            <a:avLst/>
          </a:prstGeom>
          <a:noFill/>
          <a:ln/>
        </p:spPr>
        <p:txBody>
          <a:bodyPr wrap="square" lIns="0" tIns="0" rIns="0" bIns="0" rtlCol="0" anchor="t"/>
          <a:lstStyle/>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The fix — one added general rule: “Characterizations belong to the METRIC as a whole: repeat them on EVERY year row.” Plus two more: a decimal like 0.25 for a % metric = 25%, and compare years and dates inside footnotes too.</a:t>
            </a:r>
            <a:endParaRPr lang="en-US" sz="1500" dirty="0"/>
          </a:p>
          <a:p>
            <a:pPr marL="177800" indent="-177800">
              <a:spcAft>
                <a:spcPts val="1700"/>
              </a:spcAft>
              <a:buSzPct val="100000"/>
              <a:buChar char="–"/>
            </a:pPr>
            <a:r>
              <a:rPr lang="en-US" sz="1500" b="1" dirty="0">
                <a:solidFill>
                  <a:srgbClr val="333333"/>
                </a:solidFill>
                <a:latin typeface="Arial" pitchFamily="34" charset="0"/>
                <a:ea typeface="Arial" pitchFamily="34" charset="-122"/>
                <a:cs typeface="Arial" pitchFamily="34" charset="-120"/>
              </a:rPr>
              <a:t>Result: 3 of 5 (E3, E4, and now E5 — the footnote year). Still ~4 false alarms; E1/E2 still missed.</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Diagnosis: the compare step was doing two jobs at once — converting units AND comparing. It even computed the ×10 relationship correctly, and then still flagged the pair as inconsistent. Too much for one prompt.</a:t>
            </a:r>
            <a:endParaRPr lang="en-US" sz="1500" dirty="0"/>
          </a:p>
          <a:p>
            <a:pPr marL="177800" indent="-177800">
              <a:spcAft>
                <a:spcPts val="1700"/>
              </a:spcAft>
              <a:buSzPct val="100000"/>
              <a:buChar char="–"/>
            </a:pPr>
            <a:r>
              <a:rPr lang="en-US" sz="1500" dirty="0">
                <a:solidFill>
                  <a:srgbClr val="333333"/>
                </a:solidFill>
                <a:latin typeface="Arial" pitchFamily="34" charset="0"/>
                <a:ea typeface="Arial" pitchFamily="34" charset="-122"/>
                <a:cs typeface="Arial" pitchFamily="34" charset="-120"/>
              </a:rPr>
              <a:t>The fix: give normalization its own prompt — that is the final version.</a:t>
            </a:r>
            <a:endParaRPr lang="en-US" sz="1500" dirty="0"/>
          </a:p>
        </p:txBody>
      </p:sp>
      <p:sp>
        <p:nvSpPr>
          <p:cNvPr id="4" name="Text 2"/>
          <p:cNvSpPr/>
          <p:nvPr/>
        </p:nvSpPr>
        <p:spPr>
          <a:xfrm>
            <a:off x="11430000" y="6492240"/>
            <a:ext cx="365760" cy="274320"/>
          </a:xfrm>
          <a:prstGeom prst="rect">
            <a:avLst/>
          </a:prstGeom>
          <a:noFill/>
          <a:ln/>
        </p:spPr>
        <p:txBody>
          <a:bodyPr wrap="square" lIns="0" tIns="0" rIns="0" bIns="0" rtlCol="0" anchor="ctr"/>
          <a:lstStyle/>
          <a:p>
            <a:pPr algn="r" indent="0" marL="0">
              <a:buNone/>
            </a:pPr>
            <a:r>
              <a:rPr lang="en-US" sz="900" dirty="0">
                <a:solidFill>
                  <a:srgbClr val="808080"/>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2026-08-03T17:25:52Z</dcterms:created>
  <dcterms:modified xsi:type="dcterms:W3CDTF">2026-08-03T17:25:52Z</dcterms:modified>
</cp:coreProperties>
</file>