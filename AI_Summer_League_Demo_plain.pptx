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8.xml" ContentType="application/vnd.openxmlformats-officedocument.presentationml.slide+xml"/>
  <Override PartName="/ppt/slides/slide19.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9" r:id="rId5"/>
    <p:sldId id="260" r:id="rId6"/>
    <p:sldId id="261" r:id="rId7"/>
    <p:sldId id="262" r:id="rId8"/>
    <p:sldId id="263" r:id="rId9"/>
    <p:sldId id="264" r:id="rId10"/>
    <p:sldId id="265" r:id="rId11"/>
    <p:sldId id="273" r:id="rId24"/>
    <p:sldId id="274" r:id="rId25"/>
    <p:sldId id="266" r:id="rId12"/>
    <p:sldId id="267" r:id="rId13"/>
    <p:sldId id="268" r:id="rId14"/>
    <p:sldId id="269" r:id="rId15"/>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  <Relationship Id="rId24" Type="http://schemas.openxmlformats.org/officeDocument/2006/relationships/slide" Target="slides/slide18.xml"/>
  <Relationship Id="rId25" Type="http://schemas.openxmlformats.org/officeDocument/2006/relationships/slide" Target="slides/slide19.xml"/>
</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Real errors caught (of 5)</c:v>
                </c:pt>
              </c:strCache>
            </c:strRef>
          </c:tx>
          <c:spPr>
            <a:solidFill>
              <a:srgbClr val="0F7FA6"/>
            </a:solidFill>
            <a:effectLst/>
          </c:spPr>
          <c:invertIfNegative val="0"/>
          <c:dLbls>
            <c:numFmt formatCode="#,##0" sourceLinked="0"/>
            <c:txPr>
              <a:bodyPr/>
              <a:lstStyle/>
              <a:p>
                <a:pPr>
                  <a:defRPr b="0" i="0" strike="noStrike" sz="950" u="none">
                    <a:solidFill>
                      <a:srgbClr val="333333"/>
                    </a:solidFill>
                    <a:latin typeface="Arial"/>
                  </a:defRPr>
                </a:pPr>
              </a:p>
            </c:txPr>
            <c:showLegendKey val="0"/>
            <c:showVal val="1"/>
            <c:showCatName val="0"/>
            <c:showSerName val="0"/>
            <c:showPercent val="0"/>
            <c:showBubbleSize val="0"/>
            <c:showLeaderLines val="0"/>
          </c:dLbls>
          <c:cat>
            <c:multiLvlStrRef>
              <c:f>Sheet1!$A$2:$A$5</c:f>
              <c:multiLvlStrCache>
                <c:ptCount val="4"/>
                <c:lvl>
                  <c:pt idx="0">
                    <c:v>Method A
(best of 3)</c:v>
                  </c:pt>
                  <c:pt idx="1">
                    <c:v>Method B
1st version</c:v>
                  </c:pt>
                  <c:pt idx="2">
                    <c:v>Method B
2nd version</c:v>
                  </c:pt>
                  <c:pt idx="3">
                    <c:v>Method B
final</c:v>
                  </c:pt>
                </c:lvl>
              </c:multiLvlStrCache>
            </c:multiLvlStrRef>
          </c:cat>
          <c:val>
            <c:numRef>
              <c:f>Sheet1!$B$2:$B$5</c:f>
              <c:numCache>
                <c:formatCode>General</c:formatCode>
                <c:ptCount val="4"/>
                <c:pt idx="0">
                  <c:v>0</c:v>
                </c:pt>
                <c:pt idx="1">
                  <c:v>2</c:v>
                </c:pt>
                <c:pt idx="2">
                  <c:v>3</c:v>
                </c:pt>
                <c:pt idx="3">
                  <c:v>4</c:v>
                </c:pt>
              </c:numCache>
            </c:numRef>
          </c:val>
        </c:ser>
        <c:ser>
          <c:idx val="1"/>
          <c:order val="1"/>
          <c:tx>
            <c:strRef>
              <c:f>Sheet1!$C$1</c:f>
              <c:strCache>
                <c:ptCount val="1"/>
                <c:pt idx="0">
                  <c:v>False alarms</c:v>
                </c:pt>
              </c:strCache>
            </c:strRef>
          </c:tx>
          <c:spPr>
            <a:solidFill>
              <a:srgbClr val="C8102E"/>
            </a:solidFill>
            <a:effectLst/>
          </c:spPr>
          <c:invertIfNegative val="0"/>
          <c:dLbls>
            <c:numFmt formatCode="#,##0" sourceLinked="0"/>
            <c:txPr>
              <a:bodyPr/>
              <a:lstStyle/>
              <a:p>
                <a:pPr>
                  <a:defRPr b="0" i="0" strike="noStrike" sz="950" u="none">
                    <a:solidFill>
                      <a:srgbClr val="333333"/>
                    </a:solidFill>
                    <a:latin typeface="Arial"/>
                  </a:defRPr>
                </a:pPr>
              </a:p>
            </c:txPr>
            <c:showLegendKey val="0"/>
            <c:showVal val="1"/>
            <c:showCatName val="0"/>
            <c:showSerName val="0"/>
            <c:showPercent val="0"/>
            <c:showBubbleSize val="0"/>
            <c:showLeaderLines val="0"/>
          </c:dLbls>
          <c:cat>
            <c:multiLvlStrRef>
              <c:f>Sheet1!$A$2:$A$5</c:f>
              <c:multiLvlStrCache>
                <c:ptCount val="4"/>
                <c:lvl>
                  <c:pt idx="0">
                    <c:v>Method A
(best of 3)</c:v>
                  </c:pt>
                  <c:pt idx="1">
                    <c:v>Method B
1st version</c:v>
                  </c:pt>
                  <c:pt idx="2">
                    <c:v>Method B
2nd version</c:v>
                  </c:pt>
                  <c:pt idx="3">
                    <c:v>Method B
final</c:v>
                  </c:pt>
                </c:lvl>
              </c:multiLvlStrCache>
            </c:multiLvlStrRef>
          </c:cat>
          <c:val>
            <c:numRef>
              <c:f>Sheet1!$C$2:$C$5</c:f>
              <c:numCache>
                <c:formatCode>General</c:formatCode>
                <c:ptCount val="4"/>
                <c:pt idx="0">
                  <c:v>4</c:v>
                </c:pt>
                <c:pt idx="1">
                  <c:v>5</c:v>
                </c:pt>
                <c:pt idx="2">
                  <c:v>4</c:v>
                </c:pt>
                <c:pt idx="3">
                  <c:v>1</c:v>
                </c:pt>
              </c:numCache>
            </c:numRef>
          </c:val>
        </c:ser>
        <c:dLbls>
          <c:numFmt formatCode="#,##0" sourceLinked="0"/>
          <c:txPr>
            <a:bodyPr/>
            <a:lstStyle/>
            <a:p>
              <a:pPr>
                <a:defRPr b="0" i="0" strike="noStrike" sz="950" u="none">
                  <a:solidFill>
                    <a:srgbClr val="333333"/>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333333"/>
                </a:solidFill>
                <a:latin typeface="Arial"/>
              </a:defRPr>
            </a:pPr>
            <a:endParaRPr lang="en-US"/>
          </a:p>
        </c:txPr>
        <c:crossAx val="2094734552"/>
        <c:crosses val="autoZero"/>
        <c:auto val="1"/>
        <c:lblAlgn val="ctr"/>
        <c:noMultiLvlLbl val="1"/>
      </c:catAx>
      <c:valAx>
        <c:axId val="2094734552"/>
        <c:scaling>
          <c:orientation val="minMax"/>
          <c:max val="5"/>
        </c:scaling>
        <c:delete val="0"/>
        <c:axPos val="l"/>
        <c:majorGridlines>
          <c:spPr>
            <a:ln w="9525" cap="flat">
              <a:solidFill>
                <a:srgbClr val="E0E0E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50" b="0" i="0" u="none" strike="noStrike">
                <a:solidFill>
                  <a:srgbClr val="808080"/>
                </a:solidFill>
                <a:latin typeface="Arial"/>
              </a:defRPr>
            </a:pPr>
            <a:endParaRPr lang="en-US"/>
          </a:p>
        </c:txPr>
        <c:crossAx val="2094734554"/>
        <c:crosses val="autoZero"/>
        <c:crossBetween val="between"/>
        <c:majorUnit val="1"/>
      </c:valAx>
      <c:spPr>
        <a:noFill/>
        <a:ln>
          <a:noFill/>
        </a:ln>
        <a:effectLst/>
      </c:spPr>
    </c:plotArea>
    <c:legend>
      <c:legendPos val="b"/>
      <c:overlay val="0"/>
      <c:txPr>
        <a:bodyPr/>
        <a:lstStyle/>
        <a:p>
          <a:pPr>
            <a:defRPr sz="1000">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Today: a hands-on experiment with Spark AIR on a real file review task. The punchline: how you structure the task matters more than how smart the model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also carries the file-review explanation (merged from old slide 3): the file behind every rating, independent re-check, internal record vs published article must agree. Then the tool (Spark AIR, gemma4) and the experiment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Anonymized district (name withheld on all slides/screenshots): 2025 refunding, BBB+. Four documents. The quality review already found real inconsistencies, so we have an answer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E1/E2 presented as pure characterization contradictions — no unit talk here; the mills vs $/100 explanation is deliberately saved for the Method A false-alarm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more: maturity typo, shifted value table, and the MADS year mismatch — which the official review didn't even log; remember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this message is NOT deliberately bad. We ran it three times to check consistency.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Zero of five across three runs, ~4 false positives each, runs disagree. Explain the unit convention HERE (mills vs $ per $100, factor of 10): the flagged pair is the same number — false alarm — while the real E1/E2 contradiction next to it goes unmentioned.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designing Method B we probed the model: 10/10 tiny targeted questions correct, sub-second. Capability isn't the bottleneck — task structure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pivot of the talk: the decomposition is not an AI trick — it comes from writing down what the review work actually is. The intern analogy is the key message.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three excerpts briefly. Point out the style: forbid guessing, forbid converting during extraction, define 'same' and 'disagreement' explicitly. And stress fairness: no answer knowledge in any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Wrap-up of the iteration story (details now on the v2/v3 slides): chart shows 0/5 to 4.5/5; stress that only instructions changed and diagnosability is the difference vs one-shot.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model, same documents. Only the task structure changed. Plus one finding the official review didn't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Pre-empt the obvious pushback. The prompts are class-specific by design — that's amortized effort, not over-fitting. The recipe itself is general. Then name the trade-off: specificity buys capability but costs customization; whether tailoring is cost-efficient is case by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takeaways, then the one-liner. Pause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Credit the File Review AI project as the inspiration; thank Jeff and the squad.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920240"/>
            <a:ext cx="10881360" cy="822960"/>
          </a:xfrm>
          <a:prstGeom prst="rect">
            <a:avLst/>
          </a:prstGeom>
          <a:noFill/>
          <a:ln/>
        </p:spPr>
        <p:txBody>
          <a:bodyPr wrap="square" lIns="0" tIns="0" rIns="0" bIns="0" rtlCol="0" anchor="ctr"/>
          <a:lstStyle/>
          <a:p>
            <a:pPr indent="0" marL="0">
              <a:buNone/>
            </a:pPr>
            <a:r>
              <a:rPr lang="en-US" sz="4000" b="1" dirty="0">
                <a:solidFill>
                  <a:srgbClr val="222222"/>
                </a:solidFill>
                <a:latin typeface="Arial" pitchFamily="34" charset="0"/>
                <a:ea typeface="Arial" pitchFamily="34" charset="-122"/>
                <a:cs typeface="Arial" pitchFamily="34" charset="-120"/>
              </a:rPr>
              <a:t>Small model, big task</a:t>
            </a:r>
            <a:endParaRPr lang="en-US" sz="4000" dirty="0"/>
          </a:p>
        </p:txBody>
      </p:sp>
      <p:sp>
        <p:nvSpPr>
          <p:cNvPr id="3" name="Text 1"/>
          <p:cNvSpPr/>
          <p:nvPr/>
        </p:nvSpPr>
        <p:spPr>
          <a:xfrm>
            <a:off x="640080" y="2834640"/>
            <a:ext cx="10515600" cy="868680"/>
          </a:xfrm>
          <a:prstGeom prst="rect">
            <a:avLst/>
          </a:prstGeom>
          <a:noFill/>
          <a:ln/>
        </p:spPr>
        <p:txBody>
          <a:bodyPr wrap="square" lIns="0" tIns="0" rIns="0" bIns="0" rtlCol="0" anchor="ctr"/>
          <a:lstStyle/>
          <a:p>
            <a:pPr indent="0" marL="0">
              <a:buNone/>
            </a:pPr>
            <a:r>
              <a:rPr lang="en-US" sz="1800" dirty="0">
                <a:solidFill>
                  <a:srgbClr val="333333"/>
                </a:solidFill>
                <a:latin typeface="Arial" pitchFamily="34" charset="0"/>
                <a:ea typeface="Arial" pitchFamily="34" charset="-122"/>
                <a:cs typeface="Arial" pitchFamily="34" charset="-120"/>
              </a:rPr>
              <a:t>Chain-of-Thought Context Engineering on Spark AIR:</a:t>
            </a:r>
            <a:endParaRPr lang="en-US" sz="1800" dirty="0"/>
          </a:p>
          <a:p>
            <a:pPr indent="0" marL="0">
              <a:buNone/>
            </a:pPr>
            <a:r>
              <a:rPr lang="en-US" sz="1800" dirty="0">
                <a:solidFill>
                  <a:srgbClr val="333333"/>
                </a:solidFill>
                <a:latin typeface="Arial" pitchFamily="34" charset="0"/>
                <a:ea typeface="Arial" pitchFamily="34" charset="-122"/>
                <a:cs typeface="Arial" pitchFamily="34" charset="-120"/>
              </a:rPr>
              <a:t>building complex workflows from simple prompts — an experiment on a real rating file</a:t>
            </a:r>
            <a:endParaRPr lang="en-US" sz="1800" dirty="0"/>
          </a:p>
        </p:txBody>
      </p:sp>
      <p:sp>
        <p:nvSpPr>
          <p:cNvPr id="4" name="Text 2"/>
          <p:cNvSpPr/>
          <p:nvPr/>
        </p:nvSpPr>
        <p:spPr>
          <a:xfrm>
            <a:off x="640080" y="5120640"/>
            <a:ext cx="7315200" cy="640080"/>
          </a:xfrm>
          <a:prstGeom prst="rect">
            <a:avLst/>
          </a:prstGeom>
          <a:noFill/>
          <a:ln/>
        </p:spPr>
        <p:txBody>
          <a:bodyPr wrap="square" lIns="0" tIns="0" rIns="0" bIns="0" rtlCol="0" anchor="ctr"/>
          <a:lstStyle/>
          <a:p>
            <a:pPr indent="0" marL="0">
              <a:buNone/>
            </a:pPr>
            <a:r>
              <a:rPr lang="en-US" sz="1400" dirty="0">
                <a:solidFill>
                  <a:srgbClr val="333333"/>
                </a:solidFill>
                <a:latin typeface="Arial" pitchFamily="34" charset="0"/>
                <a:ea typeface="Arial" pitchFamily="34" charset="-122"/>
                <a:cs typeface="Arial" pitchFamily="34" charset="-120"/>
              </a:rPr>
              <a:t>Lun Du — AQV Review &amp; Validation</a:t>
            </a:r>
            <a:endParaRPr lang="en-US" sz="1400" dirty="0"/>
          </a:p>
          <a:p>
            <a:pPr indent="0" marL="0">
              <a:buNone/>
            </a:pPr>
            <a:r>
              <a:rPr lang="en-US" sz="1400" dirty="0">
                <a:solidFill>
                  <a:srgbClr val="333333"/>
                </a:solidFill>
                <a:latin typeface="Arial" pitchFamily="34" charset="0"/>
                <a:ea typeface="Arial" pitchFamily="34" charset="-122"/>
                <a:cs typeface="Arial" pitchFamily="34" charset="-120"/>
              </a:rPr>
              <a:t>AI Summer League, August 6,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0040"/>
            <a:ext cx="10908792" cy="502920"/>
          </a:xfrm>
          <a:prstGeom prst="rect">
            <a:avLst/>
          </a:prstGeom>
          <a:noFill/>
          <a:ln/>
        </p:spPr>
        <p:txBody>
          <a:bodyPr wrap="square" lIns="0" tIns="0" rIns="0" bIns="0" rtlCol="0" anchor="ctr"/>
          <a:lstStyle/>
          <a:p>
            <a:pPr indent="0" marL="0">
              <a:buNone/>
            </a:pPr>
            <a:r>
              <a:rPr lang="en-US" sz="2400" b="1" dirty="0">
                <a:solidFill>
                  <a:srgbClr val="222222"/>
                </a:solidFill>
                <a:latin typeface="Arial" pitchFamily="34" charset="0"/>
                <a:ea typeface="Arial" pitchFamily="34" charset="-122"/>
                <a:cs typeface="Arial" pitchFamily="34" charset="-120"/>
              </a:rPr>
              <a:t>The task, and the tool</a:t>
            </a:r>
            <a:endParaRPr lang="en-US" sz="2400" dirty="0"/>
          </a:p>
        </p:txBody>
      </p:sp>
      <p:sp>
        <p:nvSpPr>
          <p:cNvPr id="3" name="Text 1"/>
          <p:cNvSpPr/>
          <p:nvPr/>
        </p:nvSpPr>
        <p:spPr>
          <a:xfrm>
            <a:off x="640080" y="1280160"/>
            <a:ext cx="10881360" cy="4389120"/>
          </a:xfrm>
          <a:prstGeom prst="rect">
            <a:avLst/>
          </a:prstGeom>
          <a:noFill/>
          <a:ln/>
        </p:spPr>
        <p:txBody>
          <a:bodyPr wrap="square" lIns="0" tIns="0" rIns="0" bIns="0" rtlCol="0" anchor="t"/>
          <a:lstStyle/>
          <a:p>
            <a:pPr marL="177800" indent="-177800">
              <a:spcAft>
                <a:spcPts val="1600"/>
              </a:spcAft>
              <a:buSzPct val="100000"/>
              <a:buChar char="–"/>
            </a:pPr>
            <a:r>
              <a:rPr lang="en-US" sz="1500" dirty="0">
                <a:solidFill>
                  <a:srgbClr val="333333"/>
                </a:solidFill>
                <a:latin typeface="Arial" pitchFamily="34" charset="0"/>
                <a:ea typeface="Arial" pitchFamily="34" charset="-122"/>
                <a:cs typeface="Arial" pitchFamily="34" charset="-120"/>
              </a:rPr>
              <a:t>The task — file review: every published rating has a file behind it (internal record, model outputs, published article). An independent AQV re-check: criteria applied correctly, records complete, internal record vs publication consistent.</a:t>
            </a:r>
            <a:endParaRPr lang="en-US" sz="1500" dirty="0"/>
          </a:p>
          <a:p>
            <a:pPr marL="177800" indent="-177800">
              <a:spcAft>
                <a:spcPts val="1600"/>
              </a:spcAft>
              <a:buSzPct val="100000"/>
              <a:buChar char="–"/>
            </a:pPr>
            <a:r>
              <a:rPr lang="en-US" sz="1500" dirty="0">
                <a:solidFill>
                  <a:srgbClr val="333333"/>
                </a:solidFill>
                <a:latin typeface="Arial" pitchFamily="34" charset="0"/>
                <a:ea typeface="Arial" pitchFamily="34" charset="-122"/>
                <a:cs typeface="Arial" pitchFamily="34" charset="-120"/>
              </a:rPr>
              <a:t>The tool — Spark AIR: internal AI platform, gemma4-26B-A4B-it running locally. Fast, but a small model — struggles with multi-step requests in a single prompt.</a:t>
            </a:r>
            <a:endParaRPr lang="en-US" sz="1500" dirty="0"/>
          </a:p>
          <a:p>
            <a:pPr marL="177800" indent="-177800">
              <a:spcAft>
                <a:spcPts val="1600"/>
              </a:spcAft>
              <a:buSzPct val="100000"/>
              <a:buChar char="–"/>
            </a:pPr>
            <a:r>
              <a:rPr lang="en-US" sz="1500" b="1" dirty="0">
                <a:solidFill>
                  <a:srgbClr val="333333"/>
                </a:solidFill>
                <a:latin typeface="Arial" pitchFamily="34" charset="0"/>
                <a:ea typeface="Arial" pitchFamily="34" charset="-122"/>
                <a:cs typeface="Arial" pitchFamily="34" charset="-120"/>
              </a:rPr>
              <a:t>The question for this experiment: how do we structure the task so a small model succeeds?</a:t>
            </a:r>
            <a:endParaRPr lang="en-US" sz="1500" dirty="0"/>
          </a:p>
        </p:txBody>
      </p:sp>
      <p:sp>
        <p:nvSpPr>
          <p:cNvPr id="4" name="Text 2"/>
          <p:cNvSpPr/>
          <p:nvPr/>
        </p:nvSpPr>
        <p:spPr>
          <a:xfrm>
            <a:off x="11430000" y="6492240"/>
            <a:ext cx="365760" cy="274320"/>
          </a:xfrm>
          <a:prstGeom prst="rect">
            <a:avLst/>
          </a:prstGeom>
          <a:noFill/>
          <a:ln/>
        </p:spPr>
        <p:txBody>
          <a:bodyPr wrap="square" lIns="0" tIns="0" rIns="0" bIns="0" rtlCol="0" anchor="ctr"/>
          <a:lstStyle/>
          <a:p>
            <a:pPr algn="r" indent="0" marL="0">
              <a:buNone/>
            </a:pPr>
            <a:r>
              <a:rPr lang="en-US" sz="900" dirty="0">
                <a:solidFill>
                  <a:srgbClr val="808080"/>
                </a:solidFill>
                <a:latin typeface="Arial" pitchFamily="34" charset="0"/>
                <a:ea typeface="Arial" pitchFamily="34" charset="-122"/>
                <a:cs typeface="Arial" pitchFamily="34" charset="-120"/>
              </a:rPr>
              <a:t>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0040"/>
            <a:ext cx="10908792" cy="502920"/>
          </a:xfrm>
          <a:prstGeom prst="rect">
            <a:avLst/>
          </a:prstGeom>
          <a:noFill/>
          <a:ln/>
        </p:spPr>
        <p:txBody>
          <a:bodyPr wrap="square" lIns="0" tIns="0" rIns="0" bIns="0" rtlCol="0" anchor="ctr"/>
          <a:lstStyle/>
          <a:p>
            <a:pPr indent="0" marL="0">
              <a:buNone/>
            </a:pPr>
            <a:r>
              <a:rPr lang="en-US" sz="2400" b="1" dirty="0">
                <a:solidFill>
                  <a:srgbClr val="222222"/>
                </a:solidFill>
                <a:latin typeface="Arial" pitchFamily="34" charset="0"/>
                <a:ea typeface="Arial" pitchFamily="34" charset="-122"/>
                <a:cs typeface="Arial" pitchFamily="34" charset="-120"/>
              </a:rPr>
              <a:t>Our test case: one real rating file</a:t>
            </a:r>
            <a:endParaRPr lang="en-US" sz="2400" dirty="0"/>
          </a:p>
        </p:txBody>
      </p:sp>
      <p:sp>
        <p:nvSpPr>
          <p:cNvPr id="3" name="Text 1"/>
          <p:cNvSpPr/>
          <p:nvPr/>
        </p:nvSpPr>
        <p:spPr>
          <a:xfrm>
            <a:off x="640080" y="1280160"/>
            <a:ext cx="10881360" cy="1463040"/>
          </a:xfrm>
          <a:prstGeom prst="rect">
            <a:avLst/>
          </a:prstGeom>
          <a:noFill/>
          <a:ln/>
        </p:spPr>
        <p:txBody>
          <a:bodyPr wrap="square" lIns="0" tIns="0" rIns="0" bIns="0" rtlCol="0" anchor="t"/>
          <a:lstStyle/>
          <a:p>
            <a:pPr marL="177800" indent="-177800">
              <a:spcAft>
                <a:spcPts val="1200"/>
              </a:spcAft>
              <a:buSzPct val="100000"/>
              <a:buChar char="–"/>
            </a:pPr>
            <a:r>
              <a:rPr lang="en-US" sz="1500" dirty="0">
                <a:solidFill>
                  <a:srgbClr val="333333"/>
                </a:solidFill>
                <a:latin typeface="Arial" pitchFamily="34" charset="0"/>
                <a:ea typeface="Arial" pitchFamily="34" charset="-122"/>
                <a:cs typeface="Arial" pitchFamily="34" charset="-120"/>
              </a:rPr>
              <a:t>A Colorado metropolitan district (name withheld) — series 2025 GO refunding bonds, rated BBB+ in Nov 2025.</a:t>
            </a:r>
            <a:endParaRPr lang="en-US" sz="1500" dirty="0"/>
          </a:p>
          <a:p>
            <a:pPr marL="177800" indent="-177800">
              <a:spcAft>
                <a:spcPts val="1700"/>
              </a:spcAft>
              <a:buSzPct val="100000"/>
              <a:buChar char="–"/>
            </a:pPr>
            <a:r>
              <a:rPr lang="en-US" sz="1400" i="1" dirty="0">
                <a:solidFill>
                  <a:srgbClr val="808080"/>
                </a:solidFill>
                <a:latin typeface="Arial" pitchFamily="34" charset="0"/>
                <a:ea typeface="Arial" pitchFamily="34" charset="-122"/>
                <a:cs typeface="Arial" pitchFamily="34" charset="-120"/>
              </a:rPr>
              <a:t>[ live/screenshot: published article first page, entity name redacted — what it looks like; the rated bonds, the rating and date ]</a:t>
            </a:r>
            <a:endParaRPr lang="en-US" sz="1400" dirty="0"/>
          </a:p>
          <a:p>
            <a:pPr marL="177800" indent="-177800">
              <a:spcAft>
                <a:spcPts val="1200"/>
              </a:spcAft>
              <a:buSzPct val="100000"/>
              <a:buChar char="–"/>
            </a:pPr>
            <a:r>
              <a:rPr lang="en-US" sz="1500" dirty="0">
                <a:solidFill>
                  <a:srgbClr val="333333"/>
                </a:solidFill>
                <a:latin typeface="Arial" pitchFamily="34" charset="0"/>
                <a:ea typeface="Arial" pitchFamily="34" charset="-122"/>
                <a:cs typeface="Arial" pitchFamily="34" charset="-120"/>
              </a:rPr>
              <a:t>Four documents uploaded to Spark AIR:</a:t>
            </a:r>
            <a:endParaRPr lang="en-US" sz="1500" dirty="0"/>
          </a:p>
        </p:txBody>
      </p:sp>
      <p:sp>
        <p:nvSpPr>
          <p:cNvPr id="4" name="Text 2"/>
          <p:cNvSpPr/>
          <p:nvPr/>
        </p:nvSpPr>
        <p:spPr>
          <a:xfrm>
            <a:off x="1005840" y="2743200"/>
            <a:ext cx="10332720" cy="1005840"/>
          </a:xfrm>
          <a:prstGeom prst="rect">
            <a:avLst/>
          </a:prstGeom>
          <a:noFill/>
          <a:ln/>
        </p:spPr>
        <p:txBody>
          <a:bodyPr wrap="square" lIns="0" tIns="0" rIns="0" bIns="0" rtlCol="0" anchor="ctr"/>
          <a:lstStyle/>
          <a:p>
            <a:pPr indent="0" marL="0">
              <a:lnSpc>
                <a:spcPts val="2600"/>
              </a:lnSpc>
              <a:buNone/>
            </a:pPr>
            <a:r>
              <a:rPr lang="en-US" sz="1350" b="1" dirty="0">
                <a:solidFill>
                  <a:srgbClr val="333333"/>
                </a:solidFill>
                <a:latin typeface="Arial" pitchFamily="34" charset="0"/>
                <a:ea typeface="Arial" pitchFamily="34" charset="-122"/>
                <a:cs typeface="Arial" pitchFamily="34" charset="-120"/>
              </a:rPr>
              <a:t>Internal:  </a:t>
            </a:r>
            <a:pPr indent="0" marL="0">
              <a:lnSpc>
                <a:spcPts val="2600"/>
              </a:lnSpc>
              <a:buNone/>
            </a:pPr>
            <a:r>
              <a:rPr lang="en-US" sz="1350" dirty="0">
                <a:solidFill>
                  <a:srgbClr val="333333"/>
                </a:solidFill>
                <a:latin typeface="Arial" pitchFamily="34" charset="0"/>
                <a:ea typeface="Arial" pitchFamily="34" charset="-122"/>
                <a:cs typeface="Arial" pitchFamily="34" charset="-120"/>
              </a:rPr>
              <a:t>MUD RSR (model output, Excel)   ·   RAMP (internal rating record, Word)   ·   Criteria article (PDF)</a:t>
            </a:r>
            <a:pPr indent="0" marL="0">
              <a:lnSpc>
                <a:spcPts val="2600"/>
              </a:lnSpc>
              <a:buNone/>
            </a:pPr>
            <a:r>
              <a:rPr lang="en-US" sz="1350" dirty="0">
                <a:solidFill>
                  <a:srgbClr val="333333"/>
                </a:solidFill>
                <a:latin typeface="Arial" pitchFamily="34" charset="0"/>
                <a:ea typeface="Arial" pitchFamily="34" charset="-122"/>
                <a:cs typeface="Arial" pitchFamily="34" charset="-120"/>
              </a:rPr>
              <a:t>
</a:t>
            </a:r>
            <a:pPr indent="0" marL="0">
              <a:lnSpc>
                <a:spcPts val="2600"/>
              </a:lnSpc>
              <a:buNone/>
            </a:pPr>
            <a:r>
              <a:rPr lang="en-US" sz="1350" b="1" dirty="0">
                <a:solidFill>
                  <a:srgbClr val="333333"/>
                </a:solidFill>
                <a:latin typeface="Arial" pitchFamily="34" charset="0"/>
                <a:ea typeface="Arial" pitchFamily="34" charset="-122"/>
                <a:cs typeface="Arial" pitchFamily="34" charset="-120"/>
              </a:rPr>
              <a:t>Published:  </a:t>
            </a:r>
            <a:pPr indent="0" marL="0">
              <a:lnSpc>
                <a:spcPts val="2600"/>
              </a:lnSpc>
              <a:buNone/>
            </a:pPr>
            <a:r>
              <a:rPr lang="en-US" sz="1350" dirty="0">
                <a:solidFill>
                  <a:srgbClr val="333333"/>
                </a:solidFill>
                <a:latin typeface="Arial" pitchFamily="34" charset="0"/>
                <a:ea typeface="Arial" pitchFamily="34" charset="-122"/>
                <a:cs typeface="Arial" pitchFamily="34" charset="-120"/>
              </a:rPr>
              <a:t>Research update / rating article (PDF)</a:t>
            </a:r>
            <a:endParaRPr lang="en-US" sz="1350" dirty="0"/>
          </a:p>
        </p:txBody>
      </p:sp>
      <p:sp>
        <p:nvSpPr>
          <p:cNvPr id="5" name="Text 3"/>
          <p:cNvSpPr/>
          <p:nvPr/>
        </p:nvSpPr>
        <p:spPr>
          <a:xfrm>
            <a:off x="640080" y="4114800"/>
            <a:ext cx="10881360" cy="822960"/>
          </a:xfrm>
          <a:prstGeom prst="rect">
            <a:avLst/>
          </a:prstGeom>
          <a:noFill/>
          <a:ln/>
        </p:spPr>
        <p:txBody>
          <a:bodyPr wrap="square" lIns="0" tIns="0" rIns="0" bIns="0" rtlCol="0" anchor="ctr"/>
          <a:lstStyle/>
          <a:p>
            <a:pPr indent="0" marL="0">
              <a:buNone/>
            </a:pPr>
            <a:r>
              <a:rPr lang="en-US" sz="1500" dirty="0">
                <a:solidFill>
                  <a:srgbClr val="333333"/>
                </a:solidFill>
                <a:latin typeface="Arial" pitchFamily="34" charset="0"/>
                <a:ea typeface="Arial" pitchFamily="34" charset="-122"/>
                <a:cs typeface="Arial" pitchFamily="34" charset="-120"/>
              </a:rPr>
              <a:t>Why this file: its quality review already logged real inconsistencies → a known answer key.</a:t>
            </a:r>
            <a:endParaRPr lang="en-US" sz="1500" dirty="0"/>
          </a:p>
        </p:txBody>
      </p:sp>
      <p:sp>
        <p:nvSpPr>
          <p:cNvPr id="6" name="Text 4"/>
          <p:cNvSpPr/>
          <p:nvPr/>
        </p:nvSpPr>
        <p:spPr>
          <a:xfrm>
            <a:off x="640080" y="5120640"/>
            <a:ext cx="10881360" cy="457200"/>
          </a:xfrm>
          <a:prstGeom prst="rect">
            <a:avLst/>
          </a:prstGeom>
          <a:noFill/>
          <a:ln/>
        </p:spPr>
        <p:txBody>
          <a:bodyPr wrap="square" lIns="0" tIns="0" rIns="0" bIns="0" rtlCol="0" anchor="ctr"/>
          <a:lstStyle/>
          <a:p>
            <a:pPr indent="0" marL="0">
              <a:buNone/>
            </a:pPr>
            <a:r>
              <a:rPr lang="en-US" sz="1500" b="1" dirty="0">
                <a:solidFill>
                  <a:srgbClr val="222222"/>
                </a:solidFill>
                <a:latin typeface="Arial" pitchFamily="34" charset="0"/>
                <a:ea typeface="Arial" pitchFamily="34" charset="-122"/>
                <a:cs typeface="Arial" pitchFamily="34" charset="-120"/>
              </a:rPr>
              <a:t>Task for the AI: the reviewer’s consistency check — do these documents agree?</a:t>
            </a:r>
            <a:endParaRPr lang="en-US" sz="1500" dirty="0"/>
          </a:p>
        </p:txBody>
      </p:sp>
      <p:sp>
        <p:nvSpPr>
          <p:cNvPr id="7" name="Text 5"/>
          <p:cNvSpPr/>
          <p:nvPr/>
        </p:nvSpPr>
        <p:spPr>
          <a:xfrm>
            <a:off x="11430000" y="6492240"/>
            <a:ext cx="365760" cy="274320"/>
          </a:xfrm>
          <a:prstGeom prst="rect">
            <a:avLst/>
          </a:prstGeom>
          <a:noFill/>
          <a:ln/>
        </p:spPr>
        <p:txBody>
          <a:bodyPr wrap="square" lIns="0" tIns="0" rIns="0" bIns="0" rtlCol="0" anchor="ctr"/>
          <a:lstStyle/>
          <a:p>
            <a:pPr algn="r" indent="0" marL="0">
              <a:buNone/>
            </a:pPr>
            <a:r>
              <a:rPr lang="en-US" sz="900" dirty="0">
                <a:solidFill>
                  <a:srgbClr val="808080"/>
                </a:solidFill>
                <a:latin typeface="Arial" pitchFamily="34" charset="0"/>
                <a:ea typeface="Arial" pitchFamily="34" charset="-122"/>
                <a:cs typeface="Arial" pitchFamily="34" charset="-120"/>
              </a:rPr>
              <a:t>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0040"/>
            <a:ext cx="10908792" cy="502920"/>
          </a:xfrm>
          <a:prstGeom prst="rect">
            <a:avLst/>
          </a:prstGeom>
          <a:noFill/>
          <a:ln/>
        </p:spPr>
        <p:txBody>
          <a:bodyPr wrap="square" lIns="0" tIns="0" rIns="0" bIns="0" rtlCol="0" anchor="ctr"/>
          <a:lstStyle/>
          <a:p>
            <a:pPr indent="0" marL="0">
              <a:buNone/>
            </a:pPr>
            <a:r>
              <a:rPr lang="en-US" sz="2400" b="1" dirty="0">
                <a:solidFill>
                  <a:srgbClr val="222222"/>
                </a:solidFill>
                <a:latin typeface="Arial" pitchFamily="34" charset="0"/>
                <a:ea typeface="Arial" pitchFamily="34" charset="-122"/>
                <a:cs typeface="Arial" pitchFamily="34" charset="-120"/>
              </a:rPr>
              <a:t>The known errors (1/2): E1 &amp; E2 — contradictory characterizations</a:t>
            </a:r>
            <a:endParaRPr lang="en-US" sz="2400" dirty="0"/>
          </a:p>
        </p:txBody>
      </p:sp>
      <p:sp>
        <p:nvSpPr>
          <p:cNvPr id="3" name="Text 1"/>
          <p:cNvSpPr/>
          <p:nvPr/>
        </p:nvSpPr>
        <p:spPr>
          <a:xfrm>
            <a:off x="640080" y="1234440"/>
            <a:ext cx="10881360" cy="365760"/>
          </a:xfrm>
          <a:prstGeom prst="rect">
            <a:avLst/>
          </a:prstGeom>
          <a:noFill/>
          <a:ln/>
        </p:spPr>
        <p:txBody>
          <a:bodyPr wrap="square" lIns="0" tIns="0" rIns="0" bIns="0" rtlCol="0" anchor="ctr"/>
          <a:lstStyle/>
          <a:p>
            <a:pPr indent="0" marL="0">
              <a:buNone/>
            </a:pPr>
            <a:r>
              <a:rPr lang="en-US" sz="1500" dirty="0">
                <a:solidFill>
                  <a:srgbClr val="333333"/>
                </a:solidFill>
                <a:latin typeface="Arial" pitchFamily="34" charset="0"/>
                <a:ea typeface="Arial" pitchFamily="34" charset="-122"/>
                <a:cs typeface="Arial" pitchFamily="34" charset="-120"/>
              </a:rPr>
              <a:t>Property tax rate characterizations:</a:t>
            </a:r>
            <a:endParaRPr lang="en-US" sz="1500" dirty="0"/>
          </a:p>
        </p:txBody>
      </p:sp>
      <p:sp>
        <p:nvSpPr>
          <p:cNvPr id="4" name="Text 2"/>
          <p:cNvSpPr/>
          <p:nvPr/>
        </p:nvSpPr>
        <p:spPr>
          <a:xfrm>
            <a:off x="777240" y="1828800"/>
            <a:ext cx="3108960" cy="365760"/>
          </a:xfrm>
          <a:prstGeom prst="rect">
            <a:avLst/>
          </a:prstGeom>
          <a:noFill/>
          <a:ln/>
        </p:spPr>
        <p:txBody>
          <a:bodyPr wrap="square" lIns="0" tIns="0" rIns="0" bIns="0" rtlCol="0" anchor="ctr"/>
          <a:lstStyle/>
          <a:p>
            <a:pPr indent="0" marL="0">
              <a:buNone/>
            </a:pPr>
            <a:endParaRPr lang="en-US" sz="1100" dirty="0"/>
          </a:p>
        </p:txBody>
      </p:sp>
      <p:sp>
        <p:nvSpPr>
          <p:cNvPr id="5" name="Text 3"/>
          <p:cNvSpPr/>
          <p:nvPr/>
        </p:nvSpPr>
        <p:spPr>
          <a:xfrm>
            <a:off x="4023360" y="1828800"/>
            <a:ext cx="1920240" cy="365760"/>
          </a:xfrm>
          <a:prstGeom prst="rect">
            <a:avLst/>
          </a:prstGeom>
          <a:noFill/>
          <a:ln/>
        </p:spPr>
        <p:txBody>
          <a:bodyPr wrap="square" lIns="0" tIns="0" rIns="0" bIns="0" rtlCol="0" anchor="ctr"/>
          <a:lstStyle/>
          <a:p>
            <a:pPr indent="0" marL="0">
              <a:buNone/>
            </a:pPr>
            <a:r>
              <a:rPr lang="en-US" sz="1100" dirty="0">
                <a:solidFill>
                  <a:srgbClr val="808080"/>
                </a:solidFill>
                <a:latin typeface="Arial" pitchFamily="34" charset="0"/>
                <a:ea typeface="Arial" pitchFamily="34" charset="-122"/>
                <a:cs typeface="Arial" pitchFamily="34" charset="-120"/>
              </a:rPr>
              <a:t>Internal record (MUD RSR)</a:t>
            </a:r>
            <a:endParaRPr lang="en-US" sz="1100" dirty="0"/>
          </a:p>
        </p:txBody>
      </p:sp>
      <p:sp>
        <p:nvSpPr>
          <p:cNvPr id="6" name="Text 4"/>
          <p:cNvSpPr/>
          <p:nvPr/>
        </p:nvSpPr>
        <p:spPr>
          <a:xfrm>
            <a:off x="6035040" y="1828800"/>
            <a:ext cx="2834640" cy="365760"/>
          </a:xfrm>
          <a:prstGeom prst="rect">
            <a:avLst/>
          </a:prstGeom>
          <a:noFill/>
          <a:ln/>
        </p:spPr>
        <p:txBody>
          <a:bodyPr wrap="square" lIns="0" tIns="0" rIns="0" bIns="0" rtlCol="0" anchor="ctr"/>
          <a:lstStyle/>
          <a:p>
            <a:pPr indent="0" marL="0">
              <a:buNone/>
            </a:pPr>
            <a:r>
              <a:rPr lang="en-US" sz="1100" dirty="0">
                <a:solidFill>
                  <a:srgbClr val="808080"/>
                </a:solidFill>
                <a:latin typeface="Arial" pitchFamily="34" charset="0"/>
                <a:ea typeface="Arial" pitchFamily="34" charset="-122"/>
                <a:cs typeface="Arial" pitchFamily="34" charset="-120"/>
              </a:rPr>
              <a:t>Published article</a:t>
            </a:r>
            <a:endParaRPr lang="en-US" sz="1100" dirty="0"/>
          </a:p>
        </p:txBody>
      </p:sp>
      <p:sp>
        <p:nvSpPr>
          <p:cNvPr id="7" name="Text 5"/>
          <p:cNvSpPr/>
          <p:nvPr/>
        </p:nvSpPr>
        <p:spPr>
          <a:xfrm>
            <a:off x="8961120" y="1828800"/>
            <a:ext cx="1828800" cy="365760"/>
          </a:xfrm>
          <a:prstGeom prst="rect">
            <a:avLst/>
          </a:prstGeom>
          <a:noFill/>
          <a:ln/>
        </p:spPr>
        <p:txBody>
          <a:bodyPr wrap="square" lIns="0" tIns="0" rIns="0" bIns="0" rtlCol="0" anchor="ctr"/>
          <a:lstStyle/>
          <a:p>
            <a:pPr indent="0" marL="0">
              <a:buNone/>
            </a:pPr>
            <a:r>
              <a:rPr lang="en-US" sz="1100" dirty="0">
                <a:solidFill>
                  <a:srgbClr val="808080"/>
                </a:solidFill>
                <a:latin typeface="Arial" pitchFamily="34" charset="0"/>
                <a:ea typeface="Arial" pitchFamily="34" charset="-122"/>
                <a:cs typeface="Arial" pitchFamily="34" charset="-120"/>
              </a:rPr>
              <a:t>AQV finding</a:t>
            </a:r>
            <a:endParaRPr lang="en-US" sz="1100" dirty="0"/>
          </a:p>
        </p:txBody>
      </p:sp>
      <p:sp>
        <p:nvSpPr>
          <p:cNvPr id="8" name="Shape 6"/>
          <p:cNvSpPr/>
          <p:nvPr/>
        </p:nvSpPr>
        <p:spPr>
          <a:xfrm>
            <a:off x="640080" y="2194560"/>
            <a:ext cx="10332720" cy="594360"/>
          </a:xfrm>
          <a:prstGeom prst="rect">
            <a:avLst/>
          </a:prstGeom>
          <a:solidFill>
            <a:srgbClr val="EFEFEF"/>
          </a:solidFill>
          <a:ln w="6350">
            <a:solidFill>
              <a:srgbClr val="BFBFBF"/>
            </a:solidFill>
            <a:prstDash val="solid"/>
          </a:ln>
        </p:spPr>
      </p:sp>
      <p:sp>
        <p:nvSpPr>
          <p:cNvPr id="9" name="Text 7"/>
          <p:cNvSpPr/>
          <p:nvPr/>
        </p:nvSpPr>
        <p:spPr>
          <a:xfrm>
            <a:off x="777240" y="2240280"/>
            <a:ext cx="3108960" cy="502920"/>
          </a:xfrm>
          <a:prstGeom prst="rect">
            <a:avLst/>
          </a:prstGeom>
          <a:noFill/>
          <a:ln/>
        </p:spPr>
        <p:txBody>
          <a:bodyPr wrap="square" lIns="0" tIns="0" rIns="0" bIns="0" rtlCol="0" anchor="ctr"/>
          <a:lstStyle/>
          <a:p>
            <a:pPr indent="0" marL="0">
              <a:buNone/>
            </a:pPr>
            <a:r>
              <a:rPr lang="en-US" sz="1300" b="1" dirty="0">
                <a:solidFill>
                  <a:srgbClr val="222222"/>
                </a:solidFill>
                <a:latin typeface="Arial" pitchFamily="34" charset="0"/>
                <a:ea typeface="Arial" pitchFamily="34" charset="-122"/>
                <a:cs typeface="Arial" pitchFamily="34" charset="-120"/>
              </a:rPr>
              <a:t>E1 — Direct property tax rate</a:t>
            </a:r>
            <a:endParaRPr lang="en-US" sz="1300" dirty="0"/>
          </a:p>
        </p:txBody>
      </p:sp>
      <p:sp>
        <p:nvSpPr>
          <p:cNvPr id="10" name="Text 8"/>
          <p:cNvSpPr/>
          <p:nvPr/>
        </p:nvSpPr>
        <p:spPr>
          <a:xfrm>
            <a:off x="4023360" y="2240280"/>
            <a:ext cx="1920240" cy="502920"/>
          </a:xfrm>
          <a:prstGeom prst="rect">
            <a:avLst/>
          </a:prstGeom>
          <a:noFill/>
          <a:ln/>
        </p:spPr>
        <p:txBody>
          <a:bodyPr wrap="square" lIns="0" tIns="0" rIns="0" bIns="0" rtlCol="0" anchor="ctr"/>
          <a:lstStyle/>
          <a:p>
            <a:pPr indent="0" marL="0">
              <a:buNone/>
            </a:pPr>
            <a:r>
              <a:rPr lang="en-US" sz="1500" b="1" dirty="0">
                <a:solidFill>
                  <a:srgbClr val="2E6B2A"/>
                </a:solidFill>
                <a:latin typeface="Arial" pitchFamily="34" charset="0"/>
                <a:ea typeface="Arial" pitchFamily="34" charset="-122"/>
                <a:cs typeface="Arial" pitchFamily="34" charset="-120"/>
              </a:rPr>
              <a:t>“Very Low”</a:t>
            </a:r>
            <a:endParaRPr lang="en-US" sz="1500" dirty="0"/>
          </a:p>
        </p:txBody>
      </p:sp>
      <p:sp>
        <p:nvSpPr>
          <p:cNvPr id="11" name="Text 9"/>
          <p:cNvSpPr/>
          <p:nvPr/>
        </p:nvSpPr>
        <p:spPr>
          <a:xfrm>
            <a:off x="6035040" y="2240280"/>
            <a:ext cx="2834640" cy="502920"/>
          </a:xfrm>
          <a:prstGeom prst="rect">
            <a:avLst/>
          </a:prstGeom>
          <a:noFill/>
          <a:ln/>
        </p:spPr>
        <p:txBody>
          <a:bodyPr wrap="square" lIns="0" tIns="0" rIns="0" bIns="0" rtlCol="0" anchor="ctr"/>
          <a:lstStyle/>
          <a:p>
            <a:pPr indent="0" marL="0">
              <a:buNone/>
            </a:pPr>
            <a:r>
              <a:rPr lang="en-US" sz="1300" dirty="0">
                <a:solidFill>
                  <a:srgbClr val="C8102E"/>
                </a:solidFill>
                <a:latin typeface="Arial" pitchFamily="34" charset="0"/>
                <a:ea typeface="Arial" pitchFamily="34" charset="-122"/>
                <a:cs typeface="Arial" pitchFamily="34" charset="-120"/>
              </a:rPr>
              <a:t>“High”</a:t>
            </a:r>
            <a:endParaRPr lang="en-US" sz="1300" dirty="0"/>
          </a:p>
        </p:txBody>
      </p:sp>
      <p:sp>
        <p:nvSpPr>
          <p:cNvPr id="12" name="Text 10"/>
          <p:cNvSpPr/>
          <p:nvPr/>
        </p:nvSpPr>
        <p:spPr>
          <a:xfrm>
            <a:off x="8961120" y="2240280"/>
            <a:ext cx="1828800" cy="502920"/>
          </a:xfrm>
          <a:prstGeom prst="rect">
            <a:avLst/>
          </a:prstGeom>
          <a:noFill/>
          <a:ln/>
        </p:spPr>
        <p:txBody>
          <a:bodyPr wrap="square" lIns="0" tIns="0" rIns="0" bIns="0" rtlCol="0" anchor="ctr"/>
          <a:lstStyle/>
          <a:p>
            <a:pPr indent="0" marL="0">
              <a:buNone/>
            </a:pPr>
            <a:r>
              <a:rPr lang="en-US" sz="1500" b="1" dirty="0">
                <a:solidFill>
                  <a:srgbClr val="808080"/>
                </a:solidFill>
                <a:latin typeface="Arial" pitchFamily="34" charset="0"/>
                <a:ea typeface="Arial" pitchFamily="34" charset="-122"/>
                <a:cs typeface="Arial" pitchFamily="34" charset="-120"/>
              </a:rPr>
              <a:t>Medium risk</a:t>
            </a:r>
            <a:endParaRPr lang="en-US" sz="1500" dirty="0"/>
          </a:p>
        </p:txBody>
      </p:sp>
      <p:sp>
        <p:nvSpPr>
          <p:cNvPr id="13" name="Shape 11"/>
          <p:cNvSpPr/>
          <p:nvPr/>
        </p:nvSpPr>
        <p:spPr>
          <a:xfrm>
            <a:off x="640080" y="2852928"/>
            <a:ext cx="10332720" cy="594360"/>
          </a:xfrm>
          <a:prstGeom prst="rect">
            <a:avLst/>
          </a:prstGeom>
          <a:solidFill>
            <a:srgbClr val="FFFFFF"/>
          </a:solidFill>
          <a:ln w="6350">
            <a:solidFill>
              <a:srgbClr val="BFBFBF"/>
            </a:solidFill>
            <a:prstDash val="solid"/>
          </a:ln>
        </p:spPr>
      </p:sp>
      <p:sp>
        <p:nvSpPr>
          <p:cNvPr id="14" name="Text 12"/>
          <p:cNvSpPr/>
          <p:nvPr/>
        </p:nvSpPr>
        <p:spPr>
          <a:xfrm>
            <a:off x="777240" y="2898648"/>
            <a:ext cx="3108960" cy="502920"/>
          </a:xfrm>
          <a:prstGeom prst="rect">
            <a:avLst/>
          </a:prstGeom>
          <a:noFill/>
          <a:ln/>
        </p:spPr>
        <p:txBody>
          <a:bodyPr wrap="square" lIns="0" tIns="0" rIns="0" bIns="0" rtlCol="0" anchor="ctr"/>
          <a:lstStyle/>
          <a:p>
            <a:pPr indent="0" marL="0">
              <a:buNone/>
            </a:pPr>
            <a:r>
              <a:rPr lang="en-US" sz="1300" b="1" dirty="0">
                <a:solidFill>
                  <a:srgbClr val="222222"/>
                </a:solidFill>
                <a:latin typeface="Arial" pitchFamily="34" charset="0"/>
                <a:ea typeface="Arial" pitchFamily="34" charset="-122"/>
                <a:cs typeface="Arial" pitchFamily="34" charset="-120"/>
              </a:rPr>
              <a:t>E2 — Total property tax rate</a:t>
            </a:r>
            <a:endParaRPr lang="en-US" sz="1300" dirty="0"/>
          </a:p>
        </p:txBody>
      </p:sp>
      <p:sp>
        <p:nvSpPr>
          <p:cNvPr id="15" name="Text 13"/>
          <p:cNvSpPr/>
          <p:nvPr/>
        </p:nvSpPr>
        <p:spPr>
          <a:xfrm>
            <a:off x="4023360" y="2898648"/>
            <a:ext cx="1920240" cy="502920"/>
          </a:xfrm>
          <a:prstGeom prst="rect">
            <a:avLst/>
          </a:prstGeom>
          <a:noFill/>
          <a:ln/>
        </p:spPr>
        <p:txBody>
          <a:bodyPr wrap="square" lIns="0" tIns="0" rIns="0" bIns="0" rtlCol="0" anchor="ctr"/>
          <a:lstStyle/>
          <a:p>
            <a:pPr indent="0" marL="0">
              <a:buNone/>
            </a:pPr>
            <a:r>
              <a:rPr lang="en-US" sz="1500" b="1" dirty="0">
                <a:solidFill>
                  <a:srgbClr val="2E6B2A"/>
                </a:solidFill>
                <a:latin typeface="Arial" pitchFamily="34" charset="0"/>
                <a:ea typeface="Arial" pitchFamily="34" charset="-122"/>
                <a:cs typeface="Arial" pitchFamily="34" charset="-120"/>
              </a:rPr>
              <a:t>“Very Low”</a:t>
            </a:r>
            <a:endParaRPr lang="en-US" sz="1500" dirty="0"/>
          </a:p>
        </p:txBody>
      </p:sp>
      <p:sp>
        <p:nvSpPr>
          <p:cNvPr id="16" name="Text 14"/>
          <p:cNvSpPr/>
          <p:nvPr/>
        </p:nvSpPr>
        <p:spPr>
          <a:xfrm>
            <a:off x="6035040" y="2898648"/>
            <a:ext cx="2834640" cy="502920"/>
          </a:xfrm>
          <a:prstGeom prst="rect">
            <a:avLst/>
          </a:prstGeom>
          <a:noFill/>
          <a:ln/>
        </p:spPr>
        <p:txBody>
          <a:bodyPr wrap="square" lIns="0" tIns="0" rIns="0" bIns="0" rtlCol="0" anchor="ctr"/>
          <a:lstStyle/>
          <a:p>
            <a:pPr indent="0" marL="0">
              <a:buNone/>
            </a:pPr>
            <a:r>
              <a:rPr lang="en-US" sz="1300" dirty="0">
                <a:solidFill>
                  <a:srgbClr val="C8102E"/>
                </a:solidFill>
                <a:latin typeface="Arial" pitchFamily="34" charset="0"/>
                <a:ea typeface="Arial" pitchFamily="34" charset="-122"/>
                <a:cs typeface="Arial" pitchFamily="34" charset="-120"/>
              </a:rPr>
              <a:t>“High”</a:t>
            </a:r>
            <a:endParaRPr lang="en-US" sz="1300" dirty="0"/>
          </a:p>
        </p:txBody>
      </p:sp>
      <p:sp>
        <p:nvSpPr>
          <p:cNvPr id="17" name="Text 15"/>
          <p:cNvSpPr/>
          <p:nvPr/>
        </p:nvSpPr>
        <p:spPr>
          <a:xfrm>
            <a:off x="8961120" y="2898648"/>
            <a:ext cx="1828800" cy="502920"/>
          </a:xfrm>
          <a:prstGeom prst="rect">
            <a:avLst/>
          </a:prstGeom>
          <a:noFill/>
          <a:ln/>
        </p:spPr>
        <p:txBody>
          <a:bodyPr wrap="square" lIns="0" tIns="0" rIns="0" bIns="0" rtlCol="0" anchor="ctr"/>
          <a:lstStyle/>
          <a:p>
            <a:pPr indent="0" marL="0">
              <a:buNone/>
            </a:pPr>
            <a:r>
              <a:rPr lang="en-US" sz="1500" b="1" dirty="0">
                <a:solidFill>
                  <a:srgbClr val="808080"/>
                </a:solidFill>
                <a:latin typeface="Arial" pitchFamily="34" charset="0"/>
                <a:ea typeface="Arial" pitchFamily="34" charset="-122"/>
                <a:cs typeface="Arial" pitchFamily="34" charset="-120"/>
              </a:rPr>
              <a:t>Medium risk</a:t>
            </a:r>
            <a:endParaRPr lang="en-US" sz="1500" dirty="0"/>
          </a:p>
        </p:txBody>
      </p:sp>
      <p:sp>
        <p:nvSpPr>
          <p:cNvPr id="18" name="Text 16"/>
          <p:cNvSpPr/>
          <p:nvPr/>
        </p:nvSpPr>
        <p:spPr>
          <a:xfrm>
            <a:off x="640080" y="3703320"/>
            <a:ext cx="10881360" cy="2194560"/>
          </a:xfrm>
          <a:prstGeom prst="rect">
            <a:avLst/>
          </a:prstGeom>
          <a:noFill/>
          <a:ln/>
        </p:spPr>
        <p:txBody>
          <a:bodyPr wrap="square" lIns="0" tIns="0" rIns="0" bIns="0" rtlCol="0" anchor="t"/>
          <a:lstStyle/>
          <a:p>
            <a:pPr marL="177800" indent="-177800">
              <a:spcAft>
                <a:spcPts val="1200"/>
              </a:spcAft>
              <a:buSzPct val="100000"/>
              <a:buChar char="–"/>
            </a:pPr>
            <a:r>
              <a:rPr lang="en-US" sz="1500" dirty="0">
                <a:solidFill>
                  <a:srgbClr val="333333"/>
                </a:solidFill>
                <a:latin typeface="Arial" pitchFamily="34" charset="0"/>
                <a:ea typeface="Arial" pitchFamily="34" charset="-122"/>
                <a:cs typeface="Arial" pitchFamily="34" charset="-120"/>
              </a:rPr>
              <a:t>Same rates, opposite judgment labels.</a:t>
            </a:r>
            <a:endParaRPr lang="en-US" sz="1500" dirty="0"/>
          </a:p>
          <a:p>
            <a:pPr marL="177800" indent="-177800">
              <a:spcAft>
                <a:spcPts val="1200"/>
              </a:spcAft>
              <a:buSzPct val="100000"/>
              <a:buChar char="–"/>
            </a:pPr>
            <a:r>
              <a:rPr lang="en-US" sz="1500" b="1" dirty="0">
                <a:solidFill>
                  <a:srgbClr val="333333"/>
                </a:solidFill>
                <a:latin typeface="Arial" pitchFamily="34" charset="0"/>
                <a:ea typeface="Arial" pitchFamily="34" charset="-122"/>
                <a:cs typeface="Arial" pitchFamily="34" charset="-120"/>
              </a:rPr>
              <a:t>Both logged as findings in the official quality review.</a:t>
            </a:r>
            <a:endParaRPr lang="en-US" sz="1500" dirty="0"/>
          </a:p>
          <a:p>
            <a:pPr marL="177800" indent="-177800">
              <a:spcAft>
                <a:spcPts val="1200"/>
              </a:spcAft>
              <a:buSzPct val="100000"/>
              <a:buChar char="–"/>
            </a:pPr>
            <a:r>
              <a:rPr lang="en-US" sz="1500" dirty="0">
                <a:solidFill>
                  <a:srgbClr val="333333"/>
                </a:solidFill>
                <a:latin typeface="Arial" pitchFamily="34" charset="0"/>
                <a:ea typeface="Arial" pitchFamily="34" charset="-122"/>
                <a:cs typeface="Arial" pitchFamily="34" charset="-120"/>
              </a:rPr>
              <a:t/>
            </a:r>
            <a:endParaRPr lang="en-US" sz="1500" dirty="0"/>
          </a:p>
        </p:txBody>
      </p:sp>
      <p:sp>
        <p:nvSpPr>
          <p:cNvPr id="19" name="Text 17"/>
          <p:cNvSpPr/>
          <p:nvPr/>
        </p:nvSpPr>
        <p:spPr>
          <a:xfrm>
            <a:off x="11430000" y="6492240"/>
            <a:ext cx="365760" cy="274320"/>
          </a:xfrm>
          <a:prstGeom prst="rect">
            <a:avLst/>
          </a:prstGeom>
          <a:noFill/>
          <a:ln/>
        </p:spPr>
        <p:txBody>
          <a:bodyPr wrap="square" lIns="0" tIns="0" rIns="0" bIns="0" rtlCol="0" anchor="ctr"/>
          <a:lstStyle/>
          <a:p>
            <a:pPr algn="r" indent="0" marL="0">
              <a:buNone/>
            </a:pPr>
            <a:r>
              <a:rPr lang="en-US" sz="900" dirty="0">
                <a:solidFill>
                  <a:srgbClr val="808080"/>
                </a:solidFill>
                <a:latin typeface="Arial" pitchFamily="34" charset="0"/>
                <a:ea typeface="Arial" pitchFamily="34" charset="-122"/>
                <a:cs typeface="Arial" pitchFamily="34" charset="-120"/>
              </a:rPr>
              <a:t>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0040"/>
            <a:ext cx="10908792" cy="502920"/>
          </a:xfrm>
          <a:prstGeom prst="rect">
            <a:avLst/>
          </a:prstGeom>
          <a:noFill/>
          <a:ln/>
        </p:spPr>
        <p:txBody>
          <a:bodyPr wrap="square" lIns="0" tIns="0" rIns="0" bIns="0" rtlCol="0" anchor="ctr"/>
          <a:lstStyle/>
          <a:p>
            <a:pPr indent="0" marL="0">
              <a:buNone/>
            </a:pPr>
            <a:r>
              <a:rPr lang="en-US" sz="2400" b="1" dirty="0">
                <a:solidFill>
                  <a:srgbClr val="222222"/>
                </a:solidFill>
                <a:latin typeface="Arial" pitchFamily="34" charset="0"/>
                <a:ea typeface="Arial" pitchFamily="34" charset="-122"/>
                <a:cs typeface="Arial" pitchFamily="34" charset="-120"/>
              </a:rPr>
              <a:t>The known errors (2/2): E3, E4, E5</a:t>
            </a:r>
            <a:endParaRPr lang="en-US" sz="2400" dirty="0"/>
          </a:p>
        </p:txBody>
      </p:sp>
      <p:sp>
        <p:nvSpPr>
          <p:cNvPr id="3" name="Text 1"/>
          <p:cNvSpPr/>
          <p:nvPr/>
        </p:nvSpPr>
        <p:spPr>
          <a:xfrm>
            <a:off x="777240" y="1417320"/>
            <a:ext cx="3291840" cy="365760"/>
          </a:xfrm>
          <a:prstGeom prst="rect">
            <a:avLst/>
          </a:prstGeom>
          <a:noFill/>
          <a:ln/>
        </p:spPr>
        <p:txBody>
          <a:bodyPr wrap="square" lIns="0" tIns="0" rIns="0" bIns="0" rtlCol="0" anchor="ctr"/>
          <a:lstStyle/>
          <a:p>
            <a:pPr indent="0" marL="0">
              <a:buNone/>
            </a:pPr>
            <a:endParaRPr lang="en-US" sz="1100" dirty="0"/>
          </a:p>
        </p:txBody>
      </p:sp>
      <p:sp>
        <p:nvSpPr>
          <p:cNvPr id="4" name="Text 2"/>
          <p:cNvSpPr/>
          <p:nvPr/>
        </p:nvSpPr>
        <p:spPr>
          <a:xfrm>
            <a:off x="4206240" y="1417320"/>
            <a:ext cx="2377440" cy="365760"/>
          </a:xfrm>
          <a:prstGeom prst="rect">
            <a:avLst/>
          </a:prstGeom>
          <a:noFill/>
          <a:ln/>
        </p:spPr>
        <p:txBody>
          <a:bodyPr wrap="square" lIns="0" tIns="0" rIns="0" bIns="0" rtlCol="0" anchor="ctr"/>
          <a:lstStyle/>
          <a:p>
            <a:pPr indent="0" marL="0">
              <a:buNone/>
            </a:pPr>
            <a:r>
              <a:rPr lang="en-US" sz="1100" dirty="0">
                <a:solidFill>
                  <a:srgbClr val="808080"/>
                </a:solidFill>
                <a:latin typeface="Arial" pitchFamily="34" charset="0"/>
                <a:ea typeface="Arial" pitchFamily="34" charset="-122"/>
                <a:cs typeface="Arial" pitchFamily="34" charset="-120"/>
              </a:rPr>
              <a:t>Internal record</a:t>
            </a:r>
            <a:endParaRPr lang="en-US" sz="1100" dirty="0"/>
          </a:p>
        </p:txBody>
      </p:sp>
      <p:sp>
        <p:nvSpPr>
          <p:cNvPr id="5" name="Text 3"/>
          <p:cNvSpPr/>
          <p:nvPr/>
        </p:nvSpPr>
        <p:spPr>
          <a:xfrm>
            <a:off x="6766560" y="1417320"/>
            <a:ext cx="2286000" cy="365760"/>
          </a:xfrm>
          <a:prstGeom prst="rect">
            <a:avLst/>
          </a:prstGeom>
          <a:noFill/>
          <a:ln/>
        </p:spPr>
        <p:txBody>
          <a:bodyPr wrap="square" lIns="0" tIns="0" rIns="0" bIns="0" rtlCol="0" anchor="ctr"/>
          <a:lstStyle/>
          <a:p>
            <a:pPr indent="0" marL="0">
              <a:buNone/>
            </a:pPr>
            <a:r>
              <a:rPr lang="en-US" sz="1100" dirty="0">
                <a:solidFill>
                  <a:srgbClr val="808080"/>
                </a:solidFill>
                <a:latin typeface="Arial" pitchFamily="34" charset="0"/>
                <a:ea typeface="Arial" pitchFamily="34" charset="-122"/>
                <a:cs typeface="Arial" pitchFamily="34" charset="-120"/>
              </a:rPr>
              <a:t>Published article</a:t>
            </a:r>
            <a:endParaRPr lang="en-US" sz="1100" dirty="0"/>
          </a:p>
        </p:txBody>
      </p:sp>
      <p:sp>
        <p:nvSpPr>
          <p:cNvPr id="6" name="Text 4"/>
          <p:cNvSpPr/>
          <p:nvPr/>
        </p:nvSpPr>
        <p:spPr>
          <a:xfrm>
            <a:off x="9144000" y="1417320"/>
            <a:ext cx="2286000" cy="365760"/>
          </a:xfrm>
          <a:prstGeom prst="rect">
            <a:avLst/>
          </a:prstGeom>
          <a:noFill/>
          <a:ln/>
        </p:spPr>
        <p:txBody>
          <a:bodyPr wrap="square" lIns="0" tIns="0" rIns="0" bIns="0" rtlCol="0" anchor="ctr"/>
          <a:lstStyle/>
          <a:p>
            <a:pPr indent="0" marL="0">
              <a:buNone/>
            </a:pPr>
            <a:endParaRPr lang="en-US" sz="1100" dirty="0"/>
          </a:p>
        </p:txBody>
      </p:sp>
      <p:sp>
        <p:nvSpPr>
          <p:cNvPr id="7" name="Shape 5"/>
          <p:cNvSpPr/>
          <p:nvPr/>
        </p:nvSpPr>
        <p:spPr>
          <a:xfrm>
            <a:off x="640080" y="1783080"/>
            <a:ext cx="10881360" cy="685800"/>
          </a:xfrm>
          <a:prstGeom prst="rect">
            <a:avLst/>
          </a:prstGeom>
          <a:solidFill>
            <a:srgbClr val="EFEFEF"/>
          </a:solidFill>
          <a:ln w="6350">
            <a:solidFill>
              <a:srgbClr val="BFBFBF"/>
            </a:solidFill>
            <a:prstDash val="solid"/>
          </a:ln>
        </p:spPr>
      </p:sp>
      <p:sp>
        <p:nvSpPr>
          <p:cNvPr id="8" name="Text 6"/>
          <p:cNvSpPr/>
          <p:nvPr/>
        </p:nvSpPr>
        <p:spPr>
          <a:xfrm>
            <a:off x="777240" y="1828800"/>
            <a:ext cx="3291840" cy="594360"/>
          </a:xfrm>
          <a:prstGeom prst="rect">
            <a:avLst/>
          </a:prstGeom>
          <a:noFill/>
          <a:ln/>
        </p:spPr>
        <p:txBody>
          <a:bodyPr wrap="square" lIns="0" tIns="0" rIns="0" bIns="0" rtlCol="0" anchor="ctr"/>
          <a:lstStyle/>
          <a:p>
            <a:pPr indent="0" marL="0">
              <a:buNone/>
            </a:pPr>
            <a:r>
              <a:rPr lang="en-US" sz="1300" b="1" dirty="0">
                <a:solidFill>
                  <a:srgbClr val="222222"/>
                </a:solidFill>
                <a:latin typeface="Arial" pitchFamily="34" charset="0"/>
                <a:ea typeface="Arial" pitchFamily="34" charset="-122"/>
                <a:cs typeface="Arial" pitchFamily="34" charset="-120"/>
              </a:rPr>
              <a:t>E3   Bond maturity date</a:t>
            </a:r>
            <a:endParaRPr lang="en-US" sz="1300" dirty="0"/>
          </a:p>
        </p:txBody>
      </p:sp>
      <p:sp>
        <p:nvSpPr>
          <p:cNvPr id="9" name="Text 7"/>
          <p:cNvSpPr/>
          <p:nvPr/>
        </p:nvSpPr>
        <p:spPr>
          <a:xfrm>
            <a:off x="4206240" y="1828800"/>
            <a:ext cx="2377440" cy="594360"/>
          </a:xfrm>
          <a:prstGeom prst="rect">
            <a:avLst/>
          </a:prstGeom>
          <a:noFill/>
          <a:ln/>
        </p:spPr>
        <p:txBody>
          <a:bodyPr wrap="square" lIns="0" tIns="0" rIns="0" bIns="0" rtlCol="0" anchor="ctr"/>
          <a:lstStyle/>
          <a:p>
            <a:pPr indent="0" marL="0">
              <a:buNone/>
            </a:pPr>
            <a:r>
              <a:rPr lang="en-US" sz="1350" b="1" dirty="0">
                <a:solidFill>
                  <a:srgbClr val="222222"/>
                </a:solidFill>
                <a:latin typeface="Arial" pitchFamily="34" charset="0"/>
                <a:ea typeface="Arial" pitchFamily="34" charset="-122"/>
                <a:cs typeface="Arial" pitchFamily="34" charset="-120"/>
              </a:rPr>
              <a:t>12/01/2055</a:t>
            </a:r>
            <a:endParaRPr lang="en-US" sz="1350" dirty="0"/>
          </a:p>
        </p:txBody>
      </p:sp>
      <p:sp>
        <p:nvSpPr>
          <p:cNvPr id="10" name="Text 8"/>
          <p:cNvSpPr/>
          <p:nvPr/>
        </p:nvSpPr>
        <p:spPr>
          <a:xfrm>
            <a:off x="6766560" y="1828800"/>
            <a:ext cx="2286000" cy="594360"/>
          </a:xfrm>
          <a:prstGeom prst="rect">
            <a:avLst/>
          </a:prstGeom>
          <a:noFill/>
          <a:ln/>
        </p:spPr>
        <p:txBody>
          <a:bodyPr wrap="square" lIns="0" tIns="0" rIns="0" bIns="0" rtlCol="0" anchor="ctr"/>
          <a:lstStyle/>
          <a:p>
            <a:pPr indent="0" marL="0">
              <a:buNone/>
            </a:pPr>
            <a:r>
              <a:rPr lang="en-US" sz="1350" b="1" dirty="0">
                <a:solidFill>
                  <a:srgbClr val="C8102E"/>
                </a:solidFill>
                <a:latin typeface="Arial" pitchFamily="34" charset="0"/>
                <a:ea typeface="Arial" pitchFamily="34" charset="-122"/>
                <a:cs typeface="Arial" pitchFamily="34" charset="-120"/>
              </a:rPr>
              <a:t>12/01/2065</a:t>
            </a:r>
            <a:endParaRPr lang="en-US" sz="1350" dirty="0"/>
          </a:p>
        </p:txBody>
      </p:sp>
      <p:sp>
        <p:nvSpPr>
          <p:cNvPr id="11" name="Text 9"/>
          <p:cNvSpPr/>
          <p:nvPr/>
        </p:nvSpPr>
        <p:spPr>
          <a:xfrm>
            <a:off x="9144000" y="1828800"/>
            <a:ext cx="2286000" cy="594360"/>
          </a:xfrm>
          <a:prstGeom prst="rect">
            <a:avLst/>
          </a:prstGeom>
          <a:noFill/>
          <a:ln/>
        </p:spPr>
        <p:txBody>
          <a:bodyPr wrap="square" lIns="0" tIns="0" rIns="0" bIns="0" rtlCol="0" anchor="ctr"/>
          <a:lstStyle/>
          <a:p>
            <a:pPr indent="0" marL="0">
              <a:buNone/>
            </a:pPr>
            <a:r>
              <a:rPr lang="en-US" sz="1150" i="1" dirty="0">
                <a:solidFill>
                  <a:srgbClr val="808080"/>
                </a:solidFill>
                <a:latin typeface="Arial" pitchFamily="34" charset="0"/>
                <a:ea typeface="Arial" pitchFamily="34" charset="-122"/>
                <a:cs typeface="Arial" pitchFamily="34" charset="-120"/>
              </a:rPr>
              <a:t>a 10-year typo in the ratings list</a:t>
            </a:r>
            <a:endParaRPr lang="en-US" sz="1150" dirty="0"/>
          </a:p>
        </p:txBody>
      </p:sp>
      <p:sp>
        <p:nvSpPr>
          <p:cNvPr id="12" name="Shape 10"/>
          <p:cNvSpPr/>
          <p:nvPr/>
        </p:nvSpPr>
        <p:spPr>
          <a:xfrm>
            <a:off x="640080" y="2560320"/>
            <a:ext cx="10881360" cy="685800"/>
          </a:xfrm>
          <a:prstGeom prst="rect">
            <a:avLst/>
          </a:prstGeom>
          <a:solidFill>
            <a:srgbClr val="FFFFFF"/>
          </a:solidFill>
          <a:ln w="6350">
            <a:solidFill>
              <a:srgbClr val="BFBFBF"/>
            </a:solidFill>
            <a:prstDash val="solid"/>
          </a:ln>
        </p:spPr>
      </p:sp>
      <p:sp>
        <p:nvSpPr>
          <p:cNvPr id="13" name="Text 11"/>
          <p:cNvSpPr/>
          <p:nvPr/>
        </p:nvSpPr>
        <p:spPr>
          <a:xfrm>
            <a:off x="777240" y="2606040"/>
            <a:ext cx="3291840" cy="594360"/>
          </a:xfrm>
          <a:prstGeom prst="rect">
            <a:avLst/>
          </a:prstGeom>
          <a:noFill/>
          <a:ln/>
        </p:spPr>
        <p:txBody>
          <a:bodyPr wrap="square" lIns="0" tIns="0" rIns="0" bIns="0" rtlCol="0" anchor="ctr"/>
          <a:lstStyle/>
          <a:p>
            <a:pPr indent="0" marL="0">
              <a:buNone/>
            </a:pPr>
            <a:r>
              <a:rPr lang="en-US" sz="1300" b="1" dirty="0">
                <a:solidFill>
                  <a:srgbClr val="222222"/>
                </a:solidFill>
                <a:latin typeface="Arial" pitchFamily="34" charset="0"/>
                <a:ea typeface="Arial" pitchFamily="34" charset="-122"/>
                <a:cs typeface="Arial" pitchFamily="34" charset="-120"/>
              </a:rPr>
              <a:t>E4   Assessed-value history</a:t>
            </a:r>
            <a:endParaRPr lang="en-US" sz="1300" dirty="0"/>
          </a:p>
        </p:txBody>
      </p:sp>
      <p:sp>
        <p:nvSpPr>
          <p:cNvPr id="14" name="Text 12"/>
          <p:cNvSpPr/>
          <p:nvPr/>
        </p:nvSpPr>
        <p:spPr>
          <a:xfrm>
            <a:off x="4206240" y="2606040"/>
            <a:ext cx="2377440" cy="594360"/>
          </a:xfrm>
          <a:prstGeom prst="rect">
            <a:avLst/>
          </a:prstGeom>
          <a:noFill/>
          <a:ln/>
        </p:spPr>
        <p:txBody>
          <a:bodyPr wrap="square" lIns="0" tIns="0" rIns="0" bIns="0" rtlCol="0" anchor="ctr"/>
          <a:lstStyle/>
          <a:p>
            <a:pPr indent="0" marL="0">
              <a:buNone/>
            </a:pPr>
            <a:r>
              <a:rPr lang="en-US" sz="1350" b="1" dirty="0">
                <a:solidFill>
                  <a:srgbClr val="222222"/>
                </a:solidFill>
                <a:latin typeface="Arial" pitchFamily="34" charset="0"/>
                <a:ea typeface="Arial" pitchFamily="34" charset="-122"/>
                <a:cs typeface="Arial" pitchFamily="34" charset="-120"/>
              </a:rPr>
              <a:t>5 years: 2022–2026</a:t>
            </a:r>
            <a:endParaRPr lang="en-US" sz="1350" dirty="0"/>
          </a:p>
        </p:txBody>
      </p:sp>
      <p:sp>
        <p:nvSpPr>
          <p:cNvPr id="15" name="Text 13"/>
          <p:cNvSpPr/>
          <p:nvPr/>
        </p:nvSpPr>
        <p:spPr>
          <a:xfrm>
            <a:off x="6766560" y="2606040"/>
            <a:ext cx="2286000" cy="594360"/>
          </a:xfrm>
          <a:prstGeom prst="rect">
            <a:avLst/>
          </a:prstGeom>
          <a:noFill/>
          <a:ln/>
        </p:spPr>
        <p:txBody>
          <a:bodyPr wrap="square" lIns="0" tIns="0" rIns="0" bIns="0" rtlCol="0" anchor="ctr"/>
          <a:lstStyle/>
          <a:p>
            <a:pPr indent="0" marL="0">
              <a:buNone/>
            </a:pPr>
            <a:r>
              <a:rPr lang="en-US" sz="1350" b="1" dirty="0">
                <a:solidFill>
                  <a:srgbClr val="C8102E"/>
                </a:solidFill>
                <a:latin typeface="Arial" pitchFamily="34" charset="0"/>
                <a:ea typeface="Arial" pitchFamily="34" charset="-122"/>
                <a:cs typeface="Arial" pitchFamily="34" charset="-120"/>
              </a:rPr>
              <a:t>one year missing</a:t>
            </a:r>
            <a:endParaRPr lang="en-US" sz="1350" dirty="0"/>
          </a:p>
        </p:txBody>
      </p:sp>
      <p:sp>
        <p:nvSpPr>
          <p:cNvPr id="16" name="Text 14"/>
          <p:cNvSpPr/>
          <p:nvPr/>
        </p:nvSpPr>
        <p:spPr>
          <a:xfrm>
            <a:off x="9144000" y="2606040"/>
            <a:ext cx="2286000" cy="594360"/>
          </a:xfrm>
          <a:prstGeom prst="rect">
            <a:avLst/>
          </a:prstGeom>
          <a:noFill/>
          <a:ln/>
        </p:spPr>
        <p:txBody>
          <a:bodyPr wrap="square" lIns="0" tIns="0" rIns="0" bIns="0" rtlCol="0" anchor="ctr"/>
          <a:lstStyle/>
          <a:p>
            <a:pPr indent="0" marL="0">
              <a:buNone/>
            </a:pPr>
            <a:r>
              <a:rPr lang="en-US" sz="1150" i="1" dirty="0">
                <a:solidFill>
                  <a:srgbClr val="808080"/>
                </a:solidFill>
                <a:latin typeface="Arial" pitchFamily="34" charset="0"/>
                <a:ea typeface="Arial" pitchFamily="34" charset="-122"/>
                <a:cs typeface="Arial" pitchFamily="34" charset="-120"/>
              </a:rPr>
              <a:t>every value shifted one column</a:t>
            </a:r>
            <a:endParaRPr lang="en-US" sz="1150" dirty="0"/>
          </a:p>
        </p:txBody>
      </p:sp>
      <p:sp>
        <p:nvSpPr>
          <p:cNvPr id="17" name="Shape 15"/>
          <p:cNvSpPr/>
          <p:nvPr/>
        </p:nvSpPr>
        <p:spPr>
          <a:xfrm>
            <a:off x="640080" y="3337560"/>
            <a:ext cx="10881360" cy="685800"/>
          </a:xfrm>
          <a:prstGeom prst="rect">
            <a:avLst/>
          </a:prstGeom>
          <a:solidFill>
            <a:srgbClr val="EFEFEF"/>
          </a:solidFill>
          <a:ln w="6350">
            <a:solidFill>
              <a:srgbClr val="BFBFBF"/>
            </a:solidFill>
            <a:prstDash val="solid"/>
          </a:ln>
        </p:spPr>
      </p:sp>
      <p:sp>
        <p:nvSpPr>
          <p:cNvPr id="18" name="Text 16"/>
          <p:cNvSpPr/>
          <p:nvPr/>
        </p:nvSpPr>
        <p:spPr>
          <a:xfrm>
            <a:off x="777240" y="3383280"/>
            <a:ext cx="3291840" cy="594360"/>
          </a:xfrm>
          <a:prstGeom prst="rect">
            <a:avLst/>
          </a:prstGeom>
          <a:noFill/>
          <a:ln/>
        </p:spPr>
        <p:txBody>
          <a:bodyPr wrap="square" lIns="0" tIns="0" rIns="0" bIns="0" rtlCol="0" anchor="ctr"/>
          <a:lstStyle/>
          <a:p>
            <a:pPr indent="0" marL="0">
              <a:buNone/>
            </a:pPr>
            <a:r>
              <a:rPr lang="en-US" sz="1300" b="1" dirty="0">
                <a:solidFill>
                  <a:srgbClr val="222222"/>
                </a:solidFill>
                <a:latin typeface="Arial" pitchFamily="34" charset="0"/>
                <a:ea typeface="Arial" pitchFamily="34" charset="-122"/>
                <a:cs typeface="Arial" pitchFamily="34" charset="-120"/>
              </a:rPr>
              <a:t>E5   MADS reference year</a:t>
            </a:r>
            <a:endParaRPr lang="en-US" sz="1300" dirty="0"/>
          </a:p>
        </p:txBody>
      </p:sp>
      <p:sp>
        <p:nvSpPr>
          <p:cNvPr id="19" name="Text 17"/>
          <p:cNvSpPr/>
          <p:nvPr/>
        </p:nvSpPr>
        <p:spPr>
          <a:xfrm>
            <a:off x="4206240" y="3383280"/>
            <a:ext cx="2377440" cy="594360"/>
          </a:xfrm>
          <a:prstGeom prst="rect">
            <a:avLst/>
          </a:prstGeom>
          <a:noFill/>
          <a:ln/>
        </p:spPr>
        <p:txBody>
          <a:bodyPr wrap="square" lIns="0" tIns="0" rIns="0" bIns="0" rtlCol="0" anchor="ctr"/>
          <a:lstStyle/>
          <a:p>
            <a:pPr indent="0" marL="0">
              <a:buNone/>
            </a:pPr>
            <a:r>
              <a:rPr lang="en-US" sz="1350" b="1" dirty="0">
                <a:solidFill>
                  <a:srgbClr val="222222"/>
                </a:solidFill>
                <a:latin typeface="Arial" pitchFamily="34" charset="0"/>
                <a:ea typeface="Arial" pitchFamily="34" charset="-122"/>
                <a:cs typeface="Arial" pitchFamily="34" charset="-120"/>
              </a:rPr>
              <a:t>2038</a:t>
            </a:r>
            <a:endParaRPr lang="en-US" sz="1350" dirty="0"/>
          </a:p>
        </p:txBody>
      </p:sp>
      <p:sp>
        <p:nvSpPr>
          <p:cNvPr id="20" name="Text 18"/>
          <p:cNvSpPr/>
          <p:nvPr/>
        </p:nvSpPr>
        <p:spPr>
          <a:xfrm>
            <a:off x="6766560" y="3383280"/>
            <a:ext cx="2286000" cy="594360"/>
          </a:xfrm>
          <a:prstGeom prst="rect">
            <a:avLst/>
          </a:prstGeom>
          <a:noFill/>
          <a:ln/>
        </p:spPr>
        <p:txBody>
          <a:bodyPr wrap="square" lIns="0" tIns="0" rIns="0" bIns="0" rtlCol="0" anchor="ctr"/>
          <a:lstStyle/>
          <a:p>
            <a:pPr indent="0" marL="0">
              <a:buNone/>
            </a:pPr>
            <a:r>
              <a:rPr lang="en-US" sz="1350" b="1" dirty="0">
                <a:solidFill>
                  <a:srgbClr val="C8102E"/>
                </a:solidFill>
                <a:latin typeface="Arial" pitchFamily="34" charset="0"/>
                <a:ea typeface="Arial" pitchFamily="34" charset="-122"/>
                <a:cs typeface="Arial" pitchFamily="34" charset="-120"/>
              </a:rPr>
              <a:t>2035</a:t>
            </a:r>
            <a:endParaRPr lang="en-US" sz="1350" dirty="0"/>
          </a:p>
        </p:txBody>
      </p:sp>
      <p:sp>
        <p:nvSpPr>
          <p:cNvPr id="21" name="Text 19"/>
          <p:cNvSpPr/>
          <p:nvPr/>
        </p:nvSpPr>
        <p:spPr>
          <a:xfrm>
            <a:off x="9144000" y="3383280"/>
            <a:ext cx="2286000" cy="594360"/>
          </a:xfrm>
          <a:prstGeom prst="rect">
            <a:avLst/>
          </a:prstGeom>
          <a:noFill/>
          <a:ln/>
        </p:spPr>
        <p:txBody>
          <a:bodyPr wrap="square" lIns="0" tIns="0" rIns="0" bIns="0" rtlCol="0" anchor="ctr"/>
          <a:lstStyle/>
          <a:p>
            <a:pPr indent="0" marL="0">
              <a:buNone/>
            </a:pPr>
            <a:r>
              <a:rPr lang="en-US" sz="1150" i="1" dirty="0">
                <a:solidFill>
                  <a:srgbClr val="808080"/>
                </a:solidFill>
                <a:latin typeface="Arial" pitchFamily="34" charset="0"/>
                <a:ea typeface="Arial" pitchFamily="34" charset="-122"/>
                <a:cs typeface="Arial" pitchFamily="34" charset="-120"/>
              </a:rPr>
              <a:t>not even in the official findings</a:t>
            </a:r>
            <a:endParaRPr lang="en-US" sz="1150" dirty="0"/>
          </a:p>
        </p:txBody>
      </p:sp>
      <p:sp>
        <p:nvSpPr>
          <p:cNvPr id="22" name="Text 20"/>
          <p:cNvSpPr/>
          <p:nvPr/>
        </p:nvSpPr>
        <p:spPr>
          <a:xfrm>
            <a:off x="640080" y="4206240"/>
            <a:ext cx="10881360" cy="1463040"/>
          </a:xfrm>
          <a:prstGeom prst="rect">
            <a:avLst/>
          </a:prstGeom>
          <a:noFill/>
          <a:ln/>
        </p:spPr>
        <p:txBody>
          <a:bodyPr wrap="square" lIns="0" tIns="0" rIns="0" bIns="0" rtlCol="0" anchor="t"/>
          <a:lstStyle/>
          <a:p>
            <a:pPr marL="177800" indent="-177800">
              <a:spcAft>
                <a:spcPts val="1200"/>
              </a:spcAft>
              <a:buSzPct val="100000"/>
              <a:buChar char="–"/>
            </a:pPr>
            <a:r>
              <a:rPr lang="en-US" sz="1500" dirty="0">
                <a:solidFill>
                  <a:srgbClr val="333333"/>
                </a:solidFill>
                <a:latin typeface="Arial" pitchFamily="34" charset="0"/>
                <a:ea typeface="Arial" pitchFamily="34" charset="-122"/>
                <a:cs typeface="Arial" pitchFamily="34" charset="-120"/>
              </a:rPr>
              <a:t>All five (E1–E5) found by human reviewers — our answer key.</a:t>
            </a:r>
            <a:endParaRPr lang="en-US" sz="1500" dirty="0"/>
          </a:p>
          <a:p>
            <a:pPr marL="177800" indent="-177800">
              <a:spcAft>
                <a:spcPts val="1200"/>
              </a:spcAft>
              <a:buSzPct val="100000"/>
              <a:buChar char="–"/>
            </a:pPr>
            <a:r>
              <a:rPr lang="en-US" sz="1500" b="1" dirty="0">
                <a:solidFill>
                  <a:srgbClr val="333333"/>
                </a:solidFill>
                <a:latin typeface="Arial" pitchFamily="34" charset="0"/>
                <a:ea typeface="Arial" pitchFamily="34" charset="-122"/>
                <a:cs typeface="Arial" pitchFamily="34" charset="-120"/>
              </a:rPr>
              <a:t>The model never sees the answer key — grading only.</a:t>
            </a:r>
            <a:endParaRPr lang="en-US" sz="1500" dirty="0"/>
          </a:p>
        </p:txBody>
      </p:sp>
      <p:sp>
        <p:nvSpPr>
          <p:cNvPr id="23" name="Text 21"/>
          <p:cNvSpPr/>
          <p:nvPr/>
        </p:nvSpPr>
        <p:spPr>
          <a:xfrm>
            <a:off x="11430000" y="6492240"/>
            <a:ext cx="365760" cy="274320"/>
          </a:xfrm>
          <a:prstGeom prst="rect">
            <a:avLst/>
          </a:prstGeom>
          <a:noFill/>
          <a:ln/>
        </p:spPr>
        <p:txBody>
          <a:bodyPr wrap="square" lIns="0" tIns="0" rIns="0" bIns="0" rtlCol="0" anchor="ctr"/>
          <a:lstStyle/>
          <a:p>
            <a:pPr algn="r" indent="0" marL="0">
              <a:buNone/>
            </a:pPr>
            <a:r>
              <a:rPr lang="en-US" sz="900" dirty="0">
                <a:solidFill>
                  <a:srgbClr val="808080"/>
                </a:solidFill>
                <a:latin typeface="Arial" pitchFamily="34" charset="0"/>
                <a:ea typeface="Arial" pitchFamily="34" charset="-122"/>
                <a:cs typeface="Arial" pitchFamily="34" charset="-120"/>
              </a:rPr>
              <a:t>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0040"/>
            <a:ext cx="10908792" cy="502920"/>
          </a:xfrm>
          <a:prstGeom prst="rect">
            <a:avLst/>
          </a:prstGeom>
          <a:noFill/>
          <a:ln/>
        </p:spPr>
        <p:txBody>
          <a:bodyPr wrap="square" lIns="0" tIns="0" rIns="0" bIns="0" rtlCol="0" anchor="ctr"/>
          <a:lstStyle/>
          <a:p>
            <a:pPr indent="0" marL="0">
              <a:buNone/>
            </a:pPr>
            <a:r>
              <a:rPr lang="en-US" sz="2400" b="1" dirty="0">
                <a:solidFill>
                  <a:srgbClr val="222222"/>
                </a:solidFill>
                <a:latin typeface="Arial" pitchFamily="34" charset="0"/>
                <a:ea typeface="Arial" pitchFamily="34" charset="-122"/>
                <a:cs typeface="Arial" pitchFamily="34" charset="-120"/>
              </a:rPr>
              <a:t>Method A: one prompt, everything at once</a:t>
            </a:r>
            <a:endParaRPr lang="en-US" sz="2400" dirty="0"/>
          </a:p>
        </p:txBody>
      </p:sp>
      <p:sp>
        <p:nvSpPr>
          <p:cNvPr id="3" name="Shape 1"/>
          <p:cNvSpPr/>
          <p:nvPr/>
        </p:nvSpPr>
        <p:spPr>
          <a:xfrm>
            <a:off x="640080" y="1325880"/>
            <a:ext cx="10881360" cy="2103120"/>
          </a:xfrm>
          <a:prstGeom prst="rect">
            <a:avLst/>
          </a:prstGeom>
          <a:solidFill>
            <a:srgbClr val="F7F7F7"/>
          </a:solidFill>
          <a:ln w="12700">
            <a:solidFill>
              <a:srgbClr val="BFBFBF"/>
            </a:solidFill>
            <a:prstDash val="solid"/>
          </a:ln>
        </p:spPr>
      </p:sp>
      <p:sp>
        <p:nvSpPr>
          <p:cNvPr id="4" name="Text 2"/>
          <p:cNvSpPr/>
          <p:nvPr/>
        </p:nvSpPr>
        <p:spPr>
          <a:xfrm>
            <a:off x="914400" y="1508760"/>
            <a:ext cx="10332720" cy="1737360"/>
          </a:xfrm>
          <a:prstGeom prst="rect">
            <a:avLst/>
          </a:prstGeom>
          <a:noFill/>
          <a:ln/>
        </p:spPr>
        <p:txBody>
          <a:bodyPr wrap="square" lIns="0" tIns="0" rIns="0" bIns="0" rtlCol="0" anchor="ctr"/>
          <a:lstStyle/>
          <a:p>
            <a:pPr indent="0" marL="0">
              <a:buNone/>
            </a:pPr>
            <a:r>
              <a:rPr lang="en-US" sz="1250" dirty="0">
                <a:solidFill>
                  <a:srgbClr val="222222"/>
                </a:solidFill>
                <a:latin typeface="Courier New" pitchFamily="34" charset="0"/>
                <a:ea typeface="Courier New" pitchFamily="34" charset="-122"/>
                <a:cs typeface="Courier New" pitchFamily="34" charset="-120"/>
              </a:rPr>
              <a:t>"You are reviewing a credit rating file. The uploaded documents include the internal rating documents (the RAMP and the MUD RSR model output), the published rating article, and the rating criteria for the district. Find all inconsistencies between the internal documents and the published rating article. List each inconsistency, showing the value from each document."</a:t>
            </a:r>
            <a:endParaRPr lang="en-US" sz="1250" dirty="0"/>
          </a:p>
        </p:txBody>
      </p:sp>
      <p:sp>
        <p:nvSpPr>
          <p:cNvPr id="5" name="Text 3"/>
          <p:cNvSpPr/>
          <p:nvPr/>
        </p:nvSpPr>
        <p:spPr>
          <a:xfrm>
            <a:off x="640080" y="3749040"/>
            <a:ext cx="10881360" cy="2011680"/>
          </a:xfrm>
          <a:prstGeom prst="rect">
            <a:avLst/>
          </a:prstGeom>
          <a:noFill/>
          <a:ln/>
        </p:spPr>
        <p:txBody>
          <a:bodyPr wrap="square" lIns="0" tIns="0" rIns="0" bIns="0" rtlCol="0" anchor="t"/>
          <a:lstStyle/>
          <a:p>
            <a:pPr marL="177800" indent="-177800">
              <a:spcAft>
                <a:spcPts val="1200"/>
              </a:spcAft>
              <a:buSzPct val="100000"/>
              <a:buChar char="–"/>
            </a:pPr>
            <a:r>
              <a:rPr lang="en-US" sz="1500" dirty="0">
                <a:solidFill>
                  <a:srgbClr val="333333"/>
                </a:solidFill>
                <a:latin typeface="Arial" pitchFamily="34" charset="0"/>
                <a:ea typeface="Arial" pitchFamily="34" charset="-122"/>
                <a:cs typeface="Arial" pitchFamily="34" charset="-120"/>
              </a:rPr>
              <a:t>One message, all four documents.</a:t>
            </a:r>
            <a:endParaRPr lang="en-US" sz="1500" dirty="0"/>
          </a:p>
          <a:p>
            <a:pPr marL="177800" indent="-177800">
              <a:spcAft>
                <a:spcPts val="1200"/>
              </a:spcAft>
              <a:buSzPct val="100000"/>
              <a:buChar char="–"/>
            </a:pPr>
            <a:r>
              <a:rPr lang="en-US" sz="1500" dirty="0">
                <a:solidFill>
                  <a:srgbClr val="333333"/>
                </a:solidFill>
                <a:latin typeface="Arial" pitchFamily="34" charset="0"/>
                <a:ea typeface="Arial" pitchFamily="34" charset="-122"/>
                <a:cs typeface="Arial" pitchFamily="34" charset="-120"/>
              </a:rPr>
              <a:t>A reasonable, complete prompt — not a straw man.</a:t>
            </a:r>
            <a:endParaRPr lang="en-US" sz="1500" dirty="0"/>
          </a:p>
          <a:p>
            <a:pPr marL="177800" indent="-177800">
              <a:spcAft>
                <a:spcPts val="1200"/>
              </a:spcAft>
              <a:buSzPct val="100000"/>
              <a:buChar char="–"/>
            </a:pPr>
            <a:r>
              <a:rPr lang="en-US" sz="1500" dirty="0">
                <a:solidFill>
                  <a:srgbClr val="333333"/>
                </a:solidFill>
                <a:latin typeface="Arial" pitchFamily="34" charset="0"/>
                <a:ea typeface="Arial" pitchFamily="34" charset="-122"/>
                <a:cs typeface="Arial" pitchFamily="34" charset="-120"/>
              </a:rPr>
              <a:t>Ran 3 times.</a:t>
            </a:r>
            <a:endParaRPr lang="en-US" sz="1500" dirty="0"/>
          </a:p>
        </p:txBody>
      </p:sp>
      <p:sp>
        <p:nvSpPr>
          <p:cNvPr id="6" name="Text 4"/>
          <p:cNvSpPr/>
          <p:nvPr/>
        </p:nvSpPr>
        <p:spPr>
          <a:xfrm>
            <a:off x="11430000" y="6492240"/>
            <a:ext cx="365760" cy="274320"/>
          </a:xfrm>
          <a:prstGeom prst="rect">
            <a:avLst/>
          </a:prstGeom>
          <a:noFill/>
          <a:ln/>
        </p:spPr>
        <p:txBody>
          <a:bodyPr wrap="square" lIns="0" tIns="0" rIns="0" bIns="0" rtlCol="0" anchor="ctr"/>
          <a:lstStyle/>
          <a:p>
            <a:pPr algn="r" indent="0" marL="0">
              <a:buNone/>
            </a:pPr>
            <a:r>
              <a:rPr lang="en-US" sz="900" dirty="0">
                <a:solidFill>
                  <a:srgbClr val="808080"/>
                </a:solidFill>
                <a:latin typeface="Arial" pitchFamily="34" charset="0"/>
                <a:ea typeface="Arial" pitchFamily="34" charset="-122"/>
                <a:cs typeface="Arial" pitchFamily="34" charset="-120"/>
              </a:rPr>
              <a:t>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0040"/>
            <a:ext cx="10908792" cy="502920"/>
          </a:xfrm>
          <a:prstGeom prst="rect">
            <a:avLst/>
          </a:prstGeom>
          <a:noFill/>
          <a:ln/>
        </p:spPr>
        <p:txBody>
          <a:bodyPr wrap="square" lIns="0" tIns="0" rIns="0" bIns="0" rtlCol="0" anchor="ctr"/>
          <a:lstStyle/>
          <a:p>
            <a:pPr indent="0" marL="0">
              <a:buNone/>
            </a:pPr>
            <a:r>
              <a:rPr lang="en-US" sz="2400" b="1" dirty="0">
                <a:solidFill>
                  <a:srgbClr val="222222"/>
                </a:solidFill>
                <a:latin typeface="Arial" pitchFamily="34" charset="0"/>
                <a:ea typeface="Arial" pitchFamily="34" charset="-122"/>
                <a:cs typeface="Arial" pitchFamily="34" charset="-120"/>
              </a:rPr>
              <a:t>Method A results: three runs, zero real errors</a:t>
            </a:r>
            <a:endParaRPr lang="en-US" sz="2400" dirty="0"/>
          </a:p>
        </p:txBody>
      </p:sp>
      <p:sp>
        <p:nvSpPr>
          <p:cNvPr id="3" name="Text 1"/>
          <p:cNvSpPr/>
          <p:nvPr/>
        </p:nvSpPr>
        <p:spPr>
          <a:xfrm>
            <a:off x="640080" y="1280160"/>
            <a:ext cx="6949440" cy="4389120"/>
          </a:xfrm>
          <a:prstGeom prst="rect">
            <a:avLst/>
          </a:prstGeom>
          <a:noFill/>
          <a:ln/>
        </p:spPr>
        <p:txBody>
          <a:bodyPr wrap="square" lIns="0" tIns="0" rIns="0" bIns="0" rtlCol="0" anchor="t"/>
          <a:lstStyle/>
          <a:p>
            <a:pPr marL="177800" indent="-177800">
              <a:spcAft>
                <a:spcPts val="1500"/>
              </a:spcAft>
              <a:buSzPct val="100000"/>
              <a:buChar char="–"/>
            </a:pPr>
            <a:r>
              <a:rPr lang="en-US" sz="1500" b="1" dirty="0">
                <a:solidFill>
                  <a:srgbClr val="C8102E"/>
                </a:solidFill>
                <a:latin typeface="Arial" pitchFamily="34" charset="0"/>
                <a:ea typeface="Arial" pitchFamily="34" charset="-122"/>
                <a:cs typeface="Arial" pitchFamily="34" charset="-120"/>
              </a:rPr>
              <a:t>Real errors found: 0 of 5  (across all three runs)</a:t>
            </a:r>
            <a:endParaRPr lang="en-US" sz="1500" dirty="0"/>
          </a:p>
          <a:p>
            <a:pPr marL="177800" indent="-177800">
              <a:spcAft>
                <a:spcPts val="1500"/>
              </a:spcAft>
              <a:buSzPct val="100000"/>
              <a:buChar char="–"/>
            </a:pPr>
            <a:r>
              <a:rPr lang="en-US" sz="1500" dirty="0">
                <a:solidFill>
                  <a:srgbClr val="333333"/>
                </a:solidFill>
                <a:latin typeface="Arial" pitchFamily="34" charset="0"/>
                <a:ea typeface="Arial" pitchFamily="34" charset="-122"/>
                <a:cs typeface="Arial" pitchFamily="34" charset="-120"/>
              </a:rPr>
              <a:t>False alarms: 4 per run — and each run gave a different answer</a:t>
            </a:r>
            <a:endParaRPr lang="en-US" sz="1500" dirty="0"/>
          </a:p>
          <a:p>
            <a:pPr marL="177800" indent="-177800">
              <a:spcAft>
                <a:spcPts val="1500"/>
              </a:spcAft>
              <a:buSzPct val="100000"/>
              <a:buChar char="–"/>
            </a:pPr>
            <a:r>
              <a:rPr lang="en-US" sz="1500" dirty="0">
                <a:solidFill>
                  <a:srgbClr val="333333"/>
                </a:solidFill>
                <a:latin typeface="Arial" pitchFamily="34" charset="0"/>
                <a:ea typeface="Arial" pitchFamily="34" charset="-122"/>
                <a:cs typeface="Arial" pitchFamily="34" charset="-120"/>
              </a:rPr>
              <a:t>Typical false alarm: “6.88 vs 68.82 — inconsistent!” Same number, different units ($ per $100 of AV vs mills; 1 mill = $0.10 per $100). The real contradiction next to it — E1/E2, “Very Low” vs “High” — never mentioned.</a:t>
            </a:r>
            <a:endParaRPr lang="en-US" sz="1500" dirty="0"/>
          </a:p>
          <a:p>
            <a:pPr marL="177800" indent="-177800">
              <a:spcAft>
                <a:spcPts val="1500"/>
              </a:spcAft>
              <a:buSzPct val="100000"/>
              <a:buChar char="–"/>
            </a:pPr>
            <a:r>
              <a:rPr lang="en-US" sz="1500" b="1" dirty="0">
                <a:solidFill>
                  <a:srgbClr val="333333"/>
                </a:solidFill>
                <a:latin typeface="Arial" pitchFamily="34" charset="0"/>
                <a:ea typeface="Arial" pitchFamily="34" charset="-122"/>
                <a:cs typeface="Arial" pitchFamily="34" charset="-120"/>
              </a:rPr>
              <a:t>Fake differences reported; real ones missed; different every run.</a:t>
            </a:r>
            <a:endParaRPr lang="en-US" sz="1500" dirty="0"/>
          </a:p>
        </p:txBody>
      </p:sp>
      <p:sp>
        <p:nvSpPr>
          <p:cNvPr id="4" name="Shape 2"/>
          <p:cNvSpPr/>
          <p:nvPr/>
        </p:nvSpPr>
        <p:spPr>
          <a:xfrm>
            <a:off x="7955280" y="1325880"/>
            <a:ext cx="3566160" cy="4206240"/>
          </a:xfrm>
          <a:prstGeom prst="rect">
            <a:avLst/>
          </a:prstGeom>
          <a:solidFill>
            <a:srgbClr val="FAFAFA"/>
          </a:solidFill>
          <a:ln w="12700">
            <a:solidFill>
              <a:srgbClr val="BFBFBF"/>
            </a:solidFill>
            <a:prstDash val="dash"/>
          </a:ln>
        </p:spPr>
      </p:sp>
      <p:sp>
        <p:nvSpPr>
          <p:cNvPr id="5" name="Text 3"/>
          <p:cNvSpPr/>
          <p:nvPr/>
        </p:nvSpPr>
        <p:spPr>
          <a:xfrm>
            <a:off x="8138160" y="3200400"/>
            <a:ext cx="3200400" cy="457200"/>
          </a:xfrm>
          <a:prstGeom prst="rect">
            <a:avLst/>
          </a:prstGeom>
          <a:noFill/>
          <a:ln/>
        </p:spPr>
        <p:txBody>
          <a:bodyPr wrap="square" lIns="0" tIns="0" rIns="0" bIns="0" rtlCol="0" anchor="ctr"/>
          <a:lstStyle/>
          <a:p>
            <a:pPr algn="ctr" indent="0" marL="0">
              <a:buNone/>
            </a:pPr>
            <a:r>
              <a:rPr lang="en-US" sz="1100" i="1" dirty="0">
                <a:solidFill>
                  <a:srgbClr val="808080"/>
                </a:solidFill>
                <a:latin typeface="Arial" pitchFamily="34" charset="0"/>
                <a:ea typeface="Arial" pitchFamily="34" charset="-122"/>
                <a:cs typeface="Arial" pitchFamily="34" charset="-120"/>
              </a:rPr>
              <a:t>[ screenshot: Method A output, run 1 ]</a:t>
            </a:r>
            <a:endParaRPr lang="en-US" sz="1100" dirty="0"/>
          </a:p>
        </p:txBody>
      </p:sp>
      <p:sp>
        <p:nvSpPr>
          <p:cNvPr id="6" name="Text 4"/>
          <p:cNvSpPr/>
          <p:nvPr/>
        </p:nvSpPr>
        <p:spPr>
          <a:xfrm>
            <a:off x="11430000" y="6492240"/>
            <a:ext cx="365760" cy="274320"/>
          </a:xfrm>
          <a:prstGeom prst="rect">
            <a:avLst/>
          </a:prstGeom>
          <a:noFill/>
          <a:ln/>
        </p:spPr>
        <p:txBody>
          <a:bodyPr wrap="square" lIns="0" tIns="0" rIns="0" bIns="0" rtlCol="0" anchor="ctr"/>
          <a:lstStyle/>
          <a:p>
            <a:pPr algn="r" indent="0" marL="0">
              <a:buNone/>
            </a:pPr>
            <a:r>
              <a:rPr lang="en-US" sz="900" dirty="0">
                <a:solidFill>
                  <a:srgbClr val="808080"/>
                </a:solidFill>
                <a:latin typeface="Arial" pitchFamily="34" charset="0"/>
                <a:ea typeface="Arial" pitchFamily="34" charset="-122"/>
                <a:cs typeface="Arial" pitchFamily="34" charset="-120"/>
              </a:rPr>
              <a:t>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0040"/>
            <a:ext cx="10908792" cy="502920"/>
          </a:xfrm>
          <a:prstGeom prst="rect">
            <a:avLst/>
          </a:prstGeom>
          <a:noFill/>
          <a:ln/>
        </p:spPr>
        <p:txBody>
          <a:bodyPr wrap="square" lIns="0" tIns="0" rIns="0" bIns="0" rtlCol="0" anchor="ctr"/>
          <a:lstStyle/>
          <a:p>
            <a:pPr indent="0" marL="0">
              <a:buNone/>
            </a:pPr>
            <a:r>
              <a:rPr lang="en-US" sz="2400" b="1" dirty="0">
                <a:solidFill>
                  <a:srgbClr val="222222"/>
                </a:solidFill>
                <a:latin typeface="Arial" pitchFamily="34" charset="0"/>
                <a:ea typeface="Arial" pitchFamily="34" charset="-122"/>
                <a:cs typeface="Arial" pitchFamily="34" charset="-120"/>
              </a:rPr>
              <a:t>Why the one-shot fails here</a:t>
            </a:r>
            <a:endParaRPr lang="en-US" sz="2400" dirty="0"/>
          </a:p>
        </p:txBody>
      </p:sp>
      <p:sp>
        <p:nvSpPr>
          <p:cNvPr id="3" name="Text 1"/>
          <p:cNvSpPr/>
          <p:nvPr/>
        </p:nvSpPr>
        <p:spPr>
          <a:xfrm>
            <a:off x="640080" y="1280160"/>
            <a:ext cx="10881360" cy="4389120"/>
          </a:xfrm>
          <a:prstGeom prst="rect">
            <a:avLst/>
          </a:prstGeom>
          <a:noFill/>
          <a:ln/>
        </p:spPr>
        <p:txBody>
          <a:bodyPr wrap="square" lIns="0" tIns="0" rIns="0" bIns="0" rtlCol="0" anchor="t"/>
          <a:lstStyle/>
          <a:p>
            <a:pPr marL="177800" indent="-177800">
              <a:spcAft>
                <a:spcPts val="1500"/>
              </a:spcAft>
              <a:buSzPct val="100000"/>
              <a:buChar char="–"/>
            </a:pPr>
            <a:r>
              <a:rPr lang="en-US" sz="1500" dirty="0">
                <a:solidFill>
                  <a:srgbClr val="333333"/>
                </a:solidFill>
                <a:latin typeface="Arial" pitchFamily="34" charset="0"/>
                <a:ea typeface="Arial" pitchFamily="34" charset="-122"/>
                <a:cs typeface="Arial" pitchFamily="34" charset="-120"/>
              </a:rPr>
              <a:t>Retrieval by design — the model sees a handful of retrieved passages, not whole files; contradicting cells rarely arrive together.</a:t>
            </a:r>
            <a:endParaRPr lang="en-US" sz="1500" dirty="0"/>
          </a:p>
          <a:p>
            <a:pPr marL="177800" indent="-177800">
              <a:spcAft>
                <a:spcPts val="1500"/>
              </a:spcAft>
              <a:buSzPct val="100000"/>
              <a:buChar char="–"/>
            </a:pPr>
            <a:r>
              <a:rPr lang="en-US" sz="1500" dirty="0">
                <a:solidFill>
                  <a:srgbClr val="333333"/>
                </a:solidFill>
                <a:latin typeface="Arial" pitchFamily="34" charset="0"/>
                <a:ea typeface="Arial" pitchFamily="34" charset="-122"/>
                <a:cs typeface="Arial" pitchFamily="34" charset="-120"/>
              </a:rPr>
              <a:t>No procedure — “find all inconsistencies” gives no structure; each run improvises and misses differently.</a:t>
            </a:r>
            <a:endParaRPr lang="en-US" sz="1500" dirty="0"/>
          </a:p>
          <a:p>
            <a:pPr marL="177800" indent="-177800">
              <a:spcAft>
                <a:spcPts val="1500"/>
              </a:spcAft>
              <a:buSzPct val="100000"/>
              <a:buChar char="–"/>
            </a:pPr>
            <a:r>
              <a:rPr lang="en-US" sz="1500" dirty="0">
                <a:solidFill>
                  <a:srgbClr val="333333"/>
                </a:solidFill>
                <a:latin typeface="Arial" pitchFamily="34" charset="0"/>
                <a:ea typeface="Arial" pitchFamily="34" charset="-122"/>
                <a:cs typeface="Arial" pitchFamily="34" charset="-120"/>
              </a:rPr>
              <a:t>Cross-document matching — different labels + different units in one prompt: too many reasoning hops for a small model.</a:t>
            </a:r>
            <a:endParaRPr lang="en-US" sz="1500" dirty="0"/>
          </a:p>
          <a:p>
            <a:pPr marL="177800" indent="-177800">
              <a:spcAft>
                <a:spcPts val="1500"/>
              </a:spcAft>
              <a:buSzPct val="100000"/>
              <a:buChar char="–"/>
            </a:pPr>
            <a:r>
              <a:rPr lang="en-US" sz="1500" b="1" dirty="0">
                <a:solidFill>
                  <a:srgbClr val="333333"/>
                </a:solidFill>
                <a:latin typeface="Arial" pitchFamily="34" charset="0"/>
                <a:ea typeface="Arial" pitchFamily="34" charset="-122"/>
                <a:cs typeface="Arial" pitchFamily="34" charset="-120"/>
              </a:rPr>
              <a:t>But: on 10 small targeted questions, the same model scored 10/10, ~1 second each.</a:t>
            </a:r>
            <a:endParaRPr lang="en-US" sz="1500" dirty="0"/>
          </a:p>
          <a:p>
            <a:pPr marL="177800" indent="-177800">
              <a:spcAft>
                <a:spcPts val="1500"/>
              </a:spcAft>
              <a:buSzPct val="100000"/>
              <a:buChar char="–"/>
            </a:pPr>
            <a:r>
              <a:rPr lang="en-US" sz="1500" b="1" dirty="0">
                <a:solidFill>
                  <a:srgbClr val="C8102E"/>
                </a:solidFill>
                <a:latin typeface="Arial" pitchFamily="34" charset="0"/>
                <a:ea typeface="Arial" pitchFamily="34" charset="-122"/>
                <a:cs typeface="Arial" pitchFamily="34" charset="-120"/>
              </a:rPr>
              <a:t>The model is capable — the task structure is the problem.</a:t>
            </a:r>
            <a:endParaRPr lang="en-US" sz="1500" dirty="0"/>
          </a:p>
        </p:txBody>
      </p:sp>
      <p:sp>
        <p:nvSpPr>
          <p:cNvPr id="4" name="Text 2"/>
          <p:cNvSpPr/>
          <p:nvPr/>
        </p:nvSpPr>
        <p:spPr>
          <a:xfrm>
            <a:off x="11430000" y="6492240"/>
            <a:ext cx="365760" cy="274320"/>
          </a:xfrm>
          <a:prstGeom prst="rect">
            <a:avLst/>
          </a:prstGeom>
          <a:noFill/>
          <a:ln/>
        </p:spPr>
        <p:txBody>
          <a:bodyPr wrap="square" lIns="0" tIns="0" rIns="0" bIns="0" rtlCol="0" anchor="ctr"/>
          <a:lstStyle/>
          <a:p>
            <a:pPr algn="r" indent="0" marL="0">
              <a:buNone/>
            </a:pPr>
            <a:r>
              <a:rPr lang="en-US" sz="900" dirty="0">
                <a:solidFill>
                  <a:srgbClr val="808080"/>
                </a:solidFill>
                <a:latin typeface="Arial" pitchFamily="34" charset="0"/>
                <a:ea typeface="Arial" pitchFamily="34" charset="-122"/>
                <a:cs typeface="Arial" pitchFamily="34" charset="-120"/>
              </a:rPr>
              <a:t>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0040"/>
            <a:ext cx="10908792" cy="502920"/>
          </a:xfrm>
          <a:prstGeom prst="rect">
            <a:avLst/>
          </a:prstGeom>
          <a:noFill/>
          <a:ln/>
        </p:spPr>
        <p:txBody>
          <a:bodyPr wrap="square" lIns="0" tIns="0" rIns="0" bIns="0" rtlCol="0" anchor="ctr"/>
          <a:lstStyle/>
          <a:p>
            <a:pPr indent="0" marL="0">
              <a:buNone/>
            </a:pPr>
            <a:r>
              <a:rPr lang="en-US" sz="2400" b="1" dirty="0">
                <a:solidFill>
                  <a:srgbClr val="222222"/>
                </a:solidFill>
                <a:latin typeface="Arial" pitchFamily="34" charset="0"/>
                <a:ea typeface="Arial" pitchFamily="34" charset="-122"/>
                <a:cs typeface="Arial" pitchFamily="34" charset="-120"/>
              </a:rPr>
              <a:t>The key step: first think about what we actually check</a:t>
            </a:r>
            <a:endParaRPr lang="en-US" sz="2400" dirty="0"/>
          </a:p>
        </p:txBody>
      </p:sp>
      <p:sp>
        <p:nvSpPr>
          <p:cNvPr id="3" name="Text 1"/>
          <p:cNvSpPr/>
          <p:nvPr/>
        </p:nvSpPr>
        <p:spPr>
          <a:xfrm>
            <a:off x="640080" y="1280160"/>
            <a:ext cx="10881360" cy="4389120"/>
          </a:xfrm>
          <a:prstGeom prst="rect">
            <a:avLst/>
          </a:prstGeom>
          <a:noFill/>
          <a:ln/>
        </p:spPr>
        <p:txBody>
          <a:bodyPr wrap="square" lIns="0" tIns="0" rIns="0" bIns="0" rtlCol="0" anchor="t"/>
          <a:lstStyle/>
          <a:p>
            <a:pPr marL="177800" indent="-177800">
              <a:spcAft>
                <a:spcPts val="1600"/>
              </a:spcAft>
              <a:buSzPct val="100000"/>
              <a:buChar char="–"/>
            </a:pPr>
            <a:r>
              <a:rPr lang="en-US" sz="1500" dirty="0">
                <a:solidFill>
                  <a:srgbClr val="333333"/>
                </a:solidFill>
                <a:latin typeface="Arial" pitchFamily="34" charset="0"/>
                <a:ea typeface="Arial" pitchFamily="34" charset="-122"/>
                <a:cs typeface="Arial" pitchFamily="34" charset="-120"/>
              </a:rPr>
              <a:t>What does a human reviewer actually do with these documents?</a:t>
            </a:r>
            <a:endParaRPr lang="en-US" sz="1500" dirty="0"/>
          </a:p>
          <a:p>
            <a:pPr marL="177800" indent="-177800">
              <a:spcAft>
                <a:spcPts val="1600"/>
              </a:spcAft>
              <a:buSzPct val="100000"/>
              <a:buChar char="–"/>
            </a:pPr>
            <a:r>
              <a:rPr lang="en-US" sz="1500" dirty="0">
                <a:solidFill>
                  <a:srgbClr val="333333"/>
                </a:solidFill>
                <a:latin typeface="Arial" pitchFamily="34" charset="0"/>
                <a:ea typeface="Arial" pitchFamily="34" charset="-122"/>
                <a:cs typeface="Arial" pitchFamily="34" charset="-120"/>
              </a:rPr>
              <a:t>(1) Pull each metric out of each document — value, unit, characterization.   (2) Put everything into the same units and formats.   (3) Compare, item by item — numbers, labels, dates, years.</a:t>
            </a:r>
            <a:endParaRPr lang="en-US" sz="1500" dirty="0"/>
          </a:p>
          <a:p>
            <a:pPr marL="177800" indent="-177800">
              <a:spcAft>
                <a:spcPts val="1600"/>
              </a:spcAft>
              <a:buSzPct val="100000"/>
              <a:buChar char="–"/>
            </a:pPr>
            <a:r>
              <a:rPr lang="en-US" sz="1500" dirty="0">
                <a:solidFill>
                  <a:srgbClr val="333333"/>
                </a:solidFill>
                <a:latin typeface="Arial" pitchFamily="34" charset="0"/>
                <a:ea typeface="Arial" pitchFamily="34" charset="-122"/>
                <a:cs typeface="Arial" pitchFamily="34" charset="-120"/>
              </a:rPr>
              <a:t>That list IS the pipeline.</a:t>
            </a:r>
            <a:endParaRPr lang="en-US" sz="1500" dirty="0"/>
          </a:p>
          <a:p>
            <a:pPr marL="177800" indent="-177800">
              <a:spcAft>
                <a:spcPts val="1600"/>
              </a:spcAft>
              <a:buSzPct val="100000"/>
              <a:buChar char="–"/>
            </a:pPr>
            <a:r>
              <a:rPr lang="en-US" sz="1500" b="1" dirty="0">
                <a:solidFill>
                  <a:srgbClr val="333333"/>
                </a:solidFill>
                <a:latin typeface="Arial" pitchFamily="34" charset="0"/>
                <a:ea typeface="Arial" pitchFamily="34" charset="-122"/>
                <a:cs typeface="Arial" pitchFamily="34" charset="-120"/>
              </a:rPr>
              <a:t>No fancy technique — the checking procedure written down explicitly.</a:t>
            </a:r>
            <a:endParaRPr lang="en-US" sz="1500" dirty="0"/>
          </a:p>
          <a:p>
            <a:pPr marL="177800" indent="-177800">
              <a:spcAft>
                <a:spcPts val="1600"/>
              </a:spcAft>
              <a:buSzPct val="100000"/>
              <a:buChar char="–"/>
            </a:pPr>
            <a:r>
              <a:rPr lang="en-US" sz="1500" b="1" dirty="0">
                <a:solidFill>
                  <a:srgbClr val="333333"/>
                </a:solidFill>
                <a:latin typeface="Arial" pitchFamily="34" charset="0"/>
                <a:ea typeface="Arial" pitchFamily="34" charset="-122"/>
                <a:cs typeface="Arial" pitchFamily="34" charset="-120"/>
              </a:rPr>
              <a:t>Like briefing a brand-new intern: full context, clear instructions, simple tasks.</a:t>
            </a:r>
            <a:endParaRPr lang="en-US" sz="1500" dirty="0"/>
          </a:p>
        </p:txBody>
      </p:sp>
      <p:sp>
        <p:nvSpPr>
          <p:cNvPr id="4" name="Text 2"/>
          <p:cNvSpPr/>
          <p:nvPr/>
        </p:nvSpPr>
        <p:spPr>
          <a:xfrm>
            <a:off x="11430000" y="6492240"/>
            <a:ext cx="365760" cy="274320"/>
          </a:xfrm>
          <a:prstGeom prst="rect">
            <a:avLst/>
          </a:prstGeom>
          <a:noFill/>
          <a:ln/>
        </p:spPr>
        <p:txBody>
          <a:bodyPr wrap="square" lIns="0" tIns="0" rIns="0" bIns="0" rtlCol="0" anchor="ctr"/>
          <a:lstStyle/>
          <a:p>
            <a:pPr algn="r" indent="0" marL="0">
              <a:buNone/>
            </a:pPr>
            <a:r>
              <a:rPr lang="en-US" sz="900" dirty="0">
                <a:solidFill>
                  <a:srgbClr val="808080"/>
                </a:solidFill>
                <a:latin typeface="Arial" pitchFamily="34" charset="0"/>
                <a:ea typeface="Arial" pitchFamily="34" charset="-122"/>
                <a:cs typeface="Arial" pitchFamily="34" charset="-120"/>
              </a:rPr>
              <a:t>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0040"/>
            <a:ext cx="10908792" cy="502920"/>
          </a:xfrm>
          <a:prstGeom prst="rect">
            <a:avLst/>
          </a:prstGeom>
          <a:noFill/>
          <a:ln/>
        </p:spPr>
        <p:txBody>
          <a:bodyPr wrap="square" lIns="0" tIns="0" rIns="0" bIns="0" rtlCol="0" anchor="ctr"/>
          <a:lstStyle/>
          <a:p>
            <a:pPr indent="0" marL="0">
              <a:buNone/>
            </a:pPr>
            <a:r>
              <a:rPr lang="en-US" sz="2400" b="1" dirty="0">
                <a:solidFill>
                  <a:srgbClr val="222222"/>
                </a:solidFill>
                <a:latin typeface="Arial" pitchFamily="34" charset="0"/>
                <a:ea typeface="Arial" pitchFamily="34" charset="-122"/>
                <a:cs typeface="Arial" pitchFamily="34" charset="-120"/>
              </a:rPr>
              <a:t>Final version: Extract → Normalize → Compare</a:t>
            </a:r>
            <a:endParaRPr lang="en-US" sz="2400" dirty="0"/>
          </a:p>
        </p:txBody>
      </p:sp>
      <p:sp>
        <p:nvSpPr>
          <p:cNvPr id="3" name="Text 1"/>
          <p:cNvSpPr/>
          <p:nvPr/>
        </p:nvSpPr>
        <p:spPr>
          <a:xfrm>
            <a:off x="640080" y="1234440"/>
            <a:ext cx="3520440" cy="320040"/>
          </a:xfrm>
          <a:prstGeom prst="rect">
            <a:avLst/>
          </a:prstGeom>
          <a:noFill/>
          <a:ln/>
        </p:spPr>
        <p:txBody>
          <a:bodyPr wrap="square" lIns="0" tIns="0" rIns="0" bIns="0" rtlCol="0" anchor="ctr"/>
          <a:lstStyle/>
          <a:p>
            <a:pPr indent="0" marL="0">
              <a:buNone/>
            </a:pPr>
            <a:r>
              <a:rPr lang="en-US" sz="1500" b="1" dirty="0">
                <a:solidFill>
                  <a:srgbClr val="222222"/>
                </a:solidFill>
                <a:latin typeface="Arial" pitchFamily="34" charset="0"/>
                <a:ea typeface="Arial" pitchFamily="34" charset="-122"/>
                <a:cs typeface="Arial" pitchFamily="34" charset="-120"/>
              </a:rPr>
              <a:t>1. Extract</a:t>
            </a:r>
            <a:endParaRPr lang="en-US" sz="1500" dirty="0"/>
          </a:p>
        </p:txBody>
      </p:sp>
      <p:sp>
        <p:nvSpPr>
          <p:cNvPr id="4" name="Text 2"/>
          <p:cNvSpPr/>
          <p:nvPr/>
        </p:nvSpPr>
        <p:spPr>
          <a:xfrm>
            <a:off x="640080" y="1572768"/>
            <a:ext cx="3520440" cy="548640"/>
          </a:xfrm>
          <a:prstGeom prst="rect">
            <a:avLst/>
          </a:prstGeom>
          <a:noFill/>
          <a:ln/>
        </p:spPr>
        <p:txBody>
          <a:bodyPr wrap="square" lIns="0" tIns="0" rIns="0" bIns="0" rtlCol="0" anchor="ctr"/>
          <a:lstStyle/>
          <a:p>
            <a:pPr indent="0" marL="0">
              <a:buNone/>
            </a:pPr>
            <a:r>
              <a:rPr lang="en-US" sz="1100" dirty="0">
                <a:solidFill>
                  <a:srgbClr val="333333"/>
                </a:solidFill>
                <a:latin typeface="Arial" pitchFamily="34" charset="0"/>
                <a:ea typeface="Arial" pitchFamily="34" charset="-122"/>
                <a:cs typeface="Arial" pitchFamily="34" charset="-120"/>
              </a:rPr>
              <a:t>One document at a time → one structured table.</a:t>
            </a:r>
            <a:endParaRPr lang="en-US" sz="1100" dirty="0"/>
          </a:p>
        </p:txBody>
      </p:sp>
      <p:sp>
        <p:nvSpPr>
          <p:cNvPr id="5" name="Shape 3"/>
          <p:cNvSpPr/>
          <p:nvPr/>
        </p:nvSpPr>
        <p:spPr>
          <a:xfrm>
            <a:off x="640080" y="2194560"/>
            <a:ext cx="3520440" cy="2743200"/>
          </a:xfrm>
          <a:prstGeom prst="rect">
            <a:avLst/>
          </a:prstGeom>
          <a:solidFill>
            <a:srgbClr val="F7F7F7"/>
          </a:solidFill>
          <a:ln w="12700">
            <a:solidFill>
              <a:srgbClr val="BFBFBF"/>
            </a:solidFill>
            <a:prstDash val="solid"/>
          </a:ln>
        </p:spPr>
      </p:sp>
      <p:sp>
        <p:nvSpPr>
          <p:cNvPr id="6" name="Text 4"/>
          <p:cNvSpPr/>
          <p:nvPr/>
        </p:nvSpPr>
        <p:spPr>
          <a:xfrm>
            <a:off x="804672" y="2331720"/>
            <a:ext cx="3191256" cy="2468880"/>
          </a:xfrm>
          <a:prstGeom prst="rect">
            <a:avLst/>
          </a:prstGeom>
          <a:noFill/>
          <a:ln/>
        </p:spPr>
        <p:txBody>
          <a:bodyPr wrap="square" lIns="0" tIns="0" rIns="0" bIns="0" rtlCol="0" anchor="ctr"/>
          <a:lstStyle/>
          <a:p>
            <a:pPr indent="0" marL="0">
              <a:buNone/>
            </a:pPr>
            <a:r>
              <a:rPr lang="en-US" sz="1000" dirty="0">
                <a:solidFill>
                  <a:srgbClr val="222222"/>
                </a:solidFill>
                <a:latin typeface="Courier New" pitchFamily="34" charset="0"/>
                <a:ea typeface="Courier New" pitchFamily="34" charset="-122"/>
                <a:cs typeface="Courier New" pitchFamily="34" charset="-120"/>
              </a:rPr>
              <a:t>“Extract EVERY metric row into a table: Metric | Year | Value | Unit | Characterization. Copy values exactly as written. Do NOT convert units. If a cell is blank, write BLANK. Do not guess.”</a:t>
            </a:r>
            <a:endParaRPr lang="en-US" sz="1000" dirty="0"/>
          </a:p>
        </p:txBody>
      </p:sp>
      <p:sp>
        <p:nvSpPr>
          <p:cNvPr id="7" name="Text 5"/>
          <p:cNvSpPr/>
          <p:nvPr/>
        </p:nvSpPr>
        <p:spPr>
          <a:xfrm>
            <a:off x="4169664" y="3291840"/>
            <a:ext cx="274320" cy="457200"/>
          </a:xfrm>
          <a:prstGeom prst="rect">
            <a:avLst/>
          </a:prstGeom>
          <a:noFill/>
          <a:ln/>
        </p:spPr>
        <p:txBody>
          <a:bodyPr wrap="square" lIns="0" tIns="0" rIns="0" bIns="0" rtlCol="0" anchor="ctr"/>
          <a:lstStyle/>
          <a:p>
            <a:pPr indent="0" marL="0">
              <a:buNone/>
            </a:pPr>
            <a:r>
              <a:rPr lang="en-US" sz="2000" b="1" dirty="0">
                <a:solidFill>
                  <a:srgbClr val="222222"/>
                </a:solidFill>
                <a:latin typeface="Arial" pitchFamily="34" charset="0"/>
                <a:ea typeface="Arial" pitchFamily="34" charset="-122"/>
                <a:cs typeface="Arial" pitchFamily="34" charset="-120"/>
              </a:rPr>
              <a:t>→</a:t>
            </a:r>
            <a:endParaRPr lang="en-US" sz="2000" dirty="0"/>
          </a:p>
        </p:txBody>
      </p:sp>
      <p:sp>
        <p:nvSpPr>
          <p:cNvPr id="8" name="Text 6"/>
          <p:cNvSpPr/>
          <p:nvPr/>
        </p:nvSpPr>
        <p:spPr>
          <a:xfrm>
            <a:off x="4343400" y="1234440"/>
            <a:ext cx="3520440" cy="320040"/>
          </a:xfrm>
          <a:prstGeom prst="rect">
            <a:avLst/>
          </a:prstGeom>
          <a:noFill/>
          <a:ln/>
        </p:spPr>
        <p:txBody>
          <a:bodyPr wrap="square" lIns="0" tIns="0" rIns="0" bIns="0" rtlCol="0" anchor="ctr"/>
          <a:lstStyle/>
          <a:p>
            <a:pPr indent="0" marL="0">
              <a:buNone/>
            </a:pPr>
            <a:r>
              <a:rPr lang="en-US" sz="1500" b="1" dirty="0">
                <a:solidFill>
                  <a:srgbClr val="222222"/>
                </a:solidFill>
                <a:latin typeface="Arial" pitchFamily="34" charset="0"/>
                <a:ea typeface="Arial" pitchFamily="34" charset="-122"/>
                <a:cs typeface="Arial" pitchFamily="34" charset="-120"/>
              </a:rPr>
              <a:t>2. Normalize</a:t>
            </a:r>
            <a:endParaRPr lang="en-US" sz="1500" dirty="0"/>
          </a:p>
        </p:txBody>
      </p:sp>
      <p:sp>
        <p:nvSpPr>
          <p:cNvPr id="9" name="Text 7"/>
          <p:cNvSpPr/>
          <p:nvPr/>
        </p:nvSpPr>
        <p:spPr>
          <a:xfrm>
            <a:off x="4343400" y="1572768"/>
            <a:ext cx="3520440" cy="548640"/>
          </a:xfrm>
          <a:prstGeom prst="rect">
            <a:avLst/>
          </a:prstGeom>
          <a:noFill/>
          <a:ln/>
        </p:spPr>
        <p:txBody>
          <a:bodyPr wrap="square" lIns="0" tIns="0" rIns="0" bIns="0" rtlCol="0" anchor="ctr"/>
          <a:lstStyle/>
          <a:p>
            <a:pPr indent="0" marL="0">
              <a:buNone/>
            </a:pPr>
            <a:r>
              <a:rPr lang="en-US" sz="1100" dirty="0">
                <a:solidFill>
                  <a:srgbClr val="333333"/>
                </a:solidFill>
                <a:latin typeface="Arial" pitchFamily="34" charset="0"/>
                <a:ea typeface="Arial" pitchFamily="34" charset="-122"/>
                <a:cs typeface="Arial" pitchFamily="34" charset="-120"/>
              </a:rPr>
              <a:t>Same units and formats everywhere. Pure mechanics.</a:t>
            </a:r>
            <a:endParaRPr lang="en-US" sz="1100" dirty="0"/>
          </a:p>
        </p:txBody>
      </p:sp>
      <p:sp>
        <p:nvSpPr>
          <p:cNvPr id="10" name="Shape 8"/>
          <p:cNvSpPr/>
          <p:nvPr/>
        </p:nvSpPr>
        <p:spPr>
          <a:xfrm>
            <a:off x="4343400" y="2194560"/>
            <a:ext cx="3520440" cy="2743200"/>
          </a:xfrm>
          <a:prstGeom prst="rect">
            <a:avLst/>
          </a:prstGeom>
          <a:solidFill>
            <a:srgbClr val="F7F7F7"/>
          </a:solidFill>
          <a:ln w="12700">
            <a:solidFill>
              <a:srgbClr val="BFBFBF"/>
            </a:solidFill>
            <a:prstDash val="solid"/>
          </a:ln>
        </p:spPr>
      </p:sp>
      <p:sp>
        <p:nvSpPr>
          <p:cNvPr id="11" name="Text 9"/>
          <p:cNvSpPr/>
          <p:nvPr/>
        </p:nvSpPr>
        <p:spPr>
          <a:xfrm>
            <a:off x="4507992" y="2331720"/>
            <a:ext cx="3191256" cy="2468880"/>
          </a:xfrm>
          <a:prstGeom prst="rect">
            <a:avLst/>
          </a:prstGeom>
          <a:noFill/>
          <a:ln/>
        </p:spPr>
        <p:txBody>
          <a:bodyPr wrap="square" lIns="0" tIns="0" rIns="0" bIns="0" rtlCol="0" anchor="ctr"/>
          <a:lstStyle/>
          <a:p>
            <a:pPr indent="0" marL="0">
              <a:buNone/>
            </a:pPr>
            <a:r>
              <a:rPr lang="en-US" sz="1000" dirty="0">
                <a:solidFill>
                  <a:srgbClr val="222222"/>
                </a:solidFill>
                <a:latin typeface="Courier New" pitchFamily="34" charset="0"/>
                <a:ea typeface="Courier New" pitchFamily="34" charset="-122"/>
                <a:cs typeface="Courier New" pitchFamily="34" charset="-120"/>
              </a:rPr>
              <a:t>“Rewrite the ENTIRE table in canonical form. A rate in ‘$ per $100 of AV’ is converted by multiplying by 10 → mills. A decimal like 0.25 for a % metric → 25%. Do not compare anything, do not drop any row.”</a:t>
            </a:r>
            <a:endParaRPr lang="en-US" sz="1000" dirty="0"/>
          </a:p>
        </p:txBody>
      </p:sp>
      <p:sp>
        <p:nvSpPr>
          <p:cNvPr id="12" name="Text 10"/>
          <p:cNvSpPr/>
          <p:nvPr/>
        </p:nvSpPr>
        <p:spPr>
          <a:xfrm>
            <a:off x="7872984" y="3291840"/>
            <a:ext cx="274320" cy="457200"/>
          </a:xfrm>
          <a:prstGeom prst="rect">
            <a:avLst/>
          </a:prstGeom>
          <a:noFill/>
          <a:ln/>
        </p:spPr>
        <p:txBody>
          <a:bodyPr wrap="square" lIns="0" tIns="0" rIns="0" bIns="0" rtlCol="0" anchor="ctr"/>
          <a:lstStyle/>
          <a:p>
            <a:pPr indent="0" marL="0">
              <a:buNone/>
            </a:pPr>
            <a:r>
              <a:rPr lang="en-US" sz="2000" b="1" dirty="0">
                <a:solidFill>
                  <a:srgbClr val="222222"/>
                </a:solidFill>
                <a:latin typeface="Arial" pitchFamily="34" charset="0"/>
                <a:ea typeface="Arial" pitchFamily="34" charset="-122"/>
                <a:cs typeface="Arial" pitchFamily="34" charset="-120"/>
              </a:rPr>
              <a:t>→</a:t>
            </a:r>
            <a:endParaRPr lang="en-US" sz="2000" dirty="0"/>
          </a:p>
        </p:txBody>
      </p:sp>
      <p:sp>
        <p:nvSpPr>
          <p:cNvPr id="13" name="Text 11"/>
          <p:cNvSpPr/>
          <p:nvPr/>
        </p:nvSpPr>
        <p:spPr>
          <a:xfrm>
            <a:off x="8046720" y="1234440"/>
            <a:ext cx="3520440" cy="320040"/>
          </a:xfrm>
          <a:prstGeom prst="rect">
            <a:avLst/>
          </a:prstGeom>
          <a:noFill/>
          <a:ln/>
        </p:spPr>
        <p:txBody>
          <a:bodyPr wrap="square" lIns="0" tIns="0" rIns="0" bIns="0" rtlCol="0" anchor="ctr"/>
          <a:lstStyle/>
          <a:p>
            <a:pPr indent="0" marL="0">
              <a:buNone/>
            </a:pPr>
            <a:r>
              <a:rPr lang="en-US" sz="1500" b="1" dirty="0">
                <a:solidFill>
                  <a:srgbClr val="222222"/>
                </a:solidFill>
                <a:latin typeface="Arial" pitchFamily="34" charset="0"/>
                <a:ea typeface="Arial" pitchFamily="34" charset="-122"/>
                <a:cs typeface="Arial" pitchFamily="34" charset="-120"/>
              </a:rPr>
              <a:t>3. Compare</a:t>
            </a:r>
            <a:endParaRPr lang="en-US" sz="1500" dirty="0"/>
          </a:p>
        </p:txBody>
      </p:sp>
      <p:sp>
        <p:nvSpPr>
          <p:cNvPr id="14" name="Text 12"/>
          <p:cNvSpPr/>
          <p:nvPr/>
        </p:nvSpPr>
        <p:spPr>
          <a:xfrm>
            <a:off x="8046720" y="1572768"/>
            <a:ext cx="3520440" cy="548640"/>
          </a:xfrm>
          <a:prstGeom prst="rect">
            <a:avLst/>
          </a:prstGeom>
          <a:noFill/>
          <a:ln/>
        </p:spPr>
        <p:txBody>
          <a:bodyPr wrap="square" lIns="0" tIns="0" rIns="0" bIns="0" rtlCol="0" anchor="ctr"/>
          <a:lstStyle/>
          <a:p>
            <a:pPr indent="0" marL="0">
              <a:buNone/>
            </a:pPr>
            <a:r>
              <a:rPr lang="en-US" sz="1100" dirty="0">
                <a:solidFill>
                  <a:srgbClr val="333333"/>
                </a:solidFill>
                <a:latin typeface="Arial" pitchFamily="34" charset="0"/>
                <a:ea typeface="Arial" pitchFamily="34" charset="-122"/>
                <a:cs typeface="Arial" pitchFamily="34" charset="-120"/>
              </a:rPr>
              <a:t>Two clean tables in, disagreement list out.</a:t>
            </a:r>
            <a:endParaRPr lang="en-US" sz="1100" dirty="0"/>
          </a:p>
        </p:txBody>
      </p:sp>
      <p:sp>
        <p:nvSpPr>
          <p:cNvPr id="15" name="Shape 13"/>
          <p:cNvSpPr/>
          <p:nvPr/>
        </p:nvSpPr>
        <p:spPr>
          <a:xfrm>
            <a:off x="8046720" y="2194560"/>
            <a:ext cx="3520440" cy="2743200"/>
          </a:xfrm>
          <a:prstGeom prst="rect">
            <a:avLst/>
          </a:prstGeom>
          <a:solidFill>
            <a:srgbClr val="F7F7F7"/>
          </a:solidFill>
          <a:ln w="12700">
            <a:solidFill>
              <a:srgbClr val="BFBFBF"/>
            </a:solidFill>
            <a:prstDash val="solid"/>
          </a:ln>
        </p:spPr>
      </p:sp>
      <p:sp>
        <p:nvSpPr>
          <p:cNvPr id="16" name="Text 14"/>
          <p:cNvSpPr/>
          <p:nvPr/>
        </p:nvSpPr>
        <p:spPr>
          <a:xfrm>
            <a:off x="8211312" y="2331720"/>
            <a:ext cx="3191256" cy="2468880"/>
          </a:xfrm>
          <a:prstGeom prst="rect">
            <a:avLst/>
          </a:prstGeom>
          <a:noFill/>
          <a:ln/>
        </p:spPr>
        <p:txBody>
          <a:bodyPr wrap="square" lIns="0" tIns="0" rIns="0" bIns="0" rtlCol="0" anchor="ctr"/>
          <a:lstStyle/>
          <a:p>
            <a:pPr indent="0" marL="0">
              <a:buNone/>
            </a:pPr>
            <a:r>
              <a:rPr lang="en-US" sz="1000" dirty="0">
                <a:solidFill>
                  <a:srgbClr val="222222"/>
                </a:solidFill>
                <a:latin typeface="Courier New" pitchFamily="34" charset="0"/>
                <a:ea typeface="Courier New" pitchFamily="34" charset="-122"/>
                <a:cs typeface="Courier New" pitchFamily="34" charset="-120"/>
              </a:rPr>
              <a:t>“Compare EVERY piece of information that appears in more than one extraction. After unit conversion, values that differ by less than 1% are the SAME — do not report them. Different characterizations for the same metric ARE a disagreement, even when the numbers match.”</a:t>
            </a:r>
            <a:endParaRPr lang="en-US" sz="1000" dirty="0"/>
          </a:p>
        </p:txBody>
      </p:sp>
      <p:sp>
        <p:nvSpPr>
          <p:cNvPr id="17" name="Text 15"/>
          <p:cNvSpPr/>
          <p:nvPr/>
        </p:nvSpPr>
        <p:spPr>
          <a:xfrm>
            <a:off x="640080" y="5120640"/>
            <a:ext cx="10881360" cy="1097280"/>
          </a:xfrm>
          <a:prstGeom prst="rect">
            <a:avLst/>
          </a:prstGeom>
          <a:noFill/>
          <a:ln/>
        </p:spPr>
        <p:txBody>
          <a:bodyPr wrap="square" lIns="0" tIns="0" rIns="0" bIns="0" rtlCol="0" anchor="t"/>
          <a:lstStyle/>
          <a:p>
            <a:pPr marL="177800" indent="-177800">
              <a:spcAft>
                <a:spcPts val="1000"/>
              </a:spcAft>
              <a:buSzPct val="100000"/>
              <a:buChar char="–"/>
            </a:pPr>
            <a:r>
              <a:rPr lang="en-US" sz="1500" dirty="0">
                <a:solidFill>
                  <a:srgbClr val="333333"/>
                </a:solidFill>
                <a:latin typeface="Arial" pitchFamily="34" charset="0"/>
                <a:ea typeface="Arial" pitchFamily="34" charset="-122"/>
                <a:cs typeface="Arial" pitchFamily="34" charset="-120"/>
              </a:rPr>
              <a:t>Real prompt excerpts, shortened.</a:t>
            </a:r>
            <a:endParaRPr lang="en-US" sz="1500" dirty="0"/>
          </a:p>
          <a:p>
            <a:pPr marL="177800" indent="-177800">
              <a:spcAft>
                <a:spcPts val="1000"/>
              </a:spcAft>
              <a:buSzPct val="100000"/>
              <a:buChar char="–"/>
            </a:pPr>
            <a:r>
              <a:rPr lang="en-US" sz="1500" b="1" dirty="0">
                <a:solidFill>
                  <a:srgbClr val="333333"/>
                </a:solidFill>
                <a:latin typeface="Arial" pitchFamily="34" charset="0"/>
                <a:ea typeface="Arial" pitchFamily="34" charset="-122"/>
                <a:cs typeface="Arial" pitchFamily="34" charset="-120"/>
              </a:rPr>
              <a:t>Prompts contain template knowledge and task rules — never the answers.</a:t>
            </a:r>
            <a:endParaRPr lang="en-US" sz="1500" dirty="0"/>
          </a:p>
        </p:txBody>
      </p:sp>
      <p:sp>
        <p:nvSpPr>
          <p:cNvPr id="18" name="Text 16"/>
          <p:cNvSpPr/>
          <p:nvPr/>
        </p:nvSpPr>
        <p:spPr>
          <a:xfrm>
            <a:off x="11430000" y="6492240"/>
            <a:ext cx="365760" cy="274320"/>
          </a:xfrm>
          <a:prstGeom prst="rect">
            <a:avLst/>
          </a:prstGeom>
          <a:noFill/>
          <a:ln/>
        </p:spPr>
        <p:txBody>
          <a:bodyPr wrap="square" lIns="0" tIns="0" rIns="0" bIns="0" rtlCol="0" anchor="ctr"/>
          <a:lstStyle/>
          <a:p>
            <a:pPr algn="r" indent="0" marL="0">
              <a:buNone/>
            </a:pPr>
            <a:r>
              <a:rPr lang="en-US" sz="900" dirty="0">
                <a:solidFill>
                  <a:srgbClr val="808080"/>
                </a:solidFill>
                <a:latin typeface="Arial" pitchFamily="34" charset="0"/>
                <a:ea typeface="Arial" pitchFamily="34" charset="-122"/>
                <a:cs typeface="Arial" pitchFamily="34" charset="-120"/>
              </a:rPr>
              <a:t>12</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0040"/>
            <a:ext cx="10908792" cy="502920"/>
          </a:xfrm>
          <a:prstGeom prst="rect">
            <a:avLst/>
          </a:prstGeom>
          <a:noFill/>
          <a:ln/>
        </p:spPr>
        <p:txBody>
          <a:bodyPr wrap="square" lIns="0" tIns="0" rIns="0" bIns="0" rtlCol="0" anchor="ctr"/>
          <a:lstStyle/>
          <a:p>
            <a:pPr indent="0" marL="0">
              <a:buNone/>
            </a:pPr>
            <a:r>
              <a:rPr lang="en-US" sz="2400" b="1" dirty="0">
                <a:solidFill>
                  <a:srgbClr val="222222"/>
                </a:solidFill>
                <a:latin typeface="Arial" pitchFamily="34" charset="0"/>
                <a:ea typeface="Arial" pitchFamily="34" charset="-122"/>
                <a:cs typeface="Arial" pitchFamily="34" charset="-120"/>
              </a:rPr>
              <a:t>We improved the instructions, not the model</a:t>
            </a:r>
            <a:endParaRPr lang="en-US" sz="2400" dirty="0"/>
          </a:p>
        </p:txBody>
      </p:sp>
      <p:graphicFrame>
        <p:nvGraphicFramePr>
          <p:cNvPr id="3" name="Chart 0" descr=""/>
          <p:cNvGraphicFramePr/>
          <p:nvPr/>
        </p:nvGraphicFramePr>
        <p:xfrm>
          <a:off x="640080" y="1371600"/>
          <a:ext cx="5669280" cy="3931920"/>
        </p:xfrm>
        <a:graphic xmlns:a="http://schemas.openxmlformats.org/drawingml/2006/main">
          <a:graphicData uri="http://schemas.openxmlformats.org/drawingml/2006/chart">
            <c:chart xmlns:c="http://schemas.openxmlformats.org/drawingml/2006/chart" r:id="rId1"/>
          </a:graphicData>
        </a:graphic>
      </p:graphicFrame>
      <p:sp>
        <p:nvSpPr>
          <p:cNvPr id="4" name="Text 1"/>
          <p:cNvSpPr/>
          <p:nvPr/>
        </p:nvSpPr>
        <p:spPr>
          <a:xfrm>
            <a:off x="640080" y="5349240"/>
            <a:ext cx="5669280" cy="274320"/>
          </a:xfrm>
          <a:prstGeom prst="rect">
            <a:avLst/>
          </a:prstGeom>
          <a:noFill/>
          <a:ln/>
        </p:spPr>
        <p:txBody>
          <a:bodyPr wrap="square" lIns="0" tIns="0" rIns="0" bIns="0" rtlCol="0" anchor="ctr"/>
          <a:lstStyle/>
          <a:p>
            <a:pPr indent="0" marL="0">
              <a:buNone/>
            </a:pPr>
            <a:r>
              <a:rPr lang="en-US" sz="900" i="1" dirty="0">
                <a:solidFill>
                  <a:srgbClr val="808080"/>
                </a:solidFill>
                <a:latin typeface="Arial" pitchFamily="34" charset="0"/>
                <a:ea typeface="Arial" pitchFamily="34" charset="-122"/>
                <a:cs typeface="Arial" pitchFamily="34" charset="-120"/>
              </a:rPr>
              <a:t>* the final version also caught E2 partially (phrased once instead of twice)</a:t>
            </a:r>
            <a:endParaRPr lang="en-US" sz="900" dirty="0"/>
          </a:p>
        </p:txBody>
      </p:sp>
      <p:sp>
        <p:nvSpPr>
          <p:cNvPr id="5" name="Shape 2"/>
          <p:cNvSpPr/>
          <p:nvPr/>
        </p:nvSpPr>
        <p:spPr>
          <a:xfrm>
            <a:off x="6492240" y="1325880"/>
            <a:ext cx="5029200" cy="1691640"/>
          </a:xfrm>
          <a:prstGeom prst="rect">
            <a:avLst/>
          </a:prstGeom>
          <a:solidFill>
            <a:srgbClr val="FFFFFF"/>
          </a:solidFill>
          <a:ln w="12700">
            <a:solidFill>
              <a:srgbClr val="222222"/>
            </a:solidFill>
            <a:prstDash val="solid"/>
          </a:ln>
        </p:spPr>
      </p:sp>
      <p:sp>
        <p:nvSpPr>
          <p:cNvPr id="6" name="Text 3"/>
          <p:cNvSpPr/>
          <p:nvPr/>
        </p:nvSpPr>
        <p:spPr>
          <a:xfrm>
            <a:off x="6675120" y="1417320"/>
            <a:ext cx="4663440" cy="292608"/>
          </a:xfrm>
          <a:prstGeom prst="rect">
            <a:avLst/>
          </a:prstGeom>
          <a:noFill/>
          <a:ln/>
        </p:spPr>
        <p:txBody>
          <a:bodyPr wrap="square" lIns="0" tIns="0" rIns="0" bIns="0" rtlCol="0" anchor="ctr"/>
          <a:lstStyle/>
          <a:p>
            <a:pPr indent="0" marL="0">
              <a:buNone/>
            </a:pPr>
            <a:r>
              <a:rPr lang="en-US" sz="1250" b="1" dirty="0">
                <a:solidFill>
                  <a:srgbClr val="222222"/>
                </a:solidFill>
                <a:latin typeface="Arial" pitchFamily="34" charset="0"/>
                <a:ea typeface="Arial" pitchFamily="34" charset="-122"/>
                <a:cs typeface="Arial" pitchFamily="34" charset="-120"/>
              </a:rPr>
              <a:t>What changed between versions</a:t>
            </a:r>
            <a:endParaRPr lang="en-US" sz="1250" dirty="0"/>
          </a:p>
        </p:txBody>
      </p:sp>
      <p:sp>
        <p:nvSpPr>
          <p:cNvPr id="7" name="Text 4"/>
          <p:cNvSpPr/>
          <p:nvPr/>
        </p:nvSpPr>
        <p:spPr>
          <a:xfrm>
            <a:off x="6675120" y="1728216"/>
            <a:ext cx="4663440" cy="685800"/>
          </a:xfrm>
          <a:prstGeom prst="rect">
            <a:avLst/>
          </a:prstGeom>
          <a:noFill/>
          <a:ln/>
        </p:spPr>
        <p:txBody>
          <a:bodyPr wrap="square" lIns="0" tIns="0" rIns="0" bIns="0" rtlCol="0" anchor="ctr"/>
          <a:lstStyle/>
          <a:p>
            <a:pPr indent="0" marL="0">
              <a:buNone/>
            </a:pPr>
            <a:r>
              <a:rPr lang="en-US" sz="1050" dirty="0">
                <a:solidFill>
                  <a:srgbClr val="333333"/>
                </a:solidFill>
                <a:latin typeface="Arial" pitchFamily="34" charset="0"/>
                <a:ea typeface="Arial" pitchFamily="34" charset="-122"/>
                <a:cs typeface="Arial" pitchFamily="34" charset="-120"/>
              </a:rPr>
              <a:t>Only the instructions — every fix a general rule; never the answers.</a:t>
            </a:r>
            <a:endParaRPr lang="en-US" sz="1050" dirty="0"/>
          </a:p>
        </p:txBody>
      </p:sp>
      <p:sp>
        <p:nvSpPr>
          <p:cNvPr id="8" name="Text 5"/>
          <p:cNvSpPr/>
          <p:nvPr/>
        </p:nvSpPr>
        <p:spPr>
          <a:xfrm>
            <a:off x="6675120" y="2404872"/>
            <a:ext cx="4663440" cy="548640"/>
          </a:xfrm>
          <a:prstGeom prst="rect">
            <a:avLst/>
          </a:prstGeom>
          <a:noFill/>
          <a:ln/>
        </p:spPr>
        <p:txBody>
          <a:bodyPr wrap="square" lIns="0" tIns="0" rIns="0" bIns="0" rtlCol="0" anchor="ctr"/>
          <a:lstStyle/>
          <a:p>
            <a:pPr indent="0" marL="0">
              <a:buNone/>
            </a:pPr>
            <a:r>
              <a:rPr lang="en-US" sz="950" dirty="0">
                <a:solidFill>
                  <a:srgbClr val="222222"/>
                </a:solidFill>
                <a:latin typeface="Courier New" pitchFamily="34" charset="0"/>
                <a:ea typeface="Courier New" pitchFamily="34" charset="-122"/>
                <a:cs typeface="Courier New" pitchFamily="34" charset="-120"/>
              </a:rPr>
              <a:t/>
            </a:r>
            <a:endParaRPr lang="en-US" sz="950" dirty="0"/>
          </a:p>
        </p:txBody>
      </p:sp>
      <p:sp>
        <p:nvSpPr>
          <p:cNvPr id="9" name="Shape 6"/>
          <p:cNvSpPr/>
          <p:nvPr/>
        </p:nvSpPr>
        <p:spPr>
          <a:xfrm>
            <a:off x="6492240" y="3182112"/>
            <a:ext cx="5029200" cy="1371600"/>
          </a:xfrm>
          <a:prstGeom prst="rect">
            <a:avLst/>
          </a:prstGeom>
          <a:solidFill>
            <a:srgbClr val="FFFFFF"/>
          </a:solidFill>
          <a:ln w="12700">
            <a:solidFill>
              <a:srgbClr val="222222"/>
            </a:solidFill>
            <a:prstDash val="solid"/>
          </a:ln>
        </p:spPr>
      </p:sp>
      <p:sp>
        <p:nvSpPr>
          <p:cNvPr id="10" name="Text 7"/>
          <p:cNvSpPr/>
          <p:nvPr/>
        </p:nvSpPr>
        <p:spPr>
          <a:xfrm>
            <a:off x="6675120" y="3273552"/>
            <a:ext cx="4663440" cy="292608"/>
          </a:xfrm>
          <a:prstGeom prst="rect">
            <a:avLst/>
          </a:prstGeom>
          <a:noFill/>
          <a:ln/>
        </p:spPr>
        <p:txBody>
          <a:bodyPr wrap="square" lIns="0" tIns="0" rIns="0" bIns="0" rtlCol="0" anchor="ctr"/>
          <a:lstStyle/>
          <a:p>
            <a:pPr indent="0" marL="0">
              <a:buNone/>
            </a:pPr>
            <a:r>
              <a:rPr lang="en-US" sz="1250" b="1" dirty="0">
                <a:solidFill>
                  <a:srgbClr val="222222"/>
                </a:solidFill>
                <a:latin typeface="Arial" pitchFamily="34" charset="0"/>
                <a:ea typeface="Arial" pitchFamily="34" charset="-122"/>
                <a:cs typeface="Arial" pitchFamily="34" charset="-120"/>
              </a:rPr>
              <a:t>Why iteration worked</a:t>
            </a:r>
            <a:endParaRPr lang="en-US" sz="1250" dirty="0"/>
          </a:p>
        </p:txBody>
      </p:sp>
      <p:sp>
        <p:nvSpPr>
          <p:cNvPr id="11" name="Text 8"/>
          <p:cNvSpPr/>
          <p:nvPr/>
        </p:nvSpPr>
        <p:spPr>
          <a:xfrm>
            <a:off x="6675120" y="3584448"/>
            <a:ext cx="4663440" cy="685800"/>
          </a:xfrm>
          <a:prstGeom prst="rect">
            <a:avLst/>
          </a:prstGeom>
          <a:noFill/>
          <a:ln/>
        </p:spPr>
        <p:txBody>
          <a:bodyPr wrap="square" lIns="0" tIns="0" rIns="0" bIns="0" rtlCol="0" anchor="ctr"/>
          <a:lstStyle/>
          <a:p>
            <a:pPr indent="0" marL="0">
              <a:buNone/>
            </a:pPr>
            <a:r>
              <a:rPr lang="en-US" sz="1050" dirty="0">
                <a:solidFill>
                  <a:srgbClr val="333333"/>
                </a:solidFill>
                <a:latin typeface="Arial" pitchFamily="34" charset="0"/>
                <a:ea typeface="Arial" pitchFamily="34" charset="-122"/>
                <a:cs typeface="Arial" pitchFamily="34" charset="-120"/>
              </a:rPr>
              <a:t>Read step outputs → find cause → fix instructions. The pipeline shows where it fails.</a:t>
            </a:r>
            <a:endParaRPr lang="en-US" sz="1050" dirty="0"/>
          </a:p>
        </p:txBody>
      </p:sp>
      <p:sp>
        <p:nvSpPr>
          <p:cNvPr id="12" name="Shape 9"/>
          <p:cNvSpPr/>
          <p:nvPr/>
        </p:nvSpPr>
        <p:spPr>
          <a:xfrm>
            <a:off x="6492240" y="4718304"/>
            <a:ext cx="5029200" cy="1371600"/>
          </a:xfrm>
          <a:prstGeom prst="rect">
            <a:avLst/>
          </a:prstGeom>
          <a:solidFill>
            <a:srgbClr val="FFFFFF"/>
          </a:solidFill>
          <a:ln w="12700">
            <a:solidFill>
              <a:srgbClr val="222222"/>
            </a:solidFill>
            <a:prstDash val="solid"/>
          </a:ln>
        </p:spPr>
      </p:sp>
      <p:sp>
        <p:nvSpPr>
          <p:cNvPr id="13" name="Text 10"/>
          <p:cNvSpPr/>
          <p:nvPr/>
        </p:nvSpPr>
        <p:spPr>
          <a:xfrm>
            <a:off x="6675120" y="4809744"/>
            <a:ext cx="4663440" cy="292608"/>
          </a:xfrm>
          <a:prstGeom prst="rect">
            <a:avLst/>
          </a:prstGeom>
          <a:noFill/>
          <a:ln/>
        </p:spPr>
        <p:txBody>
          <a:bodyPr wrap="square" lIns="0" tIns="0" rIns="0" bIns="0" rtlCol="0" anchor="ctr"/>
          <a:lstStyle/>
          <a:p>
            <a:pPr indent="0" marL="0">
              <a:buNone/>
            </a:pPr>
            <a:r>
              <a:rPr lang="en-US" sz="1250" b="1" dirty="0">
                <a:solidFill>
                  <a:srgbClr val="222222"/>
                </a:solidFill>
                <a:latin typeface="Arial" pitchFamily="34" charset="0"/>
                <a:ea typeface="Arial" pitchFamily="34" charset="-122"/>
                <a:cs typeface="Arial" pitchFamily="34" charset="-120"/>
              </a:rPr>
              <a:t>Final: 4 + 1 partial, false alarms ≈ 0</a:t>
            </a:r>
            <a:endParaRPr lang="en-US" sz="1250" dirty="0"/>
          </a:p>
        </p:txBody>
      </p:sp>
      <p:sp>
        <p:nvSpPr>
          <p:cNvPr id="14" name="Text 11"/>
          <p:cNvSpPr/>
          <p:nvPr/>
        </p:nvSpPr>
        <p:spPr>
          <a:xfrm>
            <a:off x="6675120" y="5120640"/>
            <a:ext cx="4663440" cy="685800"/>
          </a:xfrm>
          <a:prstGeom prst="rect">
            <a:avLst/>
          </a:prstGeom>
          <a:noFill/>
          <a:ln/>
        </p:spPr>
        <p:txBody>
          <a:bodyPr wrap="square" lIns="0" tIns="0" rIns="0" bIns="0" rtlCol="0" anchor="ctr"/>
          <a:lstStyle/>
          <a:p>
            <a:pPr indent="0" marL="0">
              <a:buNone/>
            </a:pPr>
            <a:r>
              <a:rPr lang="en-US" sz="1050" dirty="0">
                <a:solidFill>
                  <a:srgbClr val="333333"/>
                </a:solidFill>
                <a:latin typeface="Arial" pitchFamily="34" charset="0"/>
                <a:ea typeface="Arial" pitchFamily="34" charset="-122"/>
                <a:cs typeface="Arial" pitchFamily="34" charset="-120"/>
              </a:rPr>
              <a:t>Scores: A 0/5 → 1st version 2/5 → 2nd version 3/5 → final 4.5/5.</a:t>
            </a:r>
            <a:endParaRPr lang="en-US" sz="1050" dirty="0"/>
          </a:p>
        </p:txBody>
      </p:sp>
      <p:sp>
        <p:nvSpPr>
          <p:cNvPr id="15" name="Text 12"/>
          <p:cNvSpPr/>
          <p:nvPr/>
        </p:nvSpPr>
        <p:spPr>
          <a:xfrm>
            <a:off x="640080" y="6035040"/>
            <a:ext cx="10972800" cy="320040"/>
          </a:xfrm>
          <a:prstGeom prst="rect">
            <a:avLst/>
          </a:prstGeom>
          <a:noFill/>
          <a:ln/>
        </p:spPr>
        <p:txBody>
          <a:bodyPr wrap="square" lIns="0" tIns="0" rIns="0" bIns="0" rtlCol="0" anchor="ctr"/>
          <a:lstStyle/>
          <a:p>
            <a:pPr indent="0" marL="0">
              <a:buNone/>
            </a:pPr>
            <a:r>
              <a:rPr lang="en-US" sz="1250" b="1" i="1" dirty="0">
                <a:solidFill>
                  <a:srgbClr val="222222"/>
                </a:solidFill>
                <a:latin typeface="Arial" pitchFamily="34" charset="0"/>
                <a:ea typeface="Arial" pitchFamily="34" charset="-122"/>
                <a:cs typeface="Arial" pitchFamily="34" charset="-120"/>
              </a:rPr>
              <a:t>A step that underperforms can be seen and fixed. A bad one-shot gives nothing to fix.</a:t>
            </a:r>
            <a:endParaRPr lang="en-US" sz="1250" dirty="0"/>
          </a:p>
        </p:txBody>
      </p:sp>
      <p:sp>
        <p:nvSpPr>
          <p:cNvPr id="16" name="Text 13"/>
          <p:cNvSpPr/>
          <p:nvPr/>
        </p:nvSpPr>
        <p:spPr>
          <a:xfrm>
            <a:off x="11430000" y="6492240"/>
            <a:ext cx="365760" cy="274320"/>
          </a:xfrm>
          <a:prstGeom prst="rect">
            <a:avLst/>
          </a:prstGeom>
          <a:noFill/>
          <a:ln/>
        </p:spPr>
        <p:txBody>
          <a:bodyPr wrap="square" lIns="0" tIns="0" rIns="0" bIns="0" rtlCol="0" anchor="ctr"/>
          <a:lstStyle/>
          <a:p>
            <a:pPr algn="r" indent="0" marL="0">
              <a:buNone/>
            </a:pPr>
            <a:r>
              <a:rPr lang="en-US" sz="900" dirty="0">
                <a:solidFill>
                  <a:srgbClr val="808080"/>
                </a:solidFill>
                <a:latin typeface="Arial" pitchFamily="34" charset="0"/>
                <a:ea typeface="Arial" pitchFamily="34" charset="-122"/>
                <a:cs typeface="Arial" pitchFamily="34" charset="-120"/>
              </a:rPr>
              <a:t>13</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0040"/>
            <a:ext cx="10908792" cy="502920"/>
          </a:xfrm>
          <a:prstGeom prst="rect">
            <a:avLst/>
          </a:prstGeom>
          <a:noFill/>
          <a:ln/>
        </p:spPr>
        <p:txBody>
          <a:bodyPr wrap="square" lIns="0" tIns="0" rIns="0" bIns="0" rtlCol="0" anchor="ctr"/>
          <a:lstStyle/>
          <a:p>
            <a:pPr indent="0" marL="0">
              <a:buNone/>
            </a:pPr>
            <a:r>
              <a:rPr lang="en-US" sz="2400" b="1" dirty="0">
                <a:solidFill>
                  <a:srgbClr val="222222"/>
                </a:solidFill>
                <a:latin typeface="Arial" pitchFamily="34" charset="0"/>
                <a:ea typeface="Arial" pitchFamily="34" charset="-122"/>
                <a:cs typeface="Arial" pitchFamily="34" charset="-120"/>
              </a:rPr>
              <a:t>Final score: one-shot vs step-by-step</a:t>
            </a:r>
            <a:endParaRPr lang="en-US" sz="2400" dirty="0"/>
          </a:p>
        </p:txBody>
      </p:sp>
      <p:sp>
        <p:nvSpPr>
          <p:cNvPr id="3" name="Text 1"/>
          <p:cNvSpPr/>
          <p:nvPr/>
        </p:nvSpPr>
        <p:spPr>
          <a:xfrm>
            <a:off x="777240" y="1399032"/>
            <a:ext cx="3566160" cy="365760"/>
          </a:xfrm>
          <a:prstGeom prst="rect">
            <a:avLst/>
          </a:prstGeom>
          <a:noFill/>
          <a:ln/>
        </p:spPr>
        <p:txBody>
          <a:bodyPr wrap="square" lIns="0" tIns="0" rIns="0" bIns="0" rtlCol="0" anchor="ctr"/>
          <a:lstStyle/>
          <a:p>
            <a:pPr indent="0" marL="0">
              <a:buNone/>
            </a:pPr>
            <a:endParaRPr lang="en-US" sz="1100" dirty="0"/>
          </a:p>
        </p:txBody>
      </p:sp>
      <p:sp>
        <p:nvSpPr>
          <p:cNvPr id="4" name="Text 2"/>
          <p:cNvSpPr/>
          <p:nvPr/>
        </p:nvSpPr>
        <p:spPr>
          <a:xfrm>
            <a:off x="4480560" y="1399032"/>
            <a:ext cx="1463040" cy="365760"/>
          </a:xfrm>
          <a:prstGeom prst="rect">
            <a:avLst/>
          </a:prstGeom>
          <a:noFill/>
          <a:ln/>
        </p:spPr>
        <p:txBody>
          <a:bodyPr wrap="square" lIns="0" tIns="0" rIns="0" bIns="0" rtlCol="0" anchor="ctr"/>
          <a:lstStyle/>
          <a:p>
            <a:pPr algn="ctr" indent="0" marL="0">
              <a:buNone/>
            </a:pPr>
            <a:r>
              <a:rPr lang="en-US" sz="1100" b="1" dirty="0">
                <a:solidFill>
                  <a:srgbClr val="808080"/>
                </a:solidFill>
                <a:latin typeface="Arial" pitchFamily="34" charset="0"/>
                <a:ea typeface="Arial" pitchFamily="34" charset="-122"/>
                <a:cs typeface="Arial" pitchFamily="34" charset="-120"/>
              </a:rPr>
              <a:t>Method A (3 runs)</a:t>
            </a:r>
            <a:endParaRPr lang="en-US" sz="1100" dirty="0"/>
          </a:p>
        </p:txBody>
      </p:sp>
      <p:sp>
        <p:nvSpPr>
          <p:cNvPr id="5" name="Text 3"/>
          <p:cNvSpPr/>
          <p:nvPr/>
        </p:nvSpPr>
        <p:spPr>
          <a:xfrm>
            <a:off x="6035040" y="1399032"/>
            <a:ext cx="1463040" cy="365760"/>
          </a:xfrm>
          <a:prstGeom prst="rect">
            <a:avLst/>
          </a:prstGeom>
          <a:noFill/>
          <a:ln/>
        </p:spPr>
        <p:txBody>
          <a:bodyPr wrap="square" lIns="0" tIns="0" rIns="0" bIns="0" rtlCol="0" anchor="ctr"/>
          <a:lstStyle/>
          <a:p>
            <a:pPr algn="ctr" indent="0" marL="0">
              <a:buNone/>
            </a:pPr>
            <a:r>
              <a:rPr lang="en-US" sz="1100" b="1" dirty="0">
                <a:solidFill>
                  <a:srgbClr val="808080"/>
                </a:solidFill>
                <a:latin typeface="Arial" pitchFamily="34" charset="0"/>
                <a:ea typeface="Arial" pitchFamily="34" charset="-122"/>
                <a:cs typeface="Arial" pitchFamily="34" charset="-120"/>
              </a:rPr>
              <a:t>Method B final</a:t>
            </a:r>
            <a:endParaRPr lang="en-US" sz="1100" dirty="0"/>
          </a:p>
        </p:txBody>
      </p:sp>
      <p:sp>
        <p:nvSpPr>
          <p:cNvPr id="6" name="Shape 4"/>
          <p:cNvSpPr/>
          <p:nvPr/>
        </p:nvSpPr>
        <p:spPr>
          <a:xfrm>
            <a:off x="640080" y="1783080"/>
            <a:ext cx="6858000" cy="530352"/>
          </a:xfrm>
          <a:prstGeom prst="rect">
            <a:avLst/>
          </a:prstGeom>
          <a:solidFill>
            <a:srgbClr val="EFEFEF"/>
          </a:solidFill>
          <a:ln w="6350">
            <a:solidFill>
              <a:srgbClr val="BFBFBF"/>
            </a:solidFill>
            <a:prstDash val="solid"/>
          </a:ln>
        </p:spPr>
      </p:sp>
      <p:sp>
        <p:nvSpPr>
          <p:cNvPr id="7" name="Text 5"/>
          <p:cNvSpPr/>
          <p:nvPr/>
        </p:nvSpPr>
        <p:spPr>
          <a:xfrm>
            <a:off x="777240" y="1810512"/>
            <a:ext cx="3566160" cy="475488"/>
          </a:xfrm>
          <a:prstGeom prst="rect">
            <a:avLst/>
          </a:prstGeom>
          <a:noFill/>
          <a:ln/>
        </p:spPr>
        <p:txBody>
          <a:bodyPr wrap="square" lIns="0" tIns="0" rIns="0" bIns="0" rtlCol="0" anchor="ctr"/>
          <a:lstStyle/>
          <a:p>
            <a:pPr indent="0" marL="0">
              <a:buNone/>
            </a:pPr>
            <a:r>
              <a:rPr lang="en-US" sz="1250" b="1" dirty="0">
                <a:solidFill>
                  <a:srgbClr val="222222"/>
                </a:solidFill>
                <a:latin typeface="Arial" pitchFamily="34" charset="0"/>
                <a:ea typeface="Arial" pitchFamily="34" charset="-122"/>
                <a:cs typeface="Arial" pitchFamily="34" charset="-120"/>
              </a:rPr>
              <a:t>E1   Direct rate characterization</a:t>
            </a:r>
            <a:endParaRPr lang="en-US" sz="1250" dirty="0"/>
          </a:p>
        </p:txBody>
      </p:sp>
      <p:sp>
        <p:nvSpPr>
          <p:cNvPr id="8" name="Text 6"/>
          <p:cNvSpPr/>
          <p:nvPr/>
        </p:nvSpPr>
        <p:spPr>
          <a:xfrm>
            <a:off x="4480560" y="1810512"/>
            <a:ext cx="1463040" cy="475488"/>
          </a:xfrm>
          <a:prstGeom prst="rect">
            <a:avLst/>
          </a:prstGeom>
          <a:noFill/>
          <a:ln/>
        </p:spPr>
        <p:txBody>
          <a:bodyPr wrap="square" lIns="0" tIns="0" rIns="0" bIns="0" rtlCol="0" anchor="ctr"/>
          <a:lstStyle/>
          <a:p>
            <a:pPr algn="ctr" indent="0" marL="0">
              <a:buNone/>
            </a:pPr>
            <a:r>
              <a:rPr lang="en-US" sz="1200" b="1" dirty="0">
                <a:solidFill>
                  <a:srgbClr val="C8102E"/>
                </a:solidFill>
                <a:latin typeface="Arial" pitchFamily="34" charset="0"/>
                <a:ea typeface="Arial" pitchFamily="34" charset="-122"/>
                <a:cs typeface="Arial" pitchFamily="34" charset="-120"/>
              </a:rPr>
              <a:t>missed</a:t>
            </a:r>
            <a:endParaRPr lang="en-US" sz="1200" dirty="0"/>
          </a:p>
        </p:txBody>
      </p:sp>
      <p:sp>
        <p:nvSpPr>
          <p:cNvPr id="9" name="Text 7"/>
          <p:cNvSpPr/>
          <p:nvPr/>
        </p:nvSpPr>
        <p:spPr>
          <a:xfrm>
            <a:off x="6035040" y="1810512"/>
            <a:ext cx="1463040" cy="475488"/>
          </a:xfrm>
          <a:prstGeom prst="rect">
            <a:avLst/>
          </a:prstGeom>
          <a:noFill/>
          <a:ln/>
        </p:spPr>
        <p:txBody>
          <a:bodyPr wrap="square" lIns="0" tIns="0" rIns="0" bIns="0" rtlCol="0" anchor="ctr"/>
          <a:lstStyle/>
          <a:p>
            <a:pPr algn="ctr" indent="0" marL="0">
              <a:buNone/>
            </a:pPr>
            <a:r>
              <a:rPr lang="en-US" sz="1200" b="1" dirty="0">
                <a:solidFill>
                  <a:srgbClr val="2E6B2A"/>
                </a:solidFill>
                <a:latin typeface="Arial" pitchFamily="34" charset="0"/>
                <a:ea typeface="Arial" pitchFamily="34" charset="-122"/>
                <a:cs typeface="Arial" pitchFamily="34" charset="-120"/>
              </a:rPr>
              <a:t>caught</a:t>
            </a:r>
            <a:endParaRPr lang="en-US" sz="1200" dirty="0"/>
          </a:p>
        </p:txBody>
      </p:sp>
      <p:sp>
        <p:nvSpPr>
          <p:cNvPr id="10" name="Shape 8"/>
          <p:cNvSpPr/>
          <p:nvPr/>
        </p:nvSpPr>
        <p:spPr>
          <a:xfrm>
            <a:off x="640080" y="2350008"/>
            <a:ext cx="6858000" cy="530352"/>
          </a:xfrm>
          <a:prstGeom prst="rect">
            <a:avLst/>
          </a:prstGeom>
          <a:solidFill>
            <a:srgbClr val="FFFFFF"/>
          </a:solidFill>
          <a:ln w="6350">
            <a:solidFill>
              <a:srgbClr val="BFBFBF"/>
            </a:solidFill>
            <a:prstDash val="solid"/>
          </a:ln>
        </p:spPr>
      </p:sp>
      <p:sp>
        <p:nvSpPr>
          <p:cNvPr id="11" name="Text 9"/>
          <p:cNvSpPr/>
          <p:nvPr/>
        </p:nvSpPr>
        <p:spPr>
          <a:xfrm>
            <a:off x="777240" y="2377440"/>
            <a:ext cx="3566160" cy="475488"/>
          </a:xfrm>
          <a:prstGeom prst="rect">
            <a:avLst/>
          </a:prstGeom>
          <a:noFill/>
          <a:ln/>
        </p:spPr>
        <p:txBody>
          <a:bodyPr wrap="square" lIns="0" tIns="0" rIns="0" bIns="0" rtlCol="0" anchor="ctr"/>
          <a:lstStyle/>
          <a:p>
            <a:pPr indent="0" marL="0">
              <a:buNone/>
            </a:pPr>
            <a:r>
              <a:rPr lang="en-US" sz="1250" b="1" dirty="0">
                <a:solidFill>
                  <a:srgbClr val="222222"/>
                </a:solidFill>
                <a:latin typeface="Arial" pitchFamily="34" charset="0"/>
                <a:ea typeface="Arial" pitchFamily="34" charset="-122"/>
                <a:cs typeface="Arial" pitchFamily="34" charset="-120"/>
              </a:rPr>
              <a:t>E2   Total rate characterization</a:t>
            </a:r>
            <a:endParaRPr lang="en-US" sz="1250" dirty="0"/>
          </a:p>
        </p:txBody>
      </p:sp>
      <p:sp>
        <p:nvSpPr>
          <p:cNvPr id="12" name="Text 10"/>
          <p:cNvSpPr/>
          <p:nvPr/>
        </p:nvSpPr>
        <p:spPr>
          <a:xfrm>
            <a:off x="4480560" y="2377440"/>
            <a:ext cx="1463040" cy="475488"/>
          </a:xfrm>
          <a:prstGeom prst="rect">
            <a:avLst/>
          </a:prstGeom>
          <a:noFill/>
          <a:ln/>
        </p:spPr>
        <p:txBody>
          <a:bodyPr wrap="square" lIns="0" tIns="0" rIns="0" bIns="0" rtlCol="0" anchor="ctr"/>
          <a:lstStyle/>
          <a:p>
            <a:pPr algn="ctr" indent="0" marL="0">
              <a:buNone/>
            </a:pPr>
            <a:r>
              <a:rPr lang="en-US" sz="1200" b="1" dirty="0">
                <a:solidFill>
                  <a:srgbClr val="C8102E"/>
                </a:solidFill>
                <a:latin typeface="Arial" pitchFamily="34" charset="0"/>
                <a:ea typeface="Arial" pitchFamily="34" charset="-122"/>
                <a:cs typeface="Arial" pitchFamily="34" charset="-120"/>
              </a:rPr>
              <a:t>missed</a:t>
            </a:r>
            <a:endParaRPr lang="en-US" sz="1200" dirty="0"/>
          </a:p>
        </p:txBody>
      </p:sp>
      <p:sp>
        <p:nvSpPr>
          <p:cNvPr id="13" name="Text 11"/>
          <p:cNvSpPr/>
          <p:nvPr/>
        </p:nvSpPr>
        <p:spPr>
          <a:xfrm>
            <a:off x="6035040" y="2377440"/>
            <a:ext cx="1463040" cy="475488"/>
          </a:xfrm>
          <a:prstGeom prst="rect">
            <a:avLst/>
          </a:prstGeom>
          <a:noFill/>
          <a:ln/>
        </p:spPr>
        <p:txBody>
          <a:bodyPr wrap="square" lIns="0" tIns="0" rIns="0" bIns="0" rtlCol="0" anchor="ctr"/>
          <a:lstStyle/>
          <a:p>
            <a:pPr algn="ctr" indent="0" marL="0">
              <a:buNone/>
            </a:pPr>
            <a:r>
              <a:rPr lang="en-US" sz="1200" b="1" dirty="0">
                <a:solidFill>
                  <a:srgbClr val="9C6500"/>
                </a:solidFill>
                <a:latin typeface="Arial" pitchFamily="34" charset="0"/>
                <a:ea typeface="Arial" pitchFamily="34" charset="-122"/>
                <a:cs typeface="Arial" pitchFamily="34" charset="-120"/>
              </a:rPr>
              <a:t>partial</a:t>
            </a:r>
            <a:endParaRPr lang="en-US" sz="1200" dirty="0"/>
          </a:p>
        </p:txBody>
      </p:sp>
      <p:sp>
        <p:nvSpPr>
          <p:cNvPr id="14" name="Shape 12"/>
          <p:cNvSpPr/>
          <p:nvPr/>
        </p:nvSpPr>
        <p:spPr>
          <a:xfrm>
            <a:off x="640080" y="2916936"/>
            <a:ext cx="6858000" cy="530352"/>
          </a:xfrm>
          <a:prstGeom prst="rect">
            <a:avLst/>
          </a:prstGeom>
          <a:solidFill>
            <a:srgbClr val="EFEFEF"/>
          </a:solidFill>
          <a:ln w="6350">
            <a:solidFill>
              <a:srgbClr val="BFBFBF"/>
            </a:solidFill>
            <a:prstDash val="solid"/>
          </a:ln>
        </p:spPr>
      </p:sp>
      <p:sp>
        <p:nvSpPr>
          <p:cNvPr id="15" name="Text 13"/>
          <p:cNvSpPr/>
          <p:nvPr/>
        </p:nvSpPr>
        <p:spPr>
          <a:xfrm>
            <a:off x="777240" y="2944368"/>
            <a:ext cx="3566160" cy="475488"/>
          </a:xfrm>
          <a:prstGeom prst="rect">
            <a:avLst/>
          </a:prstGeom>
          <a:noFill/>
          <a:ln/>
        </p:spPr>
        <p:txBody>
          <a:bodyPr wrap="square" lIns="0" tIns="0" rIns="0" bIns="0" rtlCol="0" anchor="ctr"/>
          <a:lstStyle/>
          <a:p>
            <a:pPr indent="0" marL="0">
              <a:buNone/>
            </a:pPr>
            <a:r>
              <a:rPr lang="en-US" sz="1250" b="1" dirty="0">
                <a:solidFill>
                  <a:srgbClr val="222222"/>
                </a:solidFill>
                <a:latin typeface="Arial" pitchFamily="34" charset="0"/>
                <a:ea typeface="Arial" pitchFamily="34" charset="-122"/>
                <a:cs typeface="Arial" pitchFamily="34" charset="-120"/>
              </a:rPr>
              <a:t>E3   Maturity date</a:t>
            </a:r>
            <a:endParaRPr lang="en-US" sz="1250" dirty="0"/>
          </a:p>
        </p:txBody>
      </p:sp>
      <p:sp>
        <p:nvSpPr>
          <p:cNvPr id="16" name="Text 14"/>
          <p:cNvSpPr/>
          <p:nvPr/>
        </p:nvSpPr>
        <p:spPr>
          <a:xfrm>
            <a:off x="4480560" y="2944368"/>
            <a:ext cx="1463040" cy="475488"/>
          </a:xfrm>
          <a:prstGeom prst="rect">
            <a:avLst/>
          </a:prstGeom>
          <a:noFill/>
          <a:ln/>
        </p:spPr>
        <p:txBody>
          <a:bodyPr wrap="square" lIns="0" tIns="0" rIns="0" bIns="0" rtlCol="0" anchor="ctr"/>
          <a:lstStyle/>
          <a:p>
            <a:pPr algn="ctr" indent="0" marL="0">
              <a:buNone/>
            </a:pPr>
            <a:r>
              <a:rPr lang="en-US" sz="1200" b="1" dirty="0">
                <a:solidFill>
                  <a:srgbClr val="C8102E"/>
                </a:solidFill>
                <a:latin typeface="Arial" pitchFamily="34" charset="0"/>
                <a:ea typeface="Arial" pitchFamily="34" charset="-122"/>
                <a:cs typeface="Arial" pitchFamily="34" charset="-120"/>
              </a:rPr>
              <a:t>missed</a:t>
            </a:r>
            <a:endParaRPr lang="en-US" sz="1200" dirty="0"/>
          </a:p>
        </p:txBody>
      </p:sp>
      <p:sp>
        <p:nvSpPr>
          <p:cNvPr id="17" name="Text 15"/>
          <p:cNvSpPr/>
          <p:nvPr/>
        </p:nvSpPr>
        <p:spPr>
          <a:xfrm>
            <a:off x="6035040" y="2944368"/>
            <a:ext cx="1463040" cy="475488"/>
          </a:xfrm>
          <a:prstGeom prst="rect">
            <a:avLst/>
          </a:prstGeom>
          <a:noFill/>
          <a:ln/>
        </p:spPr>
        <p:txBody>
          <a:bodyPr wrap="square" lIns="0" tIns="0" rIns="0" bIns="0" rtlCol="0" anchor="ctr"/>
          <a:lstStyle/>
          <a:p>
            <a:pPr algn="ctr" indent="0" marL="0">
              <a:buNone/>
            </a:pPr>
            <a:r>
              <a:rPr lang="en-US" sz="1200" b="1" dirty="0">
                <a:solidFill>
                  <a:srgbClr val="2E6B2A"/>
                </a:solidFill>
                <a:latin typeface="Arial" pitchFamily="34" charset="0"/>
                <a:ea typeface="Arial" pitchFamily="34" charset="-122"/>
                <a:cs typeface="Arial" pitchFamily="34" charset="-120"/>
              </a:rPr>
              <a:t>caught</a:t>
            </a:r>
            <a:endParaRPr lang="en-US" sz="1200" dirty="0"/>
          </a:p>
        </p:txBody>
      </p:sp>
      <p:sp>
        <p:nvSpPr>
          <p:cNvPr id="18" name="Shape 16"/>
          <p:cNvSpPr/>
          <p:nvPr/>
        </p:nvSpPr>
        <p:spPr>
          <a:xfrm>
            <a:off x="640080" y="3483864"/>
            <a:ext cx="6858000" cy="530352"/>
          </a:xfrm>
          <a:prstGeom prst="rect">
            <a:avLst/>
          </a:prstGeom>
          <a:solidFill>
            <a:srgbClr val="FFFFFF"/>
          </a:solidFill>
          <a:ln w="6350">
            <a:solidFill>
              <a:srgbClr val="BFBFBF"/>
            </a:solidFill>
            <a:prstDash val="solid"/>
          </a:ln>
        </p:spPr>
      </p:sp>
      <p:sp>
        <p:nvSpPr>
          <p:cNvPr id="19" name="Text 17"/>
          <p:cNvSpPr/>
          <p:nvPr/>
        </p:nvSpPr>
        <p:spPr>
          <a:xfrm>
            <a:off x="777240" y="3511296"/>
            <a:ext cx="3566160" cy="475488"/>
          </a:xfrm>
          <a:prstGeom prst="rect">
            <a:avLst/>
          </a:prstGeom>
          <a:noFill/>
          <a:ln/>
        </p:spPr>
        <p:txBody>
          <a:bodyPr wrap="square" lIns="0" tIns="0" rIns="0" bIns="0" rtlCol="0" anchor="ctr"/>
          <a:lstStyle/>
          <a:p>
            <a:pPr indent="0" marL="0">
              <a:buNone/>
            </a:pPr>
            <a:r>
              <a:rPr lang="en-US" sz="1250" b="1" dirty="0">
                <a:solidFill>
                  <a:srgbClr val="222222"/>
                </a:solidFill>
                <a:latin typeface="Arial" pitchFamily="34" charset="0"/>
                <a:ea typeface="Arial" pitchFamily="34" charset="-122"/>
                <a:cs typeface="Arial" pitchFamily="34" charset="-120"/>
              </a:rPr>
              <a:t>E4   Value table shift</a:t>
            </a:r>
            <a:endParaRPr lang="en-US" sz="1250" dirty="0"/>
          </a:p>
        </p:txBody>
      </p:sp>
      <p:sp>
        <p:nvSpPr>
          <p:cNvPr id="20" name="Text 18"/>
          <p:cNvSpPr/>
          <p:nvPr/>
        </p:nvSpPr>
        <p:spPr>
          <a:xfrm>
            <a:off x="4480560" y="3511296"/>
            <a:ext cx="1463040" cy="475488"/>
          </a:xfrm>
          <a:prstGeom prst="rect">
            <a:avLst/>
          </a:prstGeom>
          <a:noFill/>
          <a:ln/>
        </p:spPr>
        <p:txBody>
          <a:bodyPr wrap="square" lIns="0" tIns="0" rIns="0" bIns="0" rtlCol="0" anchor="ctr"/>
          <a:lstStyle/>
          <a:p>
            <a:pPr algn="ctr" indent="0" marL="0">
              <a:buNone/>
            </a:pPr>
            <a:r>
              <a:rPr lang="en-US" sz="1200" b="1" dirty="0">
                <a:solidFill>
                  <a:srgbClr val="C8102E"/>
                </a:solidFill>
                <a:latin typeface="Arial" pitchFamily="34" charset="0"/>
                <a:ea typeface="Arial" pitchFamily="34" charset="-122"/>
                <a:cs typeface="Arial" pitchFamily="34" charset="-120"/>
              </a:rPr>
              <a:t>missed</a:t>
            </a:r>
            <a:endParaRPr lang="en-US" sz="1200" dirty="0"/>
          </a:p>
        </p:txBody>
      </p:sp>
      <p:sp>
        <p:nvSpPr>
          <p:cNvPr id="21" name="Text 19"/>
          <p:cNvSpPr/>
          <p:nvPr/>
        </p:nvSpPr>
        <p:spPr>
          <a:xfrm>
            <a:off x="6035040" y="3511296"/>
            <a:ext cx="1463040" cy="475488"/>
          </a:xfrm>
          <a:prstGeom prst="rect">
            <a:avLst/>
          </a:prstGeom>
          <a:noFill/>
          <a:ln/>
        </p:spPr>
        <p:txBody>
          <a:bodyPr wrap="square" lIns="0" tIns="0" rIns="0" bIns="0" rtlCol="0" anchor="ctr"/>
          <a:lstStyle/>
          <a:p>
            <a:pPr algn="ctr" indent="0" marL="0">
              <a:buNone/>
            </a:pPr>
            <a:r>
              <a:rPr lang="en-US" sz="1200" b="1" dirty="0">
                <a:solidFill>
                  <a:srgbClr val="2E6B2A"/>
                </a:solidFill>
                <a:latin typeface="Arial" pitchFamily="34" charset="0"/>
                <a:ea typeface="Arial" pitchFamily="34" charset="-122"/>
                <a:cs typeface="Arial" pitchFamily="34" charset="-120"/>
              </a:rPr>
              <a:t>caught</a:t>
            </a:r>
            <a:endParaRPr lang="en-US" sz="1200" dirty="0"/>
          </a:p>
        </p:txBody>
      </p:sp>
      <p:sp>
        <p:nvSpPr>
          <p:cNvPr id="22" name="Shape 20"/>
          <p:cNvSpPr/>
          <p:nvPr/>
        </p:nvSpPr>
        <p:spPr>
          <a:xfrm>
            <a:off x="640080" y="4050792"/>
            <a:ext cx="6858000" cy="530352"/>
          </a:xfrm>
          <a:prstGeom prst="rect">
            <a:avLst/>
          </a:prstGeom>
          <a:solidFill>
            <a:srgbClr val="EFEFEF"/>
          </a:solidFill>
          <a:ln w="6350">
            <a:solidFill>
              <a:srgbClr val="BFBFBF"/>
            </a:solidFill>
            <a:prstDash val="solid"/>
          </a:ln>
        </p:spPr>
      </p:sp>
      <p:sp>
        <p:nvSpPr>
          <p:cNvPr id="23" name="Text 21"/>
          <p:cNvSpPr/>
          <p:nvPr/>
        </p:nvSpPr>
        <p:spPr>
          <a:xfrm>
            <a:off x="777240" y="4078224"/>
            <a:ext cx="3566160" cy="475488"/>
          </a:xfrm>
          <a:prstGeom prst="rect">
            <a:avLst/>
          </a:prstGeom>
          <a:noFill/>
          <a:ln/>
        </p:spPr>
        <p:txBody>
          <a:bodyPr wrap="square" lIns="0" tIns="0" rIns="0" bIns="0" rtlCol="0" anchor="ctr"/>
          <a:lstStyle/>
          <a:p>
            <a:pPr indent="0" marL="0">
              <a:buNone/>
            </a:pPr>
            <a:r>
              <a:rPr lang="en-US" sz="1250" b="1" dirty="0">
                <a:solidFill>
                  <a:srgbClr val="222222"/>
                </a:solidFill>
                <a:latin typeface="Arial" pitchFamily="34" charset="0"/>
                <a:ea typeface="Arial" pitchFamily="34" charset="-122"/>
                <a:cs typeface="Arial" pitchFamily="34" charset="-120"/>
              </a:rPr>
              <a:t>E5   MADS year</a:t>
            </a:r>
            <a:endParaRPr lang="en-US" sz="1250" dirty="0"/>
          </a:p>
        </p:txBody>
      </p:sp>
      <p:sp>
        <p:nvSpPr>
          <p:cNvPr id="24" name="Text 22"/>
          <p:cNvSpPr/>
          <p:nvPr/>
        </p:nvSpPr>
        <p:spPr>
          <a:xfrm>
            <a:off x="4480560" y="4078224"/>
            <a:ext cx="1463040" cy="475488"/>
          </a:xfrm>
          <a:prstGeom prst="rect">
            <a:avLst/>
          </a:prstGeom>
          <a:noFill/>
          <a:ln/>
        </p:spPr>
        <p:txBody>
          <a:bodyPr wrap="square" lIns="0" tIns="0" rIns="0" bIns="0" rtlCol="0" anchor="ctr"/>
          <a:lstStyle/>
          <a:p>
            <a:pPr algn="ctr" indent="0" marL="0">
              <a:buNone/>
            </a:pPr>
            <a:r>
              <a:rPr lang="en-US" sz="1200" b="1" dirty="0">
                <a:solidFill>
                  <a:srgbClr val="C8102E"/>
                </a:solidFill>
                <a:latin typeface="Arial" pitchFamily="34" charset="0"/>
                <a:ea typeface="Arial" pitchFamily="34" charset="-122"/>
                <a:cs typeface="Arial" pitchFamily="34" charset="-120"/>
              </a:rPr>
              <a:t>missed</a:t>
            </a:r>
            <a:endParaRPr lang="en-US" sz="1200" dirty="0"/>
          </a:p>
        </p:txBody>
      </p:sp>
      <p:sp>
        <p:nvSpPr>
          <p:cNvPr id="25" name="Text 23"/>
          <p:cNvSpPr/>
          <p:nvPr/>
        </p:nvSpPr>
        <p:spPr>
          <a:xfrm>
            <a:off x="6035040" y="4078224"/>
            <a:ext cx="1463040" cy="475488"/>
          </a:xfrm>
          <a:prstGeom prst="rect">
            <a:avLst/>
          </a:prstGeom>
          <a:noFill/>
          <a:ln/>
        </p:spPr>
        <p:txBody>
          <a:bodyPr wrap="square" lIns="0" tIns="0" rIns="0" bIns="0" rtlCol="0" anchor="ctr"/>
          <a:lstStyle/>
          <a:p>
            <a:pPr algn="ctr" indent="0" marL="0">
              <a:buNone/>
            </a:pPr>
            <a:r>
              <a:rPr lang="en-US" sz="1200" b="1" dirty="0">
                <a:solidFill>
                  <a:srgbClr val="2E6B2A"/>
                </a:solidFill>
                <a:latin typeface="Arial" pitchFamily="34" charset="0"/>
                <a:ea typeface="Arial" pitchFamily="34" charset="-122"/>
                <a:cs typeface="Arial" pitchFamily="34" charset="-120"/>
              </a:rPr>
              <a:t>caught</a:t>
            </a:r>
            <a:endParaRPr lang="en-US" sz="1200" dirty="0"/>
          </a:p>
        </p:txBody>
      </p:sp>
      <p:sp>
        <p:nvSpPr>
          <p:cNvPr id="26" name="Shape 24"/>
          <p:cNvSpPr/>
          <p:nvPr/>
        </p:nvSpPr>
        <p:spPr>
          <a:xfrm>
            <a:off x="640080" y="4617720"/>
            <a:ext cx="6858000" cy="530352"/>
          </a:xfrm>
          <a:prstGeom prst="rect">
            <a:avLst/>
          </a:prstGeom>
          <a:solidFill>
            <a:srgbClr val="FFFFFF"/>
          </a:solidFill>
          <a:ln w="6350">
            <a:solidFill>
              <a:srgbClr val="BFBFBF"/>
            </a:solidFill>
            <a:prstDash val="solid"/>
          </a:ln>
        </p:spPr>
      </p:sp>
      <p:sp>
        <p:nvSpPr>
          <p:cNvPr id="27" name="Text 25"/>
          <p:cNvSpPr/>
          <p:nvPr/>
        </p:nvSpPr>
        <p:spPr>
          <a:xfrm>
            <a:off x="777240" y="4645152"/>
            <a:ext cx="3566160" cy="475488"/>
          </a:xfrm>
          <a:prstGeom prst="rect">
            <a:avLst/>
          </a:prstGeom>
          <a:noFill/>
          <a:ln/>
        </p:spPr>
        <p:txBody>
          <a:bodyPr wrap="square" lIns="0" tIns="0" rIns="0" bIns="0" rtlCol="0" anchor="ctr"/>
          <a:lstStyle/>
          <a:p>
            <a:pPr indent="0" marL="0">
              <a:buNone/>
            </a:pPr>
            <a:r>
              <a:rPr lang="en-US" sz="1250" b="1" dirty="0">
                <a:solidFill>
                  <a:srgbClr val="222222"/>
                </a:solidFill>
                <a:latin typeface="Arial" pitchFamily="34" charset="0"/>
                <a:ea typeface="Arial" pitchFamily="34" charset="-122"/>
                <a:cs typeface="Arial" pitchFamily="34" charset="-120"/>
              </a:rPr>
              <a:t>False alarms</a:t>
            </a:r>
            <a:endParaRPr lang="en-US" sz="1250" dirty="0"/>
          </a:p>
        </p:txBody>
      </p:sp>
      <p:sp>
        <p:nvSpPr>
          <p:cNvPr id="28" name="Text 26"/>
          <p:cNvSpPr/>
          <p:nvPr/>
        </p:nvSpPr>
        <p:spPr>
          <a:xfrm>
            <a:off x="4480560" y="4645152"/>
            <a:ext cx="1463040" cy="475488"/>
          </a:xfrm>
          <a:prstGeom prst="rect">
            <a:avLst/>
          </a:prstGeom>
          <a:noFill/>
          <a:ln/>
        </p:spPr>
        <p:txBody>
          <a:bodyPr wrap="square" lIns="0" tIns="0" rIns="0" bIns="0" rtlCol="0" anchor="ctr"/>
          <a:lstStyle/>
          <a:p>
            <a:pPr algn="ctr" indent="0" marL="0">
              <a:buNone/>
            </a:pPr>
            <a:r>
              <a:rPr lang="en-US" sz="1200" b="1" dirty="0">
                <a:solidFill>
                  <a:srgbClr val="C8102E"/>
                </a:solidFill>
                <a:latin typeface="Arial" pitchFamily="34" charset="0"/>
                <a:ea typeface="Arial" pitchFamily="34" charset="-122"/>
                <a:cs typeface="Arial" pitchFamily="34" charset="-120"/>
              </a:rPr>
              <a:t>4 per run</a:t>
            </a:r>
            <a:endParaRPr lang="en-US" sz="1200" dirty="0"/>
          </a:p>
        </p:txBody>
      </p:sp>
      <p:sp>
        <p:nvSpPr>
          <p:cNvPr id="29" name="Text 27"/>
          <p:cNvSpPr/>
          <p:nvPr/>
        </p:nvSpPr>
        <p:spPr>
          <a:xfrm>
            <a:off x="6035040" y="4645152"/>
            <a:ext cx="1463040" cy="475488"/>
          </a:xfrm>
          <a:prstGeom prst="rect">
            <a:avLst/>
          </a:prstGeom>
          <a:noFill/>
          <a:ln/>
        </p:spPr>
        <p:txBody>
          <a:bodyPr wrap="square" lIns="0" tIns="0" rIns="0" bIns="0" rtlCol="0" anchor="ctr"/>
          <a:lstStyle/>
          <a:p>
            <a:pPr algn="ctr" indent="0" marL="0">
              <a:buNone/>
            </a:pPr>
            <a:r>
              <a:rPr lang="en-US" sz="1200" b="1" dirty="0">
                <a:solidFill>
                  <a:srgbClr val="2E6B2A"/>
                </a:solidFill>
                <a:latin typeface="Arial" pitchFamily="34" charset="0"/>
                <a:ea typeface="Arial" pitchFamily="34" charset="-122"/>
                <a:cs typeface="Arial" pitchFamily="34" charset="-120"/>
              </a:rPr>
              <a:t>≈ 0–1</a:t>
            </a:r>
            <a:endParaRPr lang="en-US" sz="1200" dirty="0"/>
          </a:p>
        </p:txBody>
      </p:sp>
      <p:sp>
        <p:nvSpPr>
          <p:cNvPr id="30" name="Text 28"/>
          <p:cNvSpPr/>
          <p:nvPr/>
        </p:nvSpPr>
        <p:spPr>
          <a:xfrm>
            <a:off x="640080" y="5303520"/>
            <a:ext cx="6858000" cy="822960"/>
          </a:xfrm>
          <a:prstGeom prst="rect">
            <a:avLst/>
          </a:prstGeom>
          <a:noFill/>
          <a:ln/>
        </p:spPr>
        <p:txBody>
          <a:bodyPr wrap="square" lIns="0" tIns="0" rIns="0" bIns="0" rtlCol="0" anchor="ctr"/>
          <a:lstStyle/>
          <a:p>
            <a:pPr indent="0" marL="0">
              <a:buNone/>
            </a:pPr>
            <a:r>
              <a:rPr lang="en-US" sz="1250" b="1" dirty="0">
                <a:solidFill>
                  <a:srgbClr val="2E6B2A"/>
                </a:solidFill>
                <a:latin typeface="Arial" pitchFamily="34" charset="0"/>
                <a:ea typeface="Arial" pitchFamily="34" charset="-122"/>
                <a:cs typeface="Arial" pitchFamily="34" charset="-120"/>
              </a:rPr>
              <a:t>Bonus: </a:t>
            </a:r>
            <a:pPr indent="0" marL="0">
              <a:buNone/>
            </a:pPr>
            <a:r>
              <a:rPr lang="en-US" sz="1250" dirty="0">
                <a:solidFill>
                  <a:srgbClr val="333333"/>
                </a:solidFill>
                <a:latin typeface="Arial" pitchFamily="34" charset="0"/>
                <a:ea typeface="Arial" pitchFamily="34" charset="-122"/>
                <a:cs typeface="Arial" pitchFamily="34" charset="-120"/>
              </a:rPr>
              <a:t>the step-by-step method surfaced the MADS-year mismatch (2038 vs 2035) — an inconsistency that was not in the official review findings.</a:t>
            </a:r>
            <a:endParaRPr lang="en-US" sz="1250" dirty="0"/>
          </a:p>
        </p:txBody>
      </p:sp>
      <p:sp>
        <p:nvSpPr>
          <p:cNvPr id="31" name="Shape 29"/>
          <p:cNvSpPr/>
          <p:nvPr/>
        </p:nvSpPr>
        <p:spPr>
          <a:xfrm>
            <a:off x="7863840" y="1371600"/>
            <a:ext cx="3657600" cy="4023360"/>
          </a:xfrm>
          <a:prstGeom prst="rect">
            <a:avLst/>
          </a:prstGeom>
          <a:solidFill>
            <a:srgbClr val="FAFAFA"/>
          </a:solidFill>
          <a:ln w="12700">
            <a:solidFill>
              <a:srgbClr val="BFBFBF"/>
            </a:solidFill>
            <a:prstDash val="dash"/>
          </a:ln>
        </p:spPr>
      </p:sp>
      <p:sp>
        <p:nvSpPr>
          <p:cNvPr id="32" name="Text 30"/>
          <p:cNvSpPr/>
          <p:nvPr/>
        </p:nvSpPr>
        <p:spPr>
          <a:xfrm>
            <a:off x="8046720" y="3154680"/>
            <a:ext cx="3291840" cy="457200"/>
          </a:xfrm>
          <a:prstGeom prst="rect">
            <a:avLst/>
          </a:prstGeom>
          <a:noFill/>
          <a:ln/>
        </p:spPr>
        <p:txBody>
          <a:bodyPr wrap="square" lIns="0" tIns="0" rIns="0" bIns="0" rtlCol="0" anchor="ctr"/>
          <a:lstStyle/>
          <a:p>
            <a:pPr algn="ctr" indent="0" marL="0">
              <a:buNone/>
            </a:pPr>
            <a:r>
              <a:rPr lang="en-US" sz="1100" i="1" dirty="0">
                <a:solidFill>
                  <a:srgbClr val="808080"/>
                </a:solidFill>
                <a:latin typeface="Arial" pitchFamily="34" charset="0"/>
                <a:ea typeface="Arial" pitchFamily="34" charset="-122"/>
                <a:cs typeface="Arial" pitchFamily="34" charset="-120"/>
              </a:rPr>
              <a:t>[ screenshot: Method B final comparison output ]</a:t>
            </a:r>
            <a:endParaRPr lang="en-US" sz="1100" dirty="0"/>
          </a:p>
        </p:txBody>
      </p:sp>
      <p:sp>
        <p:nvSpPr>
          <p:cNvPr id="33" name="Text 31"/>
          <p:cNvSpPr/>
          <p:nvPr/>
        </p:nvSpPr>
        <p:spPr>
          <a:xfrm>
            <a:off x="11430000" y="6492240"/>
            <a:ext cx="365760" cy="274320"/>
          </a:xfrm>
          <a:prstGeom prst="rect">
            <a:avLst/>
          </a:prstGeom>
          <a:noFill/>
          <a:ln/>
        </p:spPr>
        <p:txBody>
          <a:bodyPr wrap="square" lIns="0" tIns="0" rIns="0" bIns="0" rtlCol="0" anchor="ctr"/>
          <a:lstStyle/>
          <a:p>
            <a:pPr algn="r" indent="0" marL="0">
              <a:buNone/>
            </a:pPr>
            <a:r>
              <a:rPr lang="en-US" sz="900" dirty="0">
                <a:solidFill>
                  <a:srgbClr val="808080"/>
                </a:solidFill>
                <a:latin typeface="Arial" pitchFamily="34" charset="0"/>
                <a:ea typeface="Arial" pitchFamily="34" charset="-122"/>
                <a:cs typeface="Arial" pitchFamily="34" charset="-120"/>
              </a:rPr>
              <a:t>14</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0040"/>
            <a:ext cx="10908792" cy="502920"/>
          </a:xfrm>
          <a:prstGeom prst="rect">
            <a:avLst/>
          </a:prstGeom>
          <a:noFill/>
          <a:ln/>
        </p:spPr>
        <p:txBody>
          <a:bodyPr wrap="square" lIns="0" tIns="0" rIns="0" bIns="0" rtlCol="0" anchor="ctr"/>
          <a:lstStyle/>
          <a:p>
            <a:pPr indent="0" marL="0">
              <a:buNone/>
            </a:pPr>
            <a:r>
              <a:rPr lang="en-US" sz="2400" b="1" dirty="0">
                <a:solidFill>
                  <a:srgbClr val="222222"/>
                </a:solidFill>
                <a:latin typeface="Arial" pitchFamily="34" charset="0"/>
                <a:ea typeface="Arial" pitchFamily="34" charset="-122"/>
                <a:cs typeface="Arial" pitchFamily="34" charset="-120"/>
              </a:rPr>
              <a:t>“Aren't these prompts too specific?”</a:t>
            </a:r>
            <a:endParaRPr lang="en-US" sz="2400" dirty="0"/>
          </a:p>
        </p:txBody>
      </p:sp>
      <p:sp>
        <p:nvSpPr>
          <p:cNvPr id="3" name="Text 1"/>
          <p:cNvSpPr/>
          <p:nvPr/>
        </p:nvSpPr>
        <p:spPr>
          <a:xfrm>
            <a:off x="640080" y="1280160"/>
            <a:ext cx="10881360" cy="4389120"/>
          </a:xfrm>
          <a:prstGeom prst="rect">
            <a:avLst/>
          </a:prstGeom>
          <a:noFill/>
          <a:ln/>
        </p:spPr>
        <p:txBody>
          <a:bodyPr wrap="square" lIns="0" tIns="0" rIns="0" bIns="0" rtlCol="0" anchor="t"/>
          <a:lstStyle/>
          <a:p>
            <a:pPr marL="177800" indent="-177800">
              <a:spcAft>
                <a:spcPts val="1700"/>
              </a:spcAft>
              <a:buSzPct val="100000"/>
              <a:buChar char="–"/>
            </a:pPr>
            <a:r>
              <a:rPr lang="en-US" sz="1500" dirty="0">
                <a:solidFill>
                  <a:srgbClr val="333333"/>
                </a:solidFill>
                <a:latin typeface="Arial" pitchFamily="34" charset="0"/>
                <a:ea typeface="Arial" pitchFamily="34" charset="-122"/>
                <a:cs typeface="Arial" pitchFamily="34" charset="-120"/>
              </a:rPr>
              <a:t>Yes — carved for one class of files: district ratings on the MUD RSR template.</a:t>
            </a:r>
            <a:endParaRPr lang="en-US" sz="1500" dirty="0"/>
          </a:p>
          <a:p>
            <a:pPr marL="177800" indent="-177800">
              <a:spcAft>
                <a:spcPts val="1700"/>
              </a:spcAft>
              <a:buSzPct val="100000"/>
              <a:buChar char="–"/>
            </a:pPr>
            <a:r>
              <a:rPr lang="en-US" sz="1500" dirty="0">
                <a:solidFill>
                  <a:srgbClr val="333333"/>
                </a:solidFill>
                <a:latin typeface="Arial" pitchFamily="34" charset="0"/>
                <a:ea typeface="Arial" pitchFamily="34" charset="-122"/>
                <a:cs typeface="Arial" pitchFamily="34" charset="-120"/>
              </a:rPr>
              <a:t>Same class, same templates → carve the prompts once, check every future file of the class.</a:t>
            </a:r>
            <a:endParaRPr lang="en-US" sz="1500" dirty="0"/>
          </a:p>
          <a:p>
            <a:pPr marL="177800" indent="-177800">
              <a:spcAft>
                <a:spcPts val="1700"/>
              </a:spcAft>
              <a:buSzPct val="100000"/>
              <a:buChar char="–"/>
            </a:pPr>
            <a:r>
              <a:rPr lang="en-US" sz="1500" dirty="0">
                <a:solidFill>
                  <a:srgbClr val="333333"/>
                </a:solidFill>
                <a:latin typeface="Arial" pitchFamily="34" charset="0"/>
                <a:ea typeface="Arial" pitchFamily="34" charset="-122"/>
                <a:cs typeface="Arial" pitchFamily="34" charset="-120"/>
              </a:rPr>
              <a:t>The example is specific; the method is general: define the task, split into steps, structure each step, iterate.</a:t>
            </a:r>
            <a:endParaRPr lang="en-US" sz="1500" dirty="0"/>
          </a:p>
          <a:p>
            <a:pPr marL="177800" indent="-177800">
              <a:spcAft>
                <a:spcPts val="1700"/>
              </a:spcAft>
              <a:buSzPct val="100000"/>
              <a:buChar char="–"/>
            </a:pPr>
            <a:r>
              <a:rPr lang="en-US" sz="1500" dirty="0">
                <a:solidFill>
                  <a:srgbClr val="333333"/>
                </a:solidFill>
                <a:latin typeface="Arial" pitchFamily="34" charset="0"/>
                <a:ea typeface="Arial" pitchFamily="34" charset="-122"/>
                <a:cs typeface="Arial" pitchFamily="34" charset="-120"/>
              </a:rPr>
              <a:t>Trade-off: more specific prompts → more capability, but more customization work. A Method A prompt won’t get there on Spark AIR; each task needs some tailoring. Cost-efficiency: case by case.</a:t>
            </a:r>
            <a:endParaRPr lang="en-US" sz="1500" dirty="0"/>
          </a:p>
          <a:p>
            <a:pPr marL="177800" indent="-177800">
              <a:spcAft>
                <a:spcPts val="1700"/>
              </a:spcAft>
              <a:buSzPct val="100000"/>
              <a:buChar char="–"/>
            </a:pPr>
            <a:r>
              <a:rPr lang="en-US" sz="1500" b="1" dirty="0">
                <a:solidFill>
                  <a:srgbClr val="333333"/>
                </a:solidFill>
                <a:latin typeface="Arial" pitchFamily="34" charset="0"/>
                <a:ea typeface="Arial" pitchFamily="34" charset="-122"/>
                <a:cs typeface="Arial" pitchFamily="34" charset="-120"/>
              </a:rPr>
              <a:t>Carve once, reuse many times.</a:t>
            </a:r>
            <a:endParaRPr lang="en-US" sz="1500" dirty="0"/>
          </a:p>
        </p:txBody>
      </p:sp>
      <p:sp>
        <p:nvSpPr>
          <p:cNvPr id="4" name="Text 2"/>
          <p:cNvSpPr/>
          <p:nvPr/>
        </p:nvSpPr>
        <p:spPr>
          <a:xfrm>
            <a:off x="11430000" y="6492240"/>
            <a:ext cx="365760" cy="274320"/>
          </a:xfrm>
          <a:prstGeom prst="rect">
            <a:avLst/>
          </a:prstGeom>
          <a:noFill/>
          <a:ln/>
        </p:spPr>
        <p:txBody>
          <a:bodyPr wrap="square" lIns="0" tIns="0" rIns="0" bIns="0" rtlCol="0" anchor="ctr"/>
          <a:lstStyle/>
          <a:p>
            <a:pPr algn="r" indent="0" marL="0">
              <a:buNone/>
            </a:pPr>
            <a:r>
              <a:rPr lang="en-US" sz="900" dirty="0">
                <a:solidFill>
                  <a:srgbClr val="808080"/>
                </a:solidFill>
                <a:latin typeface="Arial" pitchFamily="34" charset="0"/>
                <a:ea typeface="Arial" pitchFamily="34" charset="-122"/>
                <a:cs typeface="Arial"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0040"/>
            <a:ext cx="10908792" cy="502920"/>
          </a:xfrm>
          <a:prstGeom prst="rect">
            <a:avLst/>
          </a:prstGeom>
          <a:noFill/>
          <a:ln/>
        </p:spPr>
        <p:txBody>
          <a:bodyPr wrap="square" lIns="0" tIns="0" rIns="0" bIns="0" rtlCol="0" anchor="ctr"/>
          <a:lstStyle/>
          <a:p>
            <a:pPr indent="0" marL="0">
              <a:buNone/>
            </a:pPr>
            <a:r>
              <a:rPr lang="en-US" sz="2400" b="1" dirty="0">
                <a:solidFill>
                  <a:srgbClr val="222222"/>
                </a:solidFill>
                <a:latin typeface="Arial" pitchFamily="34" charset="0"/>
                <a:ea typeface="Arial" pitchFamily="34" charset="-122"/>
                <a:cs typeface="Arial" pitchFamily="34" charset="-120"/>
              </a:rPr>
              <a:t>Takeaways</a:t>
            </a:r>
            <a:endParaRPr lang="en-US" sz="2400" dirty="0"/>
          </a:p>
        </p:txBody>
      </p:sp>
      <p:sp>
        <p:nvSpPr>
          <p:cNvPr id="3" name="Text 1"/>
          <p:cNvSpPr/>
          <p:nvPr/>
        </p:nvSpPr>
        <p:spPr>
          <a:xfrm>
            <a:off x="640080" y="1280160"/>
            <a:ext cx="10881360" cy="4389120"/>
          </a:xfrm>
          <a:prstGeom prst="rect">
            <a:avLst/>
          </a:prstGeom>
          <a:noFill/>
          <a:ln/>
        </p:spPr>
        <p:txBody>
          <a:bodyPr wrap="square" lIns="0" tIns="0" rIns="0" bIns="0" rtlCol="0" anchor="t"/>
          <a:lstStyle/>
          <a:p>
            <a:pPr marL="177800" indent="-177800">
              <a:spcAft>
                <a:spcPts val="1800"/>
              </a:spcAft>
              <a:buSzPct val="100000"/>
              <a:buChar char="–"/>
            </a:pPr>
            <a:r>
              <a:rPr lang="en-US" sz="1500" dirty="0">
                <a:solidFill>
                  <a:srgbClr val="333333"/>
                </a:solidFill>
                <a:latin typeface="Arial" pitchFamily="34" charset="0"/>
                <a:ea typeface="Arial" pitchFamily="34" charset="-122"/>
                <a:cs typeface="Arial" pitchFamily="34" charset="-120"/>
              </a:rPr>
              <a:t>Small models can do big jobs — as small steps. Same model: 10/10 on small questions, 0/5 on the big vague one.</a:t>
            </a:r>
            <a:endParaRPr lang="en-US" sz="1500" dirty="0"/>
          </a:p>
          <a:p>
            <a:pPr marL="177800" indent="-177800">
              <a:spcAft>
                <a:spcPts val="1800"/>
              </a:spcAft>
              <a:buSzPct val="100000"/>
              <a:buChar char="–"/>
            </a:pPr>
            <a:r>
              <a:rPr lang="en-US" sz="1500" dirty="0">
                <a:solidFill>
                  <a:srgbClr val="333333"/>
                </a:solidFill>
                <a:latin typeface="Arial" pitchFamily="34" charset="0"/>
                <a:ea typeface="Arial" pitchFamily="34" charset="-122"/>
                <a:cs typeface="Arial" pitchFamily="34" charset="-120"/>
              </a:rPr>
              <a:t>Reliability comes from process, not model size. 0/5 → 4.5/5 with no model change.</a:t>
            </a:r>
            <a:endParaRPr lang="en-US" sz="1500" dirty="0"/>
          </a:p>
          <a:p>
            <a:pPr marL="177800" indent="-177800">
              <a:spcAft>
                <a:spcPts val="1800"/>
              </a:spcAft>
              <a:buSzPct val="100000"/>
              <a:buChar char="–"/>
            </a:pPr>
            <a:r>
              <a:rPr lang="en-US" sz="1500" dirty="0">
                <a:solidFill>
                  <a:srgbClr val="333333"/>
                </a:solidFill>
                <a:latin typeface="Arial" pitchFamily="34" charset="0"/>
                <a:ea typeface="Arial" pitchFamily="34" charset="-122"/>
                <a:cs typeface="Arial" pitchFamily="34" charset="-120"/>
              </a:rPr>
              <a:t>The real win is diagnosability — pipelines fail transparently; one-shots just answer wrong.</a:t>
            </a:r>
            <a:endParaRPr lang="en-US" sz="1500" dirty="0"/>
          </a:p>
        </p:txBody>
      </p:sp>
      <p:sp>
        <p:nvSpPr>
          <p:cNvPr id="4" name="Text 2"/>
          <p:cNvSpPr/>
          <p:nvPr/>
        </p:nvSpPr>
        <p:spPr>
          <a:xfrm>
            <a:off x="640080" y="5029200"/>
            <a:ext cx="10881360" cy="548640"/>
          </a:xfrm>
          <a:prstGeom prst="rect">
            <a:avLst/>
          </a:prstGeom>
          <a:noFill/>
          <a:ln/>
        </p:spPr>
        <p:txBody>
          <a:bodyPr wrap="square" lIns="0" tIns="0" rIns="0" bIns="0" rtlCol="0" anchor="ctr"/>
          <a:lstStyle/>
          <a:p>
            <a:pPr indent="0" marL="0">
              <a:buNone/>
            </a:pPr>
            <a:r>
              <a:rPr lang="en-US" sz="2000" b="1" i="1" dirty="0">
                <a:solidFill>
                  <a:srgbClr val="C8102E"/>
                </a:solidFill>
                <a:latin typeface="Arial" pitchFamily="34" charset="0"/>
                <a:ea typeface="Arial" pitchFamily="34" charset="-122"/>
                <a:cs typeface="Arial" pitchFamily="34" charset="-120"/>
              </a:rPr>
              <a:t>“We didn't make the model smarter. We changed the way we ask.”</a:t>
            </a:r>
            <a:endParaRPr lang="en-US" sz="2000" dirty="0"/>
          </a:p>
        </p:txBody>
      </p:sp>
      <p:sp>
        <p:nvSpPr>
          <p:cNvPr id="5" name="Text 3"/>
          <p:cNvSpPr/>
          <p:nvPr/>
        </p:nvSpPr>
        <p:spPr>
          <a:xfrm>
            <a:off x="11430000" y="6492240"/>
            <a:ext cx="365760" cy="274320"/>
          </a:xfrm>
          <a:prstGeom prst="rect">
            <a:avLst/>
          </a:prstGeom>
          <a:noFill/>
          <a:ln/>
        </p:spPr>
        <p:txBody>
          <a:bodyPr wrap="square" lIns="0" tIns="0" rIns="0" bIns="0" rtlCol="0" anchor="ctr"/>
          <a:lstStyle/>
          <a:p>
            <a:pPr algn="r" indent="0" marL="0">
              <a:buNone/>
            </a:pPr>
            <a:r>
              <a:rPr lang="en-US" sz="900" dirty="0">
                <a:solidFill>
                  <a:srgbClr val="808080"/>
                </a:solidFill>
                <a:latin typeface="Arial" pitchFamily="34" charset="0"/>
                <a:ea typeface="Arial" pitchFamily="34" charset="-122"/>
                <a:cs typeface="Arial"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0040"/>
            <a:ext cx="10908792" cy="502920"/>
          </a:xfrm>
          <a:prstGeom prst="rect">
            <a:avLst/>
          </a:prstGeom>
          <a:noFill/>
          <a:ln/>
        </p:spPr>
        <p:txBody>
          <a:bodyPr wrap="square" lIns="0" tIns="0" rIns="0" bIns="0" rtlCol="0" anchor="ctr"/>
          <a:lstStyle/>
          <a:p>
            <a:pPr indent="0" marL="0">
              <a:buNone/>
            </a:pPr>
            <a:r>
              <a:rPr lang="en-US" sz="2400" b="1" dirty="0">
                <a:solidFill>
                  <a:srgbClr val="222222"/>
                </a:solidFill>
                <a:latin typeface="Arial" pitchFamily="34" charset="0"/>
                <a:ea typeface="Arial" pitchFamily="34" charset="-122"/>
                <a:cs typeface="Arial" pitchFamily="34" charset="-120"/>
              </a:rPr>
              <a:t>Thanks</a:t>
            </a:r>
            <a:endParaRPr lang="en-US" sz="2400" dirty="0"/>
          </a:p>
        </p:txBody>
      </p:sp>
      <p:sp>
        <p:nvSpPr>
          <p:cNvPr id="3" name="Text 1"/>
          <p:cNvSpPr/>
          <p:nvPr/>
        </p:nvSpPr>
        <p:spPr>
          <a:xfrm>
            <a:off x="640080" y="1280160"/>
            <a:ext cx="10881360" cy="2560320"/>
          </a:xfrm>
          <a:prstGeom prst="rect">
            <a:avLst/>
          </a:prstGeom>
          <a:noFill/>
          <a:ln/>
        </p:spPr>
        <p:txBody>
          <a:bodyPr wrap="square" lIns="0" tIns="0" rIns="0" bIns="0" rtlCol="0" anchor="t"/>
          <a:lstStyle/>
          <a:p>
            <a:pPr marL="177800" indent="-177800">
              <a:spcAft>
                <a:spcPts val="1600"/>
              </a:spcAft>
              <a:buSzPct val="100000"/>
              <a:buChar char="–"/>
            </a:pPr>
            <a:r>
              <a:rPr lang="en-US" sz="1500" dirty="0">
                <a:solidFill>
                  <a:srgbClr val="333333"/>
                </a:solidFill>
                <a:latin typeface="Arial" pitchFamily="34" charset="0"/>
                <a:ea typeface="Arial" pitchFamily="34" charset="-122"/>
                <a:cs typeface="Arial" pitchFamily="34" charset="-120"/>
              </a:rPr>
              <a:t>Inspired by the File Review AI project — the extract-then-check approach comes from that squad’s work.</a:t>
            </a:r>
            <a:endParaRPr lang="en-US" sz="1500" dirty="0"/>
          </a:p>
          <a:p>
            <a:pPr marL="177800" indent="-177800">
              <a:spcAft>
                <a:spcPts val="1600"/>
              </a:spcAft>
              <a:buSzPct val="100000"/>
              <a:buChar char="–"/>
            </a:pPr>
            <a:r>
              <a:rPr lang="en-US" sz="1500" b="1" dirty="0">
                <a:solidFill>
                  <a:srgbClr val="333333"/>
                </a:solidFill>
                <a:latin typeface="Arial" pitchFamily="34" charset="0"/>
                <a:ea typeface="Arial" pitchFamily="34" charset="-122"/>
                <a:cs typeface="Arial" pitchFamily="34" charset="-120"/>
              </a:rPr>
              <a:t>Thank you to Jeff and the File Review AI squad.</a:t>
            </a:r>
            <a:endParaRPr lang="en-US" sz="1500" dirty="0"/>
          </a:p>
          <a:p>
            <a:pPr marL="177800" indent="-177800">
              <a:spcAft>
                <a:spcPts val="1600"/>
              </a:spcAft>
              <a:buSzPct val="100000"/>
              <a:buChar char="–"/>
            </a:pPr>
            <a:r>
              <a:rPr lang="en-US" sz="1500" dirty="0">
                <a:solidFill>
                  <a:srgbClr val="333333"/>
                </a:solidFill>
                <a:latin typeface="Arial" pitchFamily="34" charset="0"/>
                <a:ea typeface="Arial" pitchFamily="34" charset="-122"/>
                <a:cs typeface="Arial" pitchFamily="34" charset="-120"/>
              </a:rPr>
              <a:t>Demo materials and prompts available on request.</a:t>
            </a:r>
            <a:endParaRPr lang="en-US" sz="1500" dirty="0"/>
          </a:p>
        </p:txBody>
      </p:sp>
      <p:sp>
        <p:nvSpPr>
          <p:cNvPr id="4" name="Text 2"/>
          <p:cNvSpPr/>
          <p:nvPr/>
        </p:nvSpPr>
        <p:spPr>
          <a:xfrm>
            <a:off x="640080" y="4297680"/>
            <a:ext cx="10881360" cy="822960"/>
          </a:xfrm>
          <a:prstGeom prst="rect">
            <a:avLst/>
          </a:prstGeom>
          <a:noFill/>
          <a:ln/>
        </p:spPr>
        <p:txBody>
          <a:bodyPr wrap="square" lIns="0" tIns="0" rIns="0" bIns="0" rtlCol="0" anchor="ctr"/>
          <a:lstStyle/>
          <a:p>
            <a:pPr indent="0" marL="0">
              <a:buNone/>
            </a:pPr>
            <a:r>
              <a:rPr lang="en-US" sz="3600" b="1" dirty="0">
                <a:solidFill>
                  <a:srgbClr val="222222"/>
                </a:solidFill>
                <a:latin typeface="Arial" pitchFamily="34" charset="0"/>
                <a:ea typeface="Arial" pitchFamily="34" charset="-122"/>
                <a:cs typeface="Arial" pitchFamily="34" charset="-120"/>
              </a:rPr>
              <a:t>Questions?</a:t>
            </a:r>
            <a:endParaRPr lang="en-US" sz="3600" dirty="0"/>
          </a:p>
        </p:txBody>
      </p:sp>
      <p:sp>
        <p:nvSpPr>
          <p:cNvPr id="5" name="Text 3"/>
          <p:cNvSpPr/>
          <p:nvPr/>
        </p:nvSpPr>
        <p:spPr>
          <a:xfrm>
            <a:off x="11430000" y="6492240"/>
            <a:ext cx="365760" cy="274320"/>
          </a:xfrm>
          <a:prstGeom prst="rect">
            <a:avLst/>
          </a:prstGeom>
          <a:noFill/>
          <a:ln/>
        </p:spPr>
        <p:txBody>
          <a:bodyPr wrap="square" lIns="0" tIns="0" rIns="0" bIns="0" rtlCol="0" anchor="ctr"/>
          <a:lstStyle/>
          <a:p>
            <a:pPr algn="r" indent="0" marL="0">
              <a:buNone/>
            </a:pPr>
            <a:r>
              <a:rPr lang="en-US" sz="900" dirty="0">
                <a:solidFill>
                  <a:srgbClr val="808080"/>
                </a:solidFill>
                <a:latin typeface="Arial" pitchFamily="34" charset="0"/>
                <a:ea typeface="Arial" pitchFamily="34" charset="-122"/>
                <a:cs typeface="Arial"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0040"/>
            <a:ext cx="10908792" cy="502920"/>
          </a:xfrm>
          <a:prstGeom prst="rect">
            <a:avLst/>
          </a:prstGeom>
          <a:noFill/>
          <a:ln/>
        </p:spPr>
        <p:txBody>
          <a:bodyPr wrap="square" lIns="0" tIns="0" rIns="0" bIns="0" rtlCol="0" anchor="ctr"/>
          <a:lstStyle/>
          <a:p>
            <a:pPr indent="0" marL="0">
              <a:buNone/>
            </a:pPr>
            <a:r>
              <a:rPr lang="en-US" sz="2400" b="1" dirty="0">
                <a:solidFill>
                  <a:srgbClr val="222222"/>
                </a:solidFill>
                <a:latin typeface="Arial" pitchFamily="34" charset="0"/>
                <a:ea typeface="Arial" pitchFamily="34" charset="-122"/>
                <a:cs typeface="Arial" pitchFamily="34" charset="-120"/>
              </a:rPr>
              <a:t>Method B, first version: Extract → Compare</a:t>
            </a:r>
            <a:endParaRPr lang="en-US" sz="2400" dirty="0"/>
          </a:p>
        </p:txBody>
      </p:sp>
      <p:sp>
        <p:nvSpPr>
          <p:cNvPr id="3" name="Text 1"/>
          <p:cNvSpPr/>
          <p:nvPr/>
        </p:nvSpPr>
        <p:spPr>
          <a:xfrm>
            <a:off x="640080" y="1280160"/>
            <a:ext cx="7010400" cy="4389120"/>
          </a:xfrm>
          <a:prstGeom prst="rect">
            <a:avLst/>
          </a:prstGeom>
          <a:noFill/>
          <a:ln/>
        </p:spPr>
        <p:txBody>
          <a:bodyPr wrap="square" lIns="0" tIns="0" rIns="0" bIns="0" rtlCol="0" anchor="t"/>
          <a:lstStyle/>
          <a:p>
            <a:pPr marL="177800" indent="-177800">
              <a:spcAft>
                <a:spcPts val="1700"/>
              </a:spcAft>
              <a:buSzPct val="100000"/>
              <a:buChar char="–"/>
            </a:pPr>
            <a:r>
              <a:rPr lang="en-US" sz="1500" dirty="0">
                <a:solidFill>
                  <a:srgbClr val="333333"/>
                </a:solidFill>
                <a:latin typeface="Arial" pitchFamily="34" charset="0"/>
                <a:ea typeface="Arial" pitchFamily="34" charset="-122"/>
                <a:cs typeface="Arial" pitchFamily="34" charset="-120"/>
              </a:rPr>
              <a:t>Step 1 — Extract, one document at a time: “Convert the document’s data into one structured table: Section | Metric | Year | Value | Unit | Characterization. Copy values exactly as written; do NOT convert units. If a cell is blank, write BLANK. Do not guess.”</a:t>
            </a:r>
            <a:endParaRPr lang="en-US" sz="1500" dirty="0"/>
          </a:p>
          <a:p>
            <a:pPr marL="177800" indent="-177800">
              <a:spcAft>
                <a:spcPts val="1700"/>
              </a:spcAft>
              <a:buSzPct val="100000"/>
              <a:buChar char="–"/>
            </a:pPr>
            <a:r>
              <a:rPr lang="en-US" sz="1500" dirty="0">
                <a:solidFill>
                  <a:srgbClr val="333333"/>
                </a:solidFill>
                <a:latin typeface="Arial" pitchFamily="34" charset="0"/>
                <a:ea typeface="Arial" pitchFamily="34" charset="-122"/>
                <a:cs typeface="Arial" pitchFamily="34" charset="-120"/>
              </a:rPr>
              <a:t>Step 2 — Compare the extractions: “Compare EVERY piece of information that appears in more than one extraction… normalize units before comparing… different characterizations for the same metric ARE a disagreement, even when the numbers match.”</a:t>
            </a:r>
            <a:endParaRPr lang="en-US" sz="1500" dirty="0"/>
          </a:p>
          <a:p>
            <a:pPr marL="177800" indent="-177800">
              <a:spcAft>
                <a:spcPts val="1700"/>
              </a:spcAft>
              <a:buSzPct val="100000"/>
              <a:buChar char="–"/>
            </a:pPr>
            <a:r>
              <a:rPr lang="en-US" sz="1500" b="1" dirty="0">
                <a:solidFill>
                  <a:srgbClr val="333333"/>
                </a:solidFill>
                <a:latin typeface="Arial" pitchFamily="34" charset="0"/>
                <a:ea typeface="Arial" pitchFamily="34" charset="-122"/>
                <a:cs typeface="Arial" pitchFamily="34" charset="-120"/>
              </a:rPr>
              <a:t>Result: 2 of 5 errors caught (E3, E4) — and ~5 false alarms. E1/E2 missed.</a:t>
            </a:r>
            <a:endParaRPr lang="en-US" sz="1500" dirty="0"/>
          </a:p>
          <a:p>
            <a:pPr marL="177800" indent="-177800">
              <a:spcAft>
                <a:spcPts val="1700"/>
              </a:spcAft>
              <a:buSzPct val="100000"/>
              <a:buChar char="–"/>
            </a:pPr>
            <a:r>
              <a:rPr lang="en-US" sz="1500" dirty="0">
                <a:solidFill>
                  <a:srgbClr val="333333"/>
                </a:solidFill>
                <a:latin typeface="Arial" pitchFamily="34" charset="0"/>
                <a:ea typeface="Arial" pitchFamily="34" charset="-122"/>
                <a:cs typeface="Arial" pitchFamily="34" charset="-120"/>
              </a:rPr>
              <a:t>Diagnosis (from the intermediate tables): characterizations sit in merged cells in the MUD RSR → each label lands on one arbitrary year row → year-by-year comparison misses the contradiction.</a:t>
            </a:r>
            <a:endParaRPr lang="en-US" sz="1500" dirty="0"/>
          </a:p>
        </p:txBody>
      </p:sp>
      <p:sp>
        <p:nvSpPr>
          <p:cNvPr id="20" name="ShotBox"/>
          <p:cNvSpPr/>
          <p:nvPr/>
        </p:nvSpPr>
        <p:spPr>
          <a:xfrm>
            <a:off x="7955280" y="1325880"/>
            <a:ext cx="3566160" cy="4206240"/>
          </a:xfrm>
          <a:prstGeom prst="rect">
            <a:avLst/>
          </a:prstGeom>
          <a:solidFill>
            <a:srgbClr val="FAFAFA"/>
          </a:solidFill>
          <a:ln w="12700">
            <a:solidFill>
              <a:srgbClr val="BFBFBF"/>
            </a:solidFill>
            <a:prstDash val="dash"/>
          </a:ln>
        </p:spPr>
      </p:sp>
      <p:sp>
        <p:nvSpPr>
          <p:cNvPr id="21" name="ShotLabel"/>
          <p:cNvSpPr/>
          <p:nvPr/>
        </p:nvSpPr>
        <p:spPr>
          <a:xfrm>
            <a:off x="8138160" y="3200400"/>
            <a:ext cx="3200400" cy="457200"/>
          </a:xfrm>
          <a:prstGeom prst="rect">
            <a:avLst/>
          </a:prstGeom>
          <a:noFill/>
          <a:ln/>
        </p:spPr>
        <p:txBody>
          <a:bodyPr wrap="square" lIns="0" tIns="0" rIns="0" bIns="0" rtlCol="0" anchor="ctr"/>
          <a:lstStyle/>
          <a:p>
            <a:pPr algn="ctr" indent="0" marL="0">
              <a:buNone/>
            </a:pPr>
            <a:r>
              <a:rPr lang="en-US" sz="1100" i="1" dirty="0">
                <a:solidFill>
                  <a:srgbClr val="808080"/>
                </a:solidFill>
                <a:latin typeface="Arial" pitchFamily="34" charset="0"/>
                <a:ea typeface="Arial" pitchFamily="34" charset="-122"/>
                <a:cs typeface="Arial" pitchFamily="34" charset="-120"/>
              </a:rPr>
              <a:t>[ screenshot: 1st-version Step 1 extraction — the characterization appears on only ONE year row ]</a:t>
            </a:r>
            <a:endParaRPr lang="en-US" sz="1100" dirty="0"/>
          </a:p>
        </p:txBody>
      </p:sp>
      <p:sp>
        <p:nvSpPr>
          <p:cNvPr id="4" name="Text 2"/>
          <p:cNvSpPr/>
          <p:nvPr/>
        </p:nvSpPr>
        <p:spPr>
          <a:xfrm>
            <a:off x="11430000" y="6492240"/>
            <a:ext cx="365760" cy="274320"/>
          </a:xfrm>
          <a:prstGeom prst="rect">
            <a:avLst/>
          </a:prstGeom>
          <a:noFill/>
          <a:ln/>
        </p:spPr>
        <p:txBody>
          <a:bodyPr wrap="square" lIns="0" tIns="0" rIns="0" bIns="0" rtlCol="0" anchor="ctr"/>
          <a:lstStyle/>
          <a:p>
            <a:pPr algn="r" indent="0" marL="0">
              <a:buNone/>
            </a:pPr>
            <a:r>
              <a:rPr lang="en-US" sz="900" dirty="0">
                <a:solidFill>
                  <a:srgbClr val="808080"/>
                </a:solidFill>
                <a:latin typeface="Arial" pitchFamily="34" charset="0"/>
                <a:ea typeface="Arial" pitchFamily="34" charset="-122"/>
                <a:cs typeface="Arial" pitchFamily="34" charset="-120"/>
              </a:rPr>
              <a:t>10</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0040"/>
            <a:ext cx="10908792" cy="502920"/>
          </a:xfrm>
          <a:prstGeom prst="rect">
            <a:avLst/>
          </a:prstGeom>
          <a:noFill/>
          <a:ln/>
        </p:spPr>
        <p:txBody>
          <a:bodyPr wrap="square" lIns="0" tIns="0" rIns="0" bIns="0" rtlCol="0" anchor="ctr"/>
          <a:lstStyle/>
          <a:p>
            <a:pPr indent="0" marL="0">
              <a:buNone/>
            </a:pPr>
            <a:r>
              <a:rPr lang="en-US" sz="2400" b="1" dirty="0">
                <a:solidFill>
                  <a:srgbClr val="222222"/>
                </a:solidFill>
                <a:latin typeface="Arial" pitchFamily="34" charset="0"/>
                <a:ea typeface="Arial" pitchFamily="34" charset="-122"/>
                <a:cs typeface="Arial" pitchFamily="34" charset="-120"/>
              </a:rPr>
              <a:t>Second version: better extraction rules</a:t>
            </a:r>
            <a:endParaRPr lang="en-US" sz="2400" dirty="0"/>
          </a:p>
        </p:txBody>
      </p:sp>
      <p:sp>
        <p:nvSpPr>
          <p:cNvPr id="3" name="Text 1"/>
          <p:cNvSpPr/>
          <p:nvPr/>
        </p:nvSpPr>
        <p:spPr>
          <a:xfrm>
            <a:off x="640080" y="1280160"/>
            <a:ext cx="10881360" cy="4389120"/>
          </a:xfrm>
          <a:prstGeom prst="rect">
            <a:avLst/>
          </a:prstGeom>
          <a:noFill/>
          <a:ln/>
        </p:spPr>
        <p:txBody>
          <a:bodyPr wrap="square" lIns="0" tIns="0" rIns="0" bIns="0" rtlCol="0" anchor="t"/>
          <a:lstStyle/>
          <a:p>
            <a:pPr marL="177800" indent="-177800">
              <a:spcAft>
                <a:spcPts val="1700"/>
              </a:spcAft>
              <a:buSzPct val="100000"/>
              <a:buChar char="–"/>
            </a:pPr>
            <a:r>
              <a:rPr lang="en-US" sz="1500" dirty="0">
                <a:solidFill>
                  <a:srgbClr val="333333"/>
                </a:solidFill>
                <a:latin typeface="Arial" pitchFamily="34" charset="0"/>
                <a:ea typeface="Arial" pitchFamily="34" charset="-122"/>
                <a:cs typeface="Arial" pitchFamily="34" charset="-120"/>
              </a:rPr>
              <a:t>Fix — one general rule: “Characterizations belong to the METRIC as a whole: repeat them on EVERY year row.” Plus: decimal 0.25 = 25%; compare years/dates in footnotes too.</a:t>
            </a:r>
            <a:endParaRPr lang="en-US" sz="1500" dirty="0"/>
          </a:p>
          <a:p>
            <a:pPr marL="177800" indent="-177800">
              <a:spcAft>
                <a:spcPts val="1700"/>
              </a:spcAft>
              <a:buSzPct val="100000"/>
              <a:buChar char="–"/>
            </a:pPr>
            <a:r>
              <a:rPr lang="en-US" sz="1500" b="1" dirty="0">
                <a:solidFill>
                  <a:srgbClr val="333333"/>
                </a:solidFill>
                <a:latin typeface="Arial" pitchFamily="34" charset="0"/>
                <a:ea typeface="Arial" pitchFamily="34" charset="-122"/>
                <a:cs typeface="Arial" pitchFamily="34" charset="-120"/>
              </a:rPr>
              <a:t>Result: 3 of 5 (E3, E4, and now E5 — the footnote year). Still ~4 false alarms; E1/E2 still missed.</a:t>
            </a:r>
            <a:endParaRPr lang="en-US" sz="1500" dirty="0"/>
          </a:p>
          <a:p>
            <a:pPr marL="177800" indent="-177800">
              <a:spcAft>
                <a:spcPts val="1700"/>
              </a:spcAft>
              <a:buSzPct val="100000"/>
              <a:buChar char="–"/>
            </a:pPr>
            <a:r>
              <a:rPr lang="en-US" sz="1500" dirty="0">
                <a:solidFill>
                  <a:srgbClr val="333333"/>
                </a:solidFill>
                <a:latin typeface="Arial" pitchFamily="34" charset="0"/>
                <a:ea typeface="Arial" pitchFamily="34" charset="-122"/>
                <a:cs typeface="Arial" pitchFamily="34" charset="-120"/>
              </a:rPr>
              <a:t>Diagnosis: one step doing two jobs — converting units AND comparing. It computed the ×10 link, then flagged it anyway. Too much for one prompt.</a:t>
            </a:r>
            <a:endParaRPr lang="en-US" sz="1500" dirty="0"/>
          </a:p>
          <a:p>
            <a:pPr marL="177800" indent="-177800">
              <a:spcAft>
                <a:spcPts val="1700"/>
              </a:spcAft>
              <a:buSzPct val="100000"/>
              <a:buChar char="–"/>
            </a:pPr>
            <a:r>
              <a:rPr lang="en-US" sz="1500" dirty="0">
                <a:solidFill>
                  <a:srgbClr val="333333"/>
                </a:solidFill>
                <a:latin typeface="Arial" pitchFamily="34" charset="0"/>
                <a:ea typeface="Arial" pitchFamily="34" charset="-122"/>
                <a:cs typeface="Arial" pitchFamily="34" charset="-120"/>
              </a:rPr>
              <a:t>Fix: normalization gets its own prompt → final version.</a:t>
            </a:r>
            <a:endParaRPr lang="en-US" sz="1500" dirty="0"/>
          </a:p>
        </p:txBody>
      </p:sp>
      <p:sp>
        <p:nvSpPr>
          <p:cNvPr id="4" name="Text 2"/>
          <p:cNvSpPr/>
          <p:nvPr/>
        </p:nvSpPr>
        <p:spPr>
          <a:xfrm>
            <a:off x="11430000" y="6492240"/>
            <a:ext cx="365760" cy="274320"/>
          </a:xfrm>
          <a:prstGeom prst="rect">
            <a:avLst/>
          </a:prstGeom>
          <a:noFill/>
          <a:ln/>
        </p:spPr>
        <p:txBody>
          <a:bodyPr wrap="square" lIns="0" tIns="0" rIns="0" bIns="0" rtlCol="0" anchor="ctr"/>
          <a:lstStyle/>
          <a:p>
            <a:pPr algn="r" indent="0" marL="0">
              <a:buNone/>
            </a:pPr>
            <a:r>
              <a:rPr lang="en-US" sz="900" dirty="0">
                <a:solidFill>
                  <a:srgbClr val="808080"/>
                </a:solidFill>
                <a:latin typeface="Arial" pitchFamily="34" charset="0"/>
                <a:ea typeface="Arial" pitchFamily="34" charset="-122"/>
                <a:cs typeface="Arial" pitchFamily="34" charset="-120"/>
              </a:rPr>
              <a:t>11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2026-08-03T17:25:52Z</dcterms:created>
  <dcterms:modified xsi:type="dcterms:W3CDTF">2026-08-03T17:25:52Z</dcterms:modified>
</cp:coreProperties>
</file>