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73" r:id="rId24"/>
    <p:sldId id="274" r:id="rId25"/>
    <p:sldId id="266" r:id="rId12"/>
    <p:sldId id="267" r:id="rId13"/>
    <p:sldId id="268" r:id="rId14"/>
    <p:sldId id="269" r:id="rId15"/>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0.xml"/><Relationship Id="rId25"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Real errors caught (of 5)</c:v>
                </c:pt>
              </c:strCache>
            </c:strRef>
          </c:tx>
          <c:spPr>
            <a:solidFill>
              <a:srgbClr val="0F7FA6"/>
            </a:solidFill>
            <a:effectLst/>
          </c:spPr>
          <c:invertIfNegative val="0"/>
          <c:dLbls>
            <c:numFmt formatCode="#,##0" sourceLinked="0"/>
            <c:txPr>
              <a:bodyPr/>
              <a:lstStyle/>
              <a:p>
                <a:pPr>
                  <a:defRPr b="0" i="0" strike="noStrike" sz="950" u="none">
                    <a:solidFill>
                      <a:srgbClr val="333333"/>
                    </a:solidFill>
                    <a:latin typeface="Arial"/>
                  </a:defRPr>
                </a:pPr>
              </a:p>
            </c:txPr>
            <c:showLegendKey val="0"/>
            <c:showVal val="1"/>
            <c:showCatName val="0"/>
            <c:showSerName val="0"/>
            <c:showPercent val="0"/>
            <c:showBubbleSize val="0"/>
            <c:showLeaderLines val="0"/>
          </c:dLbls>
          <c:cat>
            <c:multiLvlStrRef>
              <c:f>Sheet1!$A$2:$A$5</c:f>
              <c:multiLvlStrCache>
                <c:ptCount val="4"/>
                <c:lvl>
                  <c:pt idx="0">
                    <c:v>Method A
(run 2)</c:v>
                  </c:pt>
                  <c:pt idx="1">
                    <c:v>Method B
1st version</c:v>
                  </c:pt>
                  <c:pt idx="2">
                    <c:v>Method B
2nd version</c:v>
                  </c:pt>
                  <c:pt idx="3">
                    <c:v>Method B
final</c:v>
                  </c:pt>
                </c:lvl>
              </c:multiLvlStrCache>
            </c:multiLvlStrRef>
          </c:cat>
          <c:val>
            <c:numRef>
              <c:f>Sheet1!$B$2:$B$5</c:f>
              <c:numCache>
                <c:formatCode>General</c:formatCode>
                <c:ptCount val="4"/>
                <c:pt idx="0">
                  <c:v>0</c:v>
                </c:pt>
                <c:pt idx="1">
                  <c:v>3</c:v>
                </c:pt>
                <c:pt idx="2">
                  <c:v>3</c:v>
                </c:pt>
                <c:pt idx="3">
                  <c:v>5</c:v>
                </c:pt>
              </c:numCache>
            </c:numRef>
          </c:val>
        </c:ser>
        <c:ser>
          <c:idx val="1"/>
          <c:order val="1"/>
          <c:tx>
            <c:strRef>
              <c:f>Sheet1!$C$1</c:f>
              <c:strCache>
                <c:ptCount val="1"/>
                <c:pt idx="0">
                  <c:v>False alarms</c:v>
                </c:pt>
              </c:strCache>
            </c:strRef>
          </c:tx>
          <c:spPr>
            <a:solidFill>
              <a:srgbClr val="C8102E"/>
            </a:solidFill>
            <a:effectLst/>
          </c:spPr>
          <c:invertIfNegative val="0"/>
          <c:dLbls>
            <c:numFmt formatCode="#,##0" sourceLinked="0"/>
            <c:txPr>
              <a:bodyPr/>
              <a:lstStyle/>
              <a:p>
                <a:pPr>
                  <a:defRPr b="0" i="0" strike="noStrike" sz="950" u="none">
                    <a:solidFill>
                      <a:srgbClr val="333333"/>
                    </a:solidFill>
                    <a:latin typeface="Arial"/>
                  </a:defRPr>
                </a:pPr>
              </a:p>
            </c:txPr>
            <c:showLegendKey val="0"/>
            <c:showVal val="1"/>
            <c:showCatName val="0"/>
            <c:showSerName val="0"/>
            <c:showPercent val="0"/>
            <c:showBubbleSize val="0"/>
            <c:showLeaderLines val="0"/>
          </c:dLbls>
          <c:cat>
            <c:multiLvlStrRef>
              <c:f>Sheet1!$A$2:$A$5</c:f>
              <c:multiLvlStrCache>
                <c:ptCount val="4"/>
                <c:lvl>
                  <c:pt idx="0">
                    <c:v>Method A
(run 2)</c:v>
                  </c:pt>
                  <c:pt idx="1">
                    <c:v>Method B
1st version</c:v>
                  </c:pt>
                  <c:pt idx="2">
                    <c:v>Method B
2nd version</c:v>
                  </c:pt>
                  <c:pt idx="3">
                    <c:v>Method B
final</c:v>
                  </c:pt>
                </c:lvl>
              </c:multiLvlStrCache>
            </c:multiLvlStrRef>
          </c:cat>
          <c:val>
            <c:numRef>
              <c:f>Sheet1!$C$2:$C$5</c:f>
              <c:numCache>
                <c:formatCode>General</c:formatCode>
                <c:ptCount val="4"/>
                <c:pt idx="0">
                  <c:v>4</c:v>
                </c:pt>
                <c:pt idx="1">
                  <c:v>8</c:v>
                </c:pt>
                <c:pt idx="2">
                  <c:v>6</c:v>
                </c:pt>
                <c:pt idx="3">
                  <c:v>1</c:v>
                </c:pt>
              </c:numCache>
            </c:numRef>
          </c:val>
        </c:ser>
        <c:dLbls>
          <c:numFmt formatCode="#,##0" sourceLinked="0"/>
          <c:txPr>
            <a:bodyPr/>
            <a:lstStyle/>
            <a:p>
              <a:pPr>
                <a:defRPr b="0" i="0" strike="noStrike" sz="950" u="none">
                  <a:solidFill>
                    <a:srgbClr val="3333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max val="8"/>
        </c:scaling>
        <c:delete val="0"/>
        <c:axPos val="l"/>
        <c:majorGridlines>
          <c:spPr>
            <a:ln w="9525"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808080"/>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a hands-on experiment with Spark AIR on a real file review task. The punchline: how you structure the task matters more than how smart the model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also carries the file-review explanation (merged from old slide 3): the file behind every rating, independent re-check, internal record vs published article must agree. Then the tool (Spark AIR, gemma4) and the experiment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Anonymized district (name withheld on all slides/screenshots): 2025 refunding, BBB+. Four documents. The quality review already found real inconsistencies, so we have an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E1/E2 presented as pure characterization contradictions — no unit talk here; the mills vs $/100 explanation is deliberately saved for the Method A false-alarm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maturity typo, shifted value table, and the MADS year mismatch — which the official review didn't even log; remember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this message is NOT deliberately bad. We ran it three times to check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of five across three runs, ~4 false positives each, runs disagree. Explain the unit convention HERE (mills vs $ per $100, factor of 10): the flagged pair is the same number — false alarm — while the real E1/E2 contradiction next to it goes unmentioned.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designing Method B we probed the model: 10/10 tiny targeted questions correct, sub-second. Capability isn't the bottleneck — task structure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of the talk: the decomposition is not an AI trick — it comes from writing down what the review work actually is. The intern analogy is the key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excerpts briefly. Point out the style: forbid guessing, forbid converting during extraction, define 'same' and 'disagreement' explicitly. And stress fairness: no answer knowledge in any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of the iteration story (details now on the v2/v3 slides): chart shows 0/5 to 4.5/5; stress that only instructions changed and diagnosability is the difference vs one-shot.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same documents. Only the task structure changed. Plus one finding the official review didn't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obvious pushback. The prompts are class-specific by design — that's amortized effort, not over-fitting. The recipe itself is general. Then name the trade-off: specificity buys capability but costs customization; whether tailoring is cost-efficient is case by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then the one-liner. Pause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the File Review AI project as the inspiration; thank Jeff and the squad.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920240"/>
            <a:ext cx="10881360" cy="82296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Small model, big task</a:t>
            </a:r>
            <a:endParaRPr lang="en-US" sz="4000" dirty="0"/>
          </a:p>
        </p:txBody>
      </p:sp>
      <p:sp>
        <p:nvSpPr>
          <p:cNvPr id="3" name="Text 1"/>
          <p:cNvSpPr/>
          <p:nvPr/>
        </p:nvSpPr>
        <p:spPr>
          <a:xfrm>
            <a:off x="640080" y="2834640"/>
            <a:ext cx="10515600" cy="868680"/>
          </a:xfrm>
          <a:prstGeom prst="rect">
            <a:avLst/>
          </a:prstGeom>
          <a:noFill/>
          <a:ln/>
        </p:spPr>
        <p:txBody>
          <a:bodyPr wrap="square" lIns="0" tIns="0" rIns="0" bIns="0" rtlCol="0" anchor="ctr"/>
          <a:lstStyle/>
          <a:p>
            <a:pPr indent="0" marL="0">
              <a:buNone/>
            </a:pPr>
            <a:r>
              <a:rPr lang="en-US" sz="1800" dirty="0">
                <a:solidFill>
                  <a:srgbClr val="333333"/>
                </a:solidFill>
                <a:latin typeface="Arial" pitchFamily="34" charset="0"/>
                <a:ea typeface="Arial" pitchFamily="34" charset="-122"/>
                <a:cs typeface="Arial" pitchFamily="34" charset="-120"/>
              </a:rPr>
              <a:t>Chain-of-Thought Context Engineering on Spark AIR:</a:t>
            </a:r>
            <a:endParaRPr lang="en-US" sz="1800" dirty="0"/>
          </a:p>
          <a:p>
            <a:pPr indent="0" marL="0">
              <a:buNone/>
            </a:pPr>
            <a:r>
              <a:rPr lang="en-US" sz="1800" dirty="0">
                <a:solidFill>
                  <a:srgbClr val="333333"/>
                </a:solidFill>
                <a:latin typeface="Arial" pitchFamily="34" charset="0"/>
                <a:ea typeface="Arial" pitchFamily="34" charset="-122"/>
                <a:cs typeface="Arial" pitchFamily="34" charset="-120"/>
              </a:rPr>
              <a:t>building complex workflows from simple prompts — an experiment on a real rating file</a:t>
            </a:r>
            <a:endParaRPr lang="en-US" sz="1800" dirty="0"/>
          </a:p>
        </p:txBody>
      </p:sp>
      <p:sp>
        <p:nvSpPr>
          <p:cNvPr id="4" name="Text 2"/>
          <p:cNvSpPr/>
          <p:nvPr/>
        </p:nvSpPr>
        <p:spPr>
          <a:xfrm>
            <a:off x="640080" y="5120640"/>
            <a:ext cx="7315200" cy="640080"/>
          </a:xfrm>
          <a:prstGeom prst="rect">
            <a:avLst/>
          </a:prstGeom>
          <a:noFill/>
          <a:ln/>
        </p:spPr>
        <p:txBody>
          <a:bodyPr wrap="square" lIns="0" tIns="0" rIns="0" bIns="0" rtlCol="0" anchor="ctr"/>
          <a:lstStyle/>
          <a:p>
            <a:pPr indent="0" marL="0">
              <a:buNone/>
            </a:pPr>
            <a:r>
              <a:rPr lang="en-US" sz="1400" dirty="0">
                <a:solidFill>
                  <a:srgbClr val="333333"/>
                </a:solidFill>
                <a:latin typeface="Arial" pitchFamily="34" charset="0"/>
                <a:ea typeface="Arial" pitchFamily="34" charset="-122"/>
                <a:cs typeface="Arial" pitchFamily="34" charset="-120"/>
              </a:rPr>
              <a:t>Lun Du — AQV Review &amp; Validation</a:t>
            </a: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AI Summer League, August 6,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The task, and the tool</a:t>
            </a:r>
            <a:endParaRPr lang="en-US" sz="2400" dirty="0"/>
          </a:p>
        </p:txBody>
      </p:sp>
      <p:sp>
        <p:nvSpPr>
          <p:cNvPr id="3" name="Text 1"/>
          <p:cNvSpPr/>
          <p:nvPr/>
        </p:nvSpPr>
        <p:spPr>
          <a:xfrm>
            <a:off x="640080" y="1280160"/>
            <a:ext cx="10881360" cy="4389120"/>
          </a:xfrm>
          <a:prstGeom prst="rect">
            <a:avLst/>
          </a:prstGeom>
          <a:noFill/>
          <a:ln/>
        </p:spPr>
        <p:txBody>
          <a:bodyPr wrap="square" lIns="0" tIns="0" rIns="0" bIns="0" rtlCol="0" anchor="t"/>
          <a:lstStyle/>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The task — file review: every published rating has a file behind it (internal record, model outputs, published article). An independent AQV re-check: criteria applied correctly, records complete, internal record vs publication consistent.</a:t>
            </a:r>
            <a:endParaRPr lang="en-US" sz="1500" dirty="0"/>
          </a:p>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The tool — Spark AIR: internal AI platform, gemma4-26B-A4B-it running locally. Fast, but a small model — struggles with multi-step requests in a single prompt.</a:t>
            </a:r>
            <a:endParaRPr lang="en-US" sz="1500" dirty="0"/>
          </a:p>
          <a:p>
            <a:pPr marL="177800" indent="-177800">
              <a:spcAft>
                <a:spcPts val="1600"/>
              </a:spcAft>
              <a:buSzPct val="100000"/>
              <a:buChar char="–"/>
            </a:pPr>
            <a:r>
              <a:rPr lang="en-US" sz="1500" b="1" dirty="0">
                <a:solidFill>
                  <a:srgbClr val="333333"/>
                </a:solidFill>
                <a:latin typeface="Arial" pitchFamily="34" charset="0"/>
                <a:ea typeface="Arial" pitchFamily="34" charset="-122"/>
                <a:cs typeface="Arial" pitchFamily="34" charset="-120"/>
              </a:rPr>
              <a:t>The question for this experiment: how do we structure the task so a small model succeeds?</a:t>
            </a:r>
            <a:endParaRPr lang="en-US" sz="1500" dirty="0"/>
          </a:p>
        </p:txBody>
      </p:sp>
      <p:sp>
        <p:nvSpPr>
          <p:cNvPr id="4" name="Text 2"/>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Our test case: one real rating file</a:t>
            </a:r>
            <a:endParaRPr lang="en-US" sz="2400" dirty="0"/>
          </a:p>
        </p:txBody>
      </p:sp>
      <p:sp>
        <p:nvSpPr>
          <p:cNvPr id="3" name="Text 1"/>
          <p:cNvSpPr/>
          <p:nvPr/>
        </p:nvSpPr>
        <p:spPr>
          <a:xfrm>
            <a:off x="640080" y="1280160"/>
            <a:ext cx="10881360" cy="146304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A Colorado metropolitan district (name withheld) — series 2025 GO refunding bonds, rated BBB+ in Nov 2025.</a:t>
            </a:r>
            <a:endParaRPr lang="en-US" sz="1500" dirty="0"/>
          </a:p>
          <a:p>
            <a:pPr marL="177800" indent="-177800">
              <a:spcAft>
                <a:spcPts val="1700"/>
              </a:spcAft>
              <a:buSzPct val="100000"/>
              <a:buChar char="–"/>
            </a:pPr>
            <a:r>
              <a:rPr lang="en-US" sz="1400" i="1" dirty="0">
                <a:solidFill>
                  <a:srgbClr val="808080"/>
                </a:solidFill>
                <a:latin typeface="Arial" pitchFamily="34" charset="0"/>
                <a:ea typeface="Arial" pitchFamily="34" charset="-122"/>
                <a:cs typeface="Arial" pitchFamily="34" charset="-120"/>
              </a:rPr>
              <a:t>[ live/screenshot: published article first page, entity name redacted — what it looks like; the rated bonds, the rating and date ]</a:t>
            </a:r>
            <a:endParaRPr lang="en-US" sz="1400" dirty="0"/>
          </a:p>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Four documents uploaded to Spark AIR:</a:t>
            </a:r>
            <a:endParaRPr lang="en-US" sz="1500" dirty="0"/>
          </a:p>
        </p:txBody>
      </p:sp>
      <p:sp>
        <p:nvSpPr>
          <p:cNvPr id="4" name="Text 2"/>
          <p:cNvSpPr/>
          <p:nvPr/>
        </p:nvSpPr>
        <p:spPr>
          <a:xfrm>
            <a:off x="1005840" y="2743200"/>
            <a:ext cx="10332720" cy="1005840"/>
          </a:xfrm>
          <a:prstGeom prst="rect">
            <a:avLst/>
          </a:prstGeom>
          <a:noFill/>
          <a:ln/>
        </p:spPr>
        <p:txBody>
          <a:bodyPr wrap="square" lIns="0" tIns="0" rIns="0" bIns="0" rtlCol="0" anchor="ctr"/>
          <a:lstStyle/>
          <a:p>
            <a:pPr indent="0" marL="0">
              <a:lnSpc>
                <a:spcPts val="2600"/>
              </a:lnSpc>
              <a:buNone/>
            </a:pPr>
            <a:r>
              <a:rPr lang="en-US" sz="1350" b="1" dirty="0">
                <a:solidFill>
                  <a:srgbClr val="333333"/>
                </a:solidFill>
                <a:latin typeface="Arial" pitchFamily="34" charset="0"/>
                <a:ea typeface="Arial" pitchFamily="34" charset="-122"/>
                <a:cs typeface="Arial" pitchFamily="34" charset="-120"/>
              </a:rPr>
              <a:t>Internal:  </a:t>
            </a:r>
            <a:pPr indent="0" marL="0">
              <a:lnSpc>
                <a:spcPts val="2600"/>
              </a:lnSpc>
              <a:buNone/>
            </a:pPr>
            <a:r>
              <a:rPr lang="en-US" sz="1350" dirty="0">
                <a:solidFill>
                  <a:srgbClr val="333333"/>
                </a:solidFill>
                <a:latin typeface="Arial" pitchFamily="34" charset="0"/>
                <a:ea typeface="Arial" pitchFamily="34" charset="-122"/>
                <a:cs typeface="Arial" pitchFamily="34" charset="-120"/>
              </a:rPr>
              <a:t>MUD RSR (model output, Excel)   ·   RAMP (internal rating record, Word)   ·   Criteria article (PDF)</a:t>
            </a:r>
            <a:pPr indent="0" marL="0">
              <a:lnSpc>
                <a:spcPts val="2600"/>
              </a:lnSpc>
              <a:buNone/>
            </a:pPr>
            <a:r>
              <a:rPr lang="en-US" sz="1350" dirty="0">
                <a:solidFill>
                  <a:srgbClr val="333333"/>
                </a:solidFill>
                <a:latin typeface="Arial" pitchFamily="34" charset="0"/>
                <a:ea typeface="Arial" pitchFamily="34" charset="-122"/>
                <a:cs typeface="Arial" pitchFamily="34" charset="-120"/>
              </a:rPr>
              <a:t>
</a:t>
            </a:r>
            <a:pPr indent="0" marL="0">
              <a:lnSpc>
                <a:spcPts val="2600"/>
              </a:lnSpc>
              <a:buNone/>
            </a:pPr>
            <a:r>
              <a:rPr lang="en-US" sz="1350" b="1" dirty="0">
                <a:solidFill>
                  <a:srgbClr val="333333"/>
                </a:solidFill>
                <a:latin typeface="Arial" pitchFamily="34" charset="0"/>
                <a:ea typeface="Arial" pitchFamily="34" charset="-122"/>
                <a:cs typeface="Arial" pitchFamily="34" charset="-120"/>
              </a:rPr>
              <a:t>Published:  </a:t>
            </a:r>
            <a:pPr indent="0" marL="0">
              <a:lnSpc>
                <a:spcPts val="2600"/>
              </a:lnSpc>
              <a:buNone/>
            </a:pPr>
            <a:r>
              <a:rPr lang="en-US" sz="1350" dirty="0">
                <a:solidFill>
                  <a:srgbClr val="333333"/>
                </a:solidFill>
                <a:latin typeface="Arial" pitchFamily="34" charset="0"/>
                <a:ea typeface="Arial" pitchFamily="34" charset="-122"/>
                <a:cs typeface="Arial" pitchFamily="34" charset="-120"/>
              </a:rPr>
              <a:t>Research update / rating article (PDF)</a:t>
            </a:r>
            <a:endParaRPr lang="en-US" sz="1350" dirty="0"/>
          </a:p>
        </p:txBody>
      </p:sp>
      <p:sp>
        <p:nvSpPr>
          <p:cNvPr id="5" name="Text 3"/>
          <p:cNvSpPr/>
          <p:nvPr/>
        </p:nvSpPr>
        <p:spPr>
          <a:xfrm>
            <a:off x="640080" y="4114800"/>
            <a:ext cx="10881360" cy="822960"/>
          </a:xfrm>
          <a:prstGeom prst="rect">
            <a:avLst/>
          </a:prstGeom>
          <a:noFill/>
          <a:ln/>
        </p:spPr>
        <p:txBody>
          <a:bodyPr wrap="square" lIns="0" tIns="0" rIns="0" bIns="0" rtlCol="0" anchor="ctr"/>
          <a:lstStyle/>
          <a:p>
            <a:pPr indent="0" marL="0">
              <a:buNone/>
            </a:pPr>
            <a:r>
              <a:rPr lang="en-US" sz="1500" dirty="0">
                <a:solidFill>
                  <a:srgbClr val="333333"/>
                </a:solidFill>
                <a:latin typeface="Arial" pitchFamily="34" charset="0"/>
                <a:ea typeface="Arial" pitchFamily="34" charset="-122"/>
                <a:cs typeface="Arial" pitchFamily="34" charset="-120"/>
              </a:rPr>
              <a:t>Why this file: its quality review already logged real inconsistencies → a known answer key.</a:t>
            </a:r>
            <a:endParaRPr lang="en-US" sz="1500" dirty="0"/>
          </a:p>
        </p:txBody>
      </p:sp>
      <p:sp>
        <p:nvSpPr>
          <p:cNvPr id="6" name="Text 4"/>
          <p:cNvSpPr/>
          <p:nvPr/>
        </p:nvSpPr>
        <p:spPr>
          <a:xfrm>
            <a:off x="640080" y="5120640"/>
            <a:ext cx="10881360" cy="45720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Task for the AI: the reviewer’s consistency check — do these documents agree?</a:t>
            </a:r>
            <a:endParaRPr lang="en-US" sz="1500" dirty="0"/>
          </a:p>
        </p:txBody>
      </p:sp>
      <p:sp>
        <p:nvSpPr>
          <p:cNvPr id="7" name="Text 5"/>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The known errors (1/2): E1 &amp; E2 — contradictory characterizations</a:t>
            </a:r>
            <a:endParaRPr lang="en-US" sz="2400" dirty="0"/>
          </a:p>
        </p:txBody>
      </p:sp>
      <p:sp>
        <p:nvSpPr>
          <p:cNvPr id="3" name="Text 1"/>
          <p:cNvSpPr/>
          <p:nvPr/>
        </p:nvSpPr>
        <p:spPr>
          <a:xfrm>
            <a:off x="640080" y="1234440"/>
            <a:ext cx="10881360" cy="365760"/>
          </a:xfrm>
          <a:prstGeom prst="rect">
            <a:avLst/>
          </a:prstGeom>
          <a:noFill/>
          <a:ln/>
        </p:spPr>
        <p:txBody>
          <a:bodyPr wrap="square" lIns="0" tIns="0" rIns="0" bIns="0" rtlCol="0" anchor="ctr"/>
          <a:lstStyle/>
          <a:p>
            <a:pPr indent="0" marL="0">
              <a:buNone/>
            </a:pPr>
            <a:r>
              <a:rPr lang="en-US" sz="1500" dirty="0">
                <a:solidFill>
                  <a:srgbClr val="333333"/>
                </a:solidFill>
                <a:latin typeface="Arial" pitchFamily="34" charset="0"/>
                <a:ea typeface="Arial" pitchFamily="34" charset="-122"/>
                <a:cs typeface="Arial" pitchFamily="34" charset="-120"/>
              </a:rPr>
              <a:t>Property tax rate characterizations:</a:t>
            </a:r>
            <a:endParaRPr lang="en-US" sz="1500" dirty="0"/>
          </a:p>
        </p:txBody>
      </p:sp>
      <p:sp>
        <p:nvSpPr>
          <p:cNvPr id="4" name="Text 2"/>
          <p:cNvSpPr/>
          <p:nvPr/>
        </p:nvSpPr>
        <p:spPr>
          <a:xfrm>
            <a:off x="777240" y="1828800"/>
            <a:ext cx="3108960" cy="365760"/>
          </a:xfrm>
          <a:prstGeom prst="rect">
            <a:avLst/>
          </a:prstGeom>
          <a:noFill/>
          <a:ln/>
        </p:spPr>
        <p:txBody>
          <a:bodyPr wrap="square" lIns="0" tIns="0" rIns="0" bIns="0" rtlCol="0" anchor="ctr"/>
          <a:lstStyle/>
          <a:p>
            <a:pPr indent="0" marL="0">
              <a:buNone/>
            </a:pPr>
            <a:endParaRPr lang="en-US" sz="1100" dirty="0"/>
          </a:p>
        </p:txBody>
      </p:sp>
      <p:sp>
        <p:nvSpPr>
          <p:cNvPr id="5" name="Text 3"/>
          <p:cNvSpPr/>
          <p:nvPr/>
        </p:nvSpPr>
        <p:spPr>
          <a:xfrm>
            <a:off x="4023360" y="1828800"/>
            <a:ext cx="1920240" cy="365760"/>
          </a:xfrm>
          <a:prstGeom prst="rect">
            <a:avLst/>
          </a:prstGeom>
          <a:noFill/>
          <a:ln/>
        </p:spPr>
        <p:txBody>
          <a:bodyPr wrap="square" lIns="0" tIns="0" rIns="0" bIns="0" rtlCol="0" anchor="ctr"/>
          <a:lstStyle/>
          <a:p>
            <a:pPr indent="0" marL="0">
              <a:buNone/>
            </a:pPr>
            <a:r>
              <a:rPr lang="en-US" sz="1100" dirty="0">
                <a:solidFill>
                  <a:srgbClr val="808080"/>
                </a:solidFill>
                <a:latin typeface="Arial" pitchFamily="34" charset="0"/>
                <a:ea typeface="Arial" pitchFamily="34" charset="-122"/>
                <a:cs typeface="Arial" pitchFamily="34" charset="-120"/>
              </a:rPr>
              <a:t>Internal record (MUD RSR)</a:t>
            </a:r>
            <a:endParaRPr lang="en-US" sz="1100" dirty="0"/>
          </a:p>
        </p:txBody>
      </p:sp>
      <p:sp>
        <p:nvSpPr>
          <p:cNvPr id="6" name="Text 4"/>
          <p:cNvSpPr/>
          <p:nvPr/>
        </p:nvSpPr>
        <p:spPr>
          <a:xfrm>
            <a:off x="6035040" y="1828800"/>
            <a:ext cx="2834640" cy="365760"/>
          </a:xfrm>
          <a:prstGeom prst="rect">
            <a:avLst/>
          </a:prstGeom>
          <a:noFill/>
          <a:ln/>
        </p:spPr>
        <p:txBody>
          <a:bodyPr wrap="square" lIns="0" tIns="0" rIns="0" bIns="0" rtlCol="0" anchor="ctr"/>
          <a:lstStyle/>
          <a:p>
            <a:pPr indent="0" marL="0">
              <a:buNone/>
            </a:pPr>
            <a:r>
              <a:rPr lang="en-US" sz="1100" dirty="0">
                <a:solidFill>
                  <a:srgbClr val="808080"/>
                </a:solidFill>
                <a:latin typeface="Arial" pitchFamily="34" charset="0"/>
                <a:ea typeface="Arial" pitchFamily="34" charset="-122"/>
                <a:cs typeface="Arial" pitchFamily="34" charset="-120"/>
              </a:rPr>
              <a:t>Published article</a:t>
            </a:r>
            <a:endParaRPr lang="en-US" sz="1100" dirty="0"/>
          </a:p>
        </p:txBody>
      </p:sp>
      <p:sp>
        <p:nvSpPr>
          <p:cNvPr id="7" name="Text 5"/>
          <p:cNvSpPr/>
          <p:nvPr/>
        </p:nvSpPr>
        <p:spPr>
          <a:xfrm>
            <a:off x="8961120" y="1828800"/>
            <a:ext cx="1828800" cy="365760"/>
          </a:xfrm>
          <a:prstGeom prst="rect">
            <a:avLst/>
          </a:prstGeom>
          <a:noFill/>
          <a:ln/>
        </p:spPr>
        <p:txBody>
          <a:bodyPr wrap="square" lIns="0" tIns="0" rIns="0" bIns="0" rtlCol="0" anchor="ctr"/>
          <a:lstStyle/>
          <a:p>
            <a:pPr indent="0" marL="0">
              <a:buNone/>
            </a:pPr>
            <a:r>
              <a:rPr lang="en-US" sz="1100" dirty="0">
                <a:solidFill>
                  <a:srgbClr val="808080"/>
                </a:solidFill>
                <a:latin typeface="Arial" pitchFamily="34" charset="0"/>
                <a:ea typeface="Arial" pitchFamily="34" charset="-122"/>
                <a:cs typeface="Arial" pitchFamily="34" charset="-120"/>
              </a:rPr>
              <a:t>AQV finding</a:t>
            </a:r>
            <a:endParaRPr lang="en-US" sz="1100" dirty="0"/>
          </a:p>
        </p:txBody>
      </p:sp>
      <p:sp>
        <p:nvSpPr>
          <p:cNvPr id="8" name="Shape 6"/>
          <p:cNvSpPr/>
          <p:nvPr/>
        </p:nvSpPr>
        <p:spPr>
          <a:xfrm>
            <a:off x="640080" y="2194560"/>
            <a:ext cx="10332720" cy="594360"/>
          </a:xfrm>
          <a:prstGeom prst="rect">
            <a:avLst/>
          </a:prstGeom>
          <a:solidFill>
            <a:srgbClr val="EFEFEF"/>
          </a:solidFill>
          <a:ln w="6350">
            <a:solidFill>
              <a:srgbClr val="BFBFBF"/>
            </a:solidFill>
            <a:prstDash val="solid"/>
          </a:ln>
        </p:spPr>
      </p:sp>
      <p:sp>
        <p:nvSpPr>
          <p:cNvPr id="9" name="Text 7"/>
          <p:cNvSpPr/>
          <p:nvPr/>
        </p:nvSpPr>
        <p:spPr>
          <a:xfrm>
            <a:off x="777240" y="2240280"/>
            <a:ext cx="3108960" cy="502920"/>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E1 — Direct property tax rate</a:t>
            </a:r>
            <a:endParaRPr lang="en-US" sz="1300" dirty="0"/>
          </a:p>
        </p:txBody>
      </p:sp>
      <p:sp>
        <p:nvSpPr>
          <p:cNvPr id="10" name="Text 8"/>
          <p:cNvSpPr/>
          <p:nvPr/>
        </p:nvSpPr>
        <p:spPr>
          <a:xfrm>
            <a:off x="4023360" y="2240280"/>
            <a:ext cx="1920240" cy="502920"/>
          </a:xfrm>
          <a:prstGeom prst="rect">
            <a:avLst/>
          </a:prstGeom>
          <a:noFill/>
          <a:ln/>
        </p:spPr>
        <p:txBody>
          <a:bodyPr wrap="square" lIns="0" tIns="0" rIns="0" bIns="0" rtlCol="0" anchor="ctr"/>
          <a:lstStyle/>
          <a:p>
            <a:pPr indent="0" marL="0">
              <a:buNone/>
            </a:pPr>
            <a:r>
              <a:rPr lang="en-US" sz="1500" b="1" dirty="0">
                <a:solidFill>
                  <a:srgbClr val="2E6B2A"/>
                </a:solidFill>
                <a:latin typeface="Arial" pitchFamily="34" charset="0"/>
                <a:ea typeface="Arial" pitchFamily="34" charset="-122"/>
                <a:cs typeface="Arial" pitchFamily="34" charset="-120"/>
              </a:rPr>
              <a:t>“Very Low”</a:t>
            </a:r>
            <a:endParaRPr lang="en-US" sz="1500" dirty="0"/>
          </a:p>
        </p:txBody>
      </p:sp>
      <p:sp>
        <p:nvSpPr>
          <p:cNvPr id="11" name="Text 9"/>
          <p:cNvSpPr/>
          <p:nvPr/>
        </p:nvSpPr>
        <p:spPr>
          <a:xfrm>
            <a:off x="6035040" y="2240280"/>
            <a:ext cx="2834640" cy="502920"/>
          </a:xfrm>
          <a:prstGeom prst="rect">
            <a:avLst/>
          </a:prstGeom>
          <a:noFill/>
          <a:ln/>
        </p:spPr>
        <p:txBody>
          <a:bodyPr wrap="square" lIns="0" tIns="0" rIns="0" bIns="0" rtlCol="0" anchor="ctr"/>
          <a:lstStyle/>
          <a:p>
            <a:pPr indent="0" marL="0">
              <a:buNone/>
            </a:pPr>
            <a:r>
              <a:rPr lang="en-US" sz="1300" dirty="0">
                <a:solidFill>
                  <a:srgbClr val="C8102E"/>
                </a:solidFill>
                <a:latin typeface="Arial" pitchFamily="34" charset="0"/>
                <a:ea typeface="Arial" pitchFamily="34" charset="-122"/>
                <a:cs typeface="Arial" pitchFamily="34" charset="-120"/>
              </a:rPr>
              <a:t>“High”</a:t>
            </a:r>
            <a:endParaRPr lang="en-US" sz="1300" dirty="0"/>
          </a:p>
        </p:txBody>
      </p:sp>
      <p:sp>
        <p:nvSpPr>
          <p:cNvPr id="12" name="Text 10"/>
          <p:cNvSpPr/>
          <p:nvPr/>
        </p:nvSpPr>
        <p:spPr>
          <a:xfrm>
            <a:off x="8961120" y="2240280"/>
            <a:ext cx="1828800" cy="502920"/>
          </a:xfrm>
          <a:prstGeom prst="rect">
            <a:avLst/>
          </a:prstGeom>
          <a:noFill/>
          <a:ln/>
        </p:spPr>
        <p:txBody>
          <a:bodyPr wrap="square" lIns="0" tIns="0" rIns="0" bIns="0" rtlCol="0" anchor="ctr"/>
          <a:lstStyle/>
          <a:p>
            <a:pPr indent="0" marL="0">
              <a:buNone/>
            </a:pPr>
            <a:r>
              <a:rPr lang="en-US" sz="1500" b="1" dirty="0">
                <a:solidFill>
                  <a:srgbClr val="808080"/>
                </a:solidFill>
                <a:latin typeface="Arial" pitchFamily="34" charset="0"/>
                <a:ea typeface="Arial" pitchFamily="34" charset="-122"/>
                <a:cs typeface="Arial" pitchFamily="34" charset="-120"/>
              </a:rPr>
              <a:t>Medium risk</a:t>
            </a:r>
            <a:endParaRPr lang="en-US" sz="1500" dirty="0"/>
          </a:p>
        </p:txBody>
      </p:sp>
      <p:sp>
        <p:nvSpPr>
          <p:cNvPr id="13" name="Shape 11"/>
          <p:cNvSpPr/>
          <p:nvPr/>
        </p:nvSpPr>
        <p:spPr>
          <a:xfrm>
            <a:off x="640080" y="2852928"/>
            <a:ext cx="10332720" cy="594360"/>
          </a:xfrm>
          <a:prstGeom prst="rect">
            <a:avLst/>
          </a:prstGeom>
          <a:solidFill>
            <a:srgbClr val="FFFFFF"/>
          </a:solidFill>
          <a:ln w="6350">
            <a:solidFill>
              <a:srgbClr val="BFBFBF"/>
            </a:solidFill>
            <a:prstDash val="solid"/>
          </a:ln>
        </p:spPr>
      </p:sp>
      <p:sp>
        <p:nvSpPr>
          <p:cNvPr id="14" name="Text 12"/>
          <p:cNvSpPr/>
          <p:nvPr/>
        </p:nvSpPr>
        <p:spPr>
          <a:xfrm>
            <a:off x="777240" y="2898648"/>
            <a:ext cx="3108960" cy="502920"/>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E2 — Total property tax rate</a:t>
            </a:r>
            <a:endParaRPr lang="en-US" sz="1300" dirty="0"/>
          </a:p>
        </p:txBody>
      </p:sp>
      <p:sp>
        <p:nvSpPr>
          <p:cNvPr id="15" name="Text 13"/>
          <p:cNvSpPr/>
          <p:nvPr/>
        </p:nvSpPr>
        <p:spPr>
          <a:xfrm>
            <a:off x="4023360" y="2898648"/>
            <a:ext cx="1920240" cy="502920"/>
          </a:xfrm>
          <a:prstGeom prst="rect">
            <a:avLst/>
          </a:prstGeom>
          <a:noFill/>
          <a:ln/>
        </p:spPr>
        <p:txBody>
          <a:bodyPr wrap="square" lIns="0" tIns="0" rIns="0" bIns="0" rtlCol="0" anchor="ctr"/>
          <a:lstStyle/>
          <a:p>
            <a:pPr indent="0" marL="0">
              <a:buNone/>
            </a:pPr>
            <a:r>
              <a:rPr lang="en-US" sz="1500" b="1" dirty="0">
                <a:solidFill>
                  <a:srgbClr val="2E6B2A"/>
                </a:solidFill>
                <a:latin typeface="Arial" pitchFamily="34" charset="0"/>
                <a:ea typeface="Arial" pitchFamily="34" charset="-122"/>
                <a:cs typeface="Arial" pitchFamily="34" charset="-120"/>
              </a:rPr>
              <a:t>“Very Low”</a:t>
            </a:r>
            <a:endParaRPr lang="en-US" sz="1500" dirty="0"/>
          </a:p>
        </p:txBody>
      </p:sp>
      <p:sp>
        <p:nvSpPr>
          <p:cNvPr id="16" name="Text 14"/>
          <p:cNvSpPr/>
          <p:nvPr/>
        </p:nvSpPr>
        <p:spPr>
          <a:xfrm>
            <a:off x="6035040" y="2898648"/>
            <a:ext cx="2834640" cy="502920"/>
          </a:xfrm>
          <a:prstGeom prst="rect">
            <a:avLst/>
          </a:prstGeom>
          <a:noFill/>
          <a:ln/>
        </p:spPr>
        <p:txBody>
          <a:bodyPr wrap="square" lIns="0" tIns="0" rIns="0" bIns="0" rtlCol="0" anchor="ctr"/>
          <a:lstStyle/>
          <a:p>
            <a:pPr indent="0" marL="0">
              <a:buNone/>
            </a:pPr>
            <a:r>
              <a:rPr lang="en-US" sz="1300" dirty="0">
                <a:solidFill>
                  <a:srgbClr val="C8102E"/>
                </a:solidFill>
                <a:latin typeface="Arial" pitchFamily="34" charset="0"/>
                <a:ea typeface="Arial" pitchFamily="34" charset="-122"/>
                <a:cs typeface="Arial" pitchFamily="34" charset="-120"/>
              </a:rPr>
              <a:t>“High”</a:t>
            </a:r>
            <a:endParaRPr lang="en-US" sz="1300" dirty="0"/>
          </a:p>
        </p:txBody>
      </p:sp>
      <p:sp>
        <p:nvSpPr>
          <p:cNvPr id="17" name="Text 15"/>
          <p:cNvSpPr/>
          <p:nvPr/>
        </p:nvSpPr>
        <p:spPr>
          <a:xfrm>
            <a:off x="8961120" y="2898648"/>
            <a:ext cx="1828800" cy="502920"/>
          </a:xfrm>
          <a:prstGeom prst="rect">
            <a:avLst/>
          </a:prstGeom>
          <a:noFill/>
          <a:ln/>
        </p:spPr>
        <p:txBody>
          <a:bodyPr wrap="square" lIns="0" tIns="0" rIns="0" bIns="0" rtlCol="0" anchor="ctr"/>
          <a:lstStyle/>
          <a:p>
            <a:pPr indent="0" marL="0">
              <a:buNone/>
            </a:pPr>
            <a:r>
              <a:rPr lang="en-US" sz="1500" b="1" dirty="0">
                <a:solidFill>
                  <a:srgbClr val="808080"/>
                </a:solidFill>
                <a:latin typeface="Arial" pitchFamily="34" charset="0"/>
                <a:ea typeface="Arial" pitchFamily="34" charset="-122"/>
                <a:cs typeface="Arial" pitchFamily="34" charset="-120"/>
              </a:rPr>
              <a:t>Medium risk</a:t>
            </a:r>
            <a:endParaRPr lang="en-US" sz="1500" dirty="0"/>
          </a:p>
        </p:txBody>
      </p:sp>
      <p:sp>
        <p:nvSpPr>
          <p:cNvPr id="18" name="Text 16"/>
          <p:cNvSpPr/>
          <p:nvPr/>
        </p:nvSpPr>
        <p:spPr>
          <a:xfrm>
            <a:off x="640080" y="3703320"/>
            <a:ext cx="10881360" cy="219456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Same rates, opposite judgment labels.</a:t>
            </a:r>
            <a:endParaRPr lang="en-US" sz="1500" dirty="0"/>
          </a:p>
          <a:p>
            <a:pPr marL="177800" indent="-177800">
              <a:spcAft>
                <a:spcPts val="1200"/>
              </a:spcAft>
              <a:buSzPct val="100000"/>
              <a:buChar char="–"/>
            </a:pPr>
            <a:r>
              <a:rPr lang="en-US" sz="1500" b="1" dirty="0">
                <a:solidFill>
                  <a:srgbClr val="333333"/>
                </a:solidFill>
                <a:latin typeface="Arial" pitchFamily="34" charset="0"/>
                <a:ea typeface="Arial" pitchFamily="34" charset="-122"/>
                <a:cs typeface="Arial" pitchFamily="34" charset="-120"/>
              </a:rPr>
              <a:t>Both logged as findings in the official quality review.</a:t>
            </a:r>
            <a:endParaRPr lang="en-US" sz="1500" dirty="0"/>
          </a:p>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
            </a:r>
            <a:endParaRPr lang="en-US" sz="1500" dirty="0"/>
          </a:p>
        </p:txBody>
      </p:sp>
      <p:sp>
        <p:nvSpPr>
          <p:cNvPr id="19" name="Text 17"/>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The known errors (2/2): E3, E4, E5</a:t>
            </a:r>
            <a:endParaRPr lang="en-US" sz="2400" dirty="0"/>
          </a:p>
        </p:txBody>
      </p:sp>
      <p:sp>
        <p:nvSpPr>
          <p:cNvPr id="3" name="Text 1"/>
          <p:cNvSpPr/>
          <p:nvPr/>
        </p:nvSpPr>
        <p:spPr>
          <a:xfrm>
            <a:off x="777240" y="1417320"/>
            <a:ext cx="3291840" cy="365760"/>
          </a:xfrm>
          <a:prstGeom prst="rect">
            <a:avLst/>
          </a:prstGeom>
          <a:noFill/>
          <a:ln/>
        </p:spPr>
        <p:txBody>
          <a:bodyPr wrap="square" lIns="0" tIns="0" rIns="0" bIns="0" rtlCol="0" anchor="ctr"/>
          <a:lstStyle/>
          <a:p>
            <a:pPr indent="0" marL="0">
              <a:buNone/>
            </a:pPr>
            <a:endParaRPr lang="en-US" sz="1100" dirty="0"/>
          </a:p>
        </p:txBody>
      </p:sp>
      <p:sp>
        <p:nvSpPr>
          <p:cNvPr id="4" name="Text 2"/>
          <p:cNvSpPr/>
          <p:nvPr/>
        </p:nvSpPr>
        <p:spPr>
          <a:xfrm>
            <a:off x="4206240" y="1417320"/>
            <a:ext cx="2377440" cy="365760"/>
          </a:xfrm>
          <a:prstGeom prst="rect">
            <a:avLst/>
          </a:prstGeom>
          <a:noFill/>
          <a:ln/>
        </p:spPr>
        <p:txBody>
          <a:bodyPr wrap="square" lIns="0" tIns="0" rIns="0" bIns="0" rtlCol="0" anchor="ctr"/>
          <a:lstStyle/>
          <a:p>
            <a:pPr indent="0" marL="0">
              <a:buNone/>
            </a:pPr>
            <a:r>
              <a:rPr lang="en-US" sz="1100" dirty="0">
                <a:solidFill>
                  <a:srgbClr val="808080"/>
                </a:solidFill>
                <a:latin typeface="Arial" pitchFamily="34" charset="0"/>
                <a:ea typeface="Arial" pitchFamily="34" charset="-122"/>
                <a:cs typeface="Arial" pitchFamily="34" charset="-120"/>
              </a:rPr>
              <a:t>Internal record</a:t>
            </a:r>
            <a:endParaRPr lang="en-US" sz="1100" dirty="0"/>
          </a:p>
        </p:txBody>
      </p:sp>
      <p:sp>
        <p:nvSpPr>
          <p:cNvPr id="5" name="Text 3"/>
          <p:cNvSpPr/>
          <p:nvPr/>
        </p:nvSpPr>
        <p:spPr>
          <a:xfrm>
            <a:off x="6766560" y="1417320"/>
            <a:ext cx="2286000" cy="365760"/>
          </a:xfrm>
          <a:prstGeom prst="rect">
            <a:avLst/>
          </a:prstGeom>
          <a:noFill/>
          <a:ln/>
        </p:spPr>
        <p:txBody>
          <a:bodyPr wrap="square" lIns="0" tIns="0" rIns="0" bIns="0" rtlCol="0" anchor="ctr"/>
          <a:lstStyle/>
          <a:p>
            <a:pPr indent="0" marL="0">
              <a:buNone/>
            </a:pPr>
            <a:r>
              <a:rPr lang="en-US" sz="1100" dirty="0">
                <a:solidFill>
                  <a:srgbClr val="808080"/>
                </a:solidFill>
                <a:latin typeface="Arial" pitchFamily="34" charset="0"/>
                <a:ea typeface="Arial" pitchFamily="34" charset="-122"/>
                <a:cs typeface="Arial" pitchFamily="34" charset="-120"/>
              </a:rPr>
              <a:t>Published article</a:t>
            </a:r>
            <a:endParaRPr lang="en-US" sz="1100" dirty="0"/>
          </a:p>
        </p:txBody>
      </p:sp>
      <p:sp>
        <p:nvSpPr>
          <p:cNvPr id="6" name="Text 4"/>
          <p:cNvSpPr/>
          <p:nvPr/>
        </p:nvSpPr>
        <p:spPr>
          <a:xfrm>
            <a:off x="9144000" y="1417320"/>
            <a:ext cx="2286000" cy="365760"/>
          </a:xfrm>
          <a:prstGeom prst="rect">
            <a:avLst/>
          </a:prstGeom>
          <a:noFill/>
          <a:ln/>
        </p:spPr>
        <p:txBody>
          <a:bodyPr wrap="square" lIns="0" tIns="0" rIns="0" bIns="0" rtlCol="0" anchor="ctr"/>
          <a:lstStyle/>
          <a:p>
            <a:pPr indent="0" marL="0">
              <a:buNone/>
            </a:pPr>
            <a:endParaRPr lang="en-US" sz="1100" dirty="0"/>
          </a:p>
        </p:txBody>
      </p:sp>
      <p:sp>
        <p:nvSpPr>
          <p:cNvPr id="7" name="Shape 5"/>
          <p:cNvSpPr/>
          <p:nvPr/>
        </p:nvSpPr>
        <p:spPr>
          <a:xfrm>
            <a:off x="640080" y="1783080"/>
            <a:ext cx="10881360" cy="685800"/>
          </a:xfrm>
          <a:prstGeom prst="rect">
            <a:avLst/>
          </a:prstGeom>
          <a:solidFill>
            <a:srgbClr val="EFEFEF"/>
          </a:solidFill>
          <a:ln w="6350">
            <a:solidFill>
              <a:srgbClr val="BFBFBF"/>
            </a:solidFill>
            <a:prstDash val="solid"/>
          </a:ln>
        </p:spPr>
      </p:sp>
      <p:sp>
        <p:nvSpPr>
          <p:cNvPr id="8" name="Text 6"/>
          <p:cNvSpPr/>
          <p:nvPr/>
        </p:nvSpPr>
        <p:spPr>
          <a:xfrm>
            <a:off x="777240" y="1828800"/>
            <a:ext cx="3291840" cy="594360"/>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E3   Bond maturity date</a:t>
            </a:r>
            <a:endParaRPr lang="en-US" sz="1300" dirty="0"/>
          </a:p>
        </p:txBody>
      </p:sp>
      <p:sp>
        <p:nvSpPr>
          <p:cNvPr id="9" name="Text 7"/>
          <p:cNvSpPr/>
          <p:nvPr/>
        </p:nvSpPr>
        <p:spPr>
          <a:xfrm>
            <a:off x="4206240" y="1828800"/>
            <a:ext cx="2377440" cy="594360"/>
          </a:xfrm>
          <a:prstGeom prst="rect">
            <a:avLst/>
          </a:prstGeom>
          <a:noFill/>
          <a:ln/>
        </p:spPr>
        <p:txBody>
          <a:bodyPr wrap="square" lIns="0" tIns="0" rIns="0" bIns="0" rtlCol="0" anchor="ctr"/>
          <a:lstStyle/>
          <a:p>
            <a:pPr indent="0" marL="0">
              <a:buNone/>
            </a:pPr>
            <a:r>
              <a:rPr lang="en-US" sz="1350" b="1" dirty="0">
                <a:solidFill>
                  <a:srgbClr val="222222"/>
                </a:solidFill>
                <a:latin typeface="Arial" pitchFamily="34" charset="0"/>
                <a:ea typeface="Arial" pitchFamily="34" charset="-122"/>
                <a:cs typeface="Arial" pitchFamily="34" charset="-120"/>
              </a:rPr>
              <a:t>12/01/2055</a:t>
            </a:r>
            <a:endParaRPr lang="en-US" sz="1350" dirty="0"/>
          </a:p>
        </p:txBody>
      </p:sp>
      <p:sp>
        <p:nvSpPr>
          <p:cNvPr id="10" name="Text 8"/>
          <p:cNvSpPr/>
          <p:nvPr/>
        </p:nvSpPr>
        <p:spPr>
          <a:xfrm>
            <a:off x="6766560" y="1828800"/>
            <a:ext cx="2286000" cy="594360"/>
          </a:xfrm>
          <a:prstGeom prst="rect">
            <a:avLst/>
          </a:prstGeom>
          <a:noFill/>
          <a:ln/>
        </p:spPr>
        <p:txBody>
          <a:bodyPr wrap="square" lIns="0" tIns="0" rIns="0" bIns="0" rtlCol="0" anchor="ctr"/>
          <a:lstStyle/>
          <a:p>
            <a:pPr indent="0" marL="0">
              <a:buNone/>
            </a:pPr>
            <a:r>
              <a:rPr lang="en-US" sz="1350" b="1" dirty="0">
                <a:solidFill>
                  <a:srgbClr val="C8102E"/>
                </a:solidFill>
                <a:latin typeface="Arial" pitchFamily="34" charset="0"/>
                <a:ea typeface="Arial" pitchFamily="34" charset="-122"/>
                <a:cs typeface="Arial" pitchFamily="34" charset="-120"/>
              </a:rPr>
              <a:t>12/01/2065</a:t>
            </a:r>
            <a:endParaRPr lang="en-US" sz="1350" dirty="0"/>
          </a:p>
        </p:txBody>
      </p:sp>
      <p:sp>
        <p:nvSpPr>
          <p:cNvPr id="11" name="Text 9"/>
          <p:cNvSpPr/>
          <p:nvPr/>
        </p:nvSpPr>
        <p:spPr>
          <a:xfrm>
            <a:off x="9144000" y="1828800"/>
            <a:ext cx="2286000" cy="594360"/>
          </a:xfrm>
          <a:prstGeom prst="rect">
            <a:avLst/>
          </a:prstGeom>
          <a:noFill/>
          <a:ln/>
        </p:spPr>
        <p:txBody>
          <a:bodyPr wrap="square" lIns="0" tIns="0" rIns="0" bIns="0" rtlCol="0" anchor="ctr"/>
          <a:lstStyle/>
          <a:p>
            <a:pPr indent="0" marL="0">
              <a:buNone/>
            </a:pPr>
            <a:r>
              <a:rPr lang="en-US" sz="1150" i="1" dirty="0">
                <a:solidFill>
                  <a:srgbClr val="808080"/>
                </a:solidFill>
                <a:latin typeface="Arial" pitchFamily="34" charset="0"/>
                <a:ea typeface="Arial" pitchFamily="34" charset="-122"/>
                <a:cs typeface="Arial" pitchFamily="34" charset="-120"/>
              </a:rPr>
              <a:t>a 10-year typo in the ratings list</a:t>
            </a:r>
            <a:endParaRPr lang="en-US" sz="1150" dirty="0"/>
          </a:p>
        </p:txBody>
      </p:sp>
      <p:sp>
        <p:nvSpPr>
          <p:cNvPr id="12" name="Shape 10"/>
          <p:cNvSpPr/>
          <p:nvPr/>
        </p:nvSpPr>
        <p:spPr>
          <a:xfrm>
            <a:off x="640080" y="2560320"/>
            <a:ext cx="10881360" cy="685800"/>
          </a:xfrm>
          <a:prstGeom prst="rect">
            <a:avLst/>
          </a:prstGeom>
          <a:solidFill>
            <a:srgbClr val="FFFFFF"/>
          </a:solidFill>
          <a:ln w="6350">
            <a:solidFill>
              <a:srgbClr val="BFBFBF"/>
            </a:solidFill>
            <a:prstDash val="solid"/>
          </a:ln>
        </p:spPr>
      </p:sp>
      <p:sp>
        <p:nvSpPr>
          <p:cNvPr id="13" name="Text 11"/>
          <p:cNvSpPr/>
          <p:nvPr/>
        </p:nvSpPr>
        <p:spPr>
          <a:xfrm>
            <a:off x="777240" y="2606040"/>
            <a:ext cx="3291840" cy="594360"/>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E4   Assessed-value history</a:t>
            </a:r>
            <a:endParaRPr lang="en-US" sz="1300" dirty="0"/>
          </a:p>
        </p:txBody>
      </p:sp>
      <p:sp>
        <p:nvSpPr>
          <p:cNvPr id="14" name="Text 12"/>
          <p:cNvSpPr/>
          <p:nvPr/>
        </p:nvSpPr>
        <p:spPr>
          <a:xfrm>
            <a:off x="4206240" y="2606040"/>
            <a:ext cx="2377440" cy="594360"/>
          </a:xfrm>
          <a:prstGeom prst="rect">
            <a:avLst/>
          </a:prstGeom>
          <a:noFill/>
          <a:ln/>
        </p:spPr>
        <p:txBody>
          <a:bodyPr wrap="square" lIns="0" tIns="0" rIns="0" bIns="0" rtlCol="0" anchor="ctr"/>
          <a:lstStyle/>
          <a:p>
            <a:pPr indent="0" marL="0">
              <a:buNone/>
            </a:pPr>
            <a:r>
              <a:rPr lang="en-US" sz="1350" b="1" dirty="0">
                <a:solidFill>
                  <a:srgbClr val="222222"/>
                </a:solidFill>
                <a:latin typeface="Arial" pitchFamily="34" charset="0"/>
                <a:ea typeface="Arial" pitchFamily="34" charset="-122"/>
                <a:cs typeface="Arial" pitchFamily="34" charset="-120"/>
              </a:rPr>
              <a:t>5 years: 2022–2026</a:t>
            </a:r>
            <a:endParaRPr lang="en-US" sz="1350" dirty="0"/>
          </a:p>
        </p:txBody>
      </p:sp>
      <p:sp>
        <p:nvSpPr>
          <p:cNvPr id="15" name="Text 13"/>
          <p:cNvSpPr/>
          <p:nvPr/>
        </p:nvSpPr>
        <p:spPr>
          <a:xfrm>
            <a:off x="6766560" y="2606040"/>
            <a:ext cx="2286000" cy="594360"/>
          </a:xfrm>
          <a:prstGeom prst="rect">
            <a:avLst/>
          </a:prstGeom>
          <a:noFill/>
          <a:ln/>
        </p:spPr>
        <p:txBody>
          <a:bodyPr wrap="square" lIns="0" tIns="0" rIns="0" bIns="0" rtlCol="0" anchor="ctr"/>
          <a:lstStyle/>
          <a:p>
            <a:pPr indent="0" marL="0">
              <a:buNone/>
            </a:pPr>
            <a:r>
              <a:rPr lang="en-US" sz="1350" b="1" dirty="0">
                <a:solidFill>
                  <a:srgbClr val="C8102E"/>
                </a:solidFill>
                <a:latin typeface="Arial" pitchFamily="34" charset="0"/>
                <a:ea typeface="Arial" pitchFamily="34" charset="-122"/>
                <a:cs typeface="Arial" pitchFamily="34" charset="-120"/>
              </a:rPr>
              <a:t>one year missing</a:t>
            </a:r>
            <a:endParaRPr lang="en-US" sz="1350" dirty="0"/>
          </a:p>
        </p:txBody>
      </p:sp>
      <p:sp>
        <p:nvSpPr>
          <p:cNvPr id="16" name="Text 14"/>
          <p:cNvSpPr/>
          <p:nvPr/>
        </p:nvSpPr>
        <p:spPr>
          <a:xfrm>
            <a:off x="9144000" y="2606040"/>
            <a:ext cx="2286000" cy="594360"/>
          </a:xfrm>
          <a:prstGeom prst="rect">
            <a:avLst/>
          </a:prstGeom>
          <a:noFill/>
          <a:ln/>
        </p:spPr>
        <p:txBody>
          <a:bodyPr wrap="square" lIns="0" tIns="0" rIns="0" bIns="0" rtlCol="0" anchor="ctr"/>
          <a:lstStyle/>
          <a:p>
            <a:pPr indent="0" marL="0">
              <a:buNone/>
            </a:pPr>
            <a:r>
              <a:rPr lang="en-US" sz="1150" i="1" dirty="0">
                <a:solidFill>
                  <a:srgbClr val="808080"/>
                </a:solidFill>
                <a:latin typeface="Arial" pitchFamily="34" charset="0"/>
                <a:ea typeface="Arial" pitchFamily="34" charset="-122"/>
                <a:cs typeface="Arial" pitchFamily="34" charset="-120"/>
              </a:rPr>
              <a:t>every value shifted one column</a:t>
            </a:r>
            <a:endParaRPr lang="en-US" sz="1150" dirty="0"/>
          </a:p>
        </p:txBody>
      </p:sp>
      <p:sp>
        <p:nvSpPr>
          <p:cNvPr id="17" name="Shape 15"/>
          <p:cNvSpPr/>
          <p:nvPr/>
        </p:nvSpPr>
        <p:spPr>
          <a:xfrm>
            <a:off x="640080" y="3337560"/>
            <a:ext cx="10881360" cy="685800"/>
          </a:xfrm>
          <a:prstGeom prst="rect">
            <a:avLst/>
          </a:prstGeom>
          <a:solidFill>
            <a:srgbClr val="EFEFEF"/>
          </a:solidFill>
          <a:ln w="6350">
            <a:solidFill>
              <a:srgbClr val="BFBFBF"/>
            </a:solidFill>
            <a:prstDash val="solid"/>
          </a:ln>
        </p:spPr>
      </p:sp>
      <p:sp>
        <p:nvSpPr>
          <p:cNvPr id="18" name="Text 16"/>
          <p:cNvSpPr/>
          <p:nvPr/>
        </p:nvSpPr>
        <p:spPr>
          <a:xfrm>
            <a:off x="777240" y="3383280"/>
            <a:ext cx="3291840" cy="594360"/>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E5   MADS reference year</a:t>
            </a:r>
            <a:endParaRPr lang="en-US" sz="1300" dirty="0"/>
          </a:p>
        </p:txBody>
      </p:sp>
      <p:sp>
        <p:nvSpPr>
          <p:cNvPr id="19" name="Text 17"/>
          <p:cNvSpPr/>
          <p:nvPr/>
        </p:nvSpPr>
        <p:spPr>
          <a:xfrm>
            <a:off x="4206240" y="3383280"/>
            <a:ext cx="2377440" cy="594360"/>
          </a:xfrm>
          <a:prstGeom prst="rect">
            <a:avLst/>
          </a:prstGeom>
          <a:noFill/>
          <a:ln/>
        </p:spPr>
        <p:txBody>
          <a:bodyPr wrap="square" lIns="0" tIns="0" rIns="0" bIns="0" rtlCol="0" anchor="ctr"/>
          <a:lstStyle/>
          <a:p>
            <a:pPr indent="0" marL="0">
              <a:buNone/>
            </a:pPr>
            <a:r>
              <a:rPr lang="en-US" sz="1350" b="1" dirty="0">
                <a:solidFill>
                  <a:srgbClr val="222222"/>
                </a:solidFill>
                <a:latin typeface="Arial" pitchFamily="34" charset="0"/>
                <a:ea typeface="Arial" pitchFamily="34" charset="-122"/>
                <a:cs typeface="Arial" pitchFamily="34" charset="-120"/>
              </a:rPr>
              <a:t>2038</a:t>
            </a:r>
            <a:endParaRPr lang="en-US" sz="1350" dirty="0"/>
          </a:p>
        </p:txBody>
      </p:sp>
      <p:sp>
        <p:nvSpPr>
          <p:cNvPr id="20" name="Text 18"/>
          <p:cNvSpPr/>
          <p:nvPr/>
        </p:nvSpPr>
        <p:spPr>
          <a:xfrm>
            <a:off x="6766560" y="3383280"/>
            <a:ext cx="2286000" cy="594360"/>
          </a:xfrm>
          <a:prstGeom prst="rect">
            <a:avLst/>
          </a:prstGeom>
          <a:noFill/>
          <a:ln/>
        </p:spPr>
        <p:txBody>
          <a:bodyPr wrap="square" lIns="0" tIns="0" rIns="0" bIns="0" rtlCol="0" anchor="ctr"/>
          <a:lstStyle/>
          <a:p>
            <a:pPr indent="0" marL="0">
              <a:buNone/>
            </a:pPr>
            <a:r>
              <a:rPr lang="en-US" sz="1350" b="1" dirty="0">
                <a:solidFill>
                  <a:srgbClr val="C8102E"/>
                </a:solidFill>
                <a:latin typeface="Arial" pitchFamily="34" charset="0"/>
                <a:ea typeface="Arial" pitchFamily="34" charset="-122"/>
                <a:cs typeface="Arial" pitchFamily="34" charset="-120"/>
              </a:rPr>
              <a:t>2035</a:t>
            </a:r>
            <a:endParaRPr lang="en-US" sz="1350" dirty="0"/>
          </a:p>
        </p:txBody>
      </p:sp>
      <p:sp>
        <p:nvSpPr>
          <p:cNvPr id="21" name="Text 19"/>
          <p:cNvSpPr/>
          <p:nvPr/>
        </p:nvSpPr>
        <p:spPr>
          <a:xfrm>
            <a:off x="9144000" y="3383280"/>
            <a:ext cx="2286000" cy="594360"/>
          </a:xfrm>
          <a:prstGeom prst="rect">
            <a:avLst/>
          </a:prstGeom>
          <a:noFill/>
          <a:ln/>
        </p:spPr>
        <p:txBody>
          <a:bodyPr wrap="square" lIns="0" tIns="0" rIns="0" bIns="0" rtlCol="0" anchor="ctr"/>
          <a:lstStyle/>
          <a:p>
            <a:pPr indent="0" marL="0">
              <a:buNone/>
            </a:pPr>
            <a:r>
              <a:rPr lang="en-US" sz="1150" i="1" dirty="0">
                <a:solidFill>
                  <a:srgbClr val="808080"/>
                </a:solidFill>
                <a:latin typeface="Arial" pitchFamily="34" charset="0"/>
                <a:ea typeface="Arial" pitchFamily="34" charset="-122"/>
                <a:cs typeface="Arial" pitchFamily="34" charset="-120"/>
              </a:rPr>
              <a:t>not even in the official findings</a:t>
            </a:r>
            <a:endParaRPr lang="en-US" sz="1150" dirty="0"/>
          </a:p>
        </p:txBody>
      </p:sp>
      <p:sp>
        <p:nvSpPr>
          <p:cNvPr id="22" name="Text 20"/>
          <p:cNvSpPr/>
          <p:nvPr/>
        </p:nvSpPr>
        <p:spPr>
          <a:xfrm>
            <a:off x="640080" y="4206240"/>
            <a:ext cx="10881360" cy="146304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All five (E1–E5) found by human reviewers — our answer key.</a:t>
            </a:r>
            <a:endParaRPr lang="en-US" sz="1500" dirty="0"/>
          </a:p>
          <a:p>
            <a:pPr marL="177800" indent="-177800">
              <a:spcAft>
                <a:spcPts val="1200"/>
              </a:spcAft>
              <a:buSzPct val="100000"/>
              <a:buChar char="–"/>
            </a:pPr>
            <a:r>
              <a:rPr lang="en-US" sz="1500" b="1" dirty="0">
                <a:solidFill>
                  <a:srgbClr val="333333"/>
                </a:solidFill>
                <a:latin typeface="Arial" pitchFamily="34" charset="0"/>
                <a:ea typeface="Arial" pitchFamily="34" charset="-122"/>
                <a:cs typeface="Arial" pitchFamily="34" charset="-120"/>
              </a:rPr>
              <a:t>The model never sees the answer key — grading only.</a:t>
            </a:r>
            <a:endParaRPr lang="en-US" sz="1500" dirty="0"/>
          </a:p>
        </p:txBody>
      </p:sp>
      <p:sp>
        <p:nvSpPr>
          <p:cNvPr id="23" name="Text 21"/>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Method A: one prompt, everything at once</a:t>
            </a:r>
            <a:endParaRPr lang="en-US" sz="2400" dirty="0"/>
          </a:p>
        </p:txBody>
      </p:sp>
      <p:sp>
        <p:nvSpPr>
          <p:cNvPr id="3" name="Shape 1"/>
          <p:cNvSpPr/>
          <p:nvPr/>
        </p:nvSpPr>
        <p:spPr>
          <a:xfrm>
            <a:off x="640080" y="1325880"/>
            <a:ext cx="10881360" cy="2103120"/>
          </a:xfrm>
          <a:prstGeom prst="rect">
            <a:avLst/>
          </a:prstGeom>
          <a:solidFill>
            <a:srgbClr val="F7F7F7"/>
          </a:solidFill>
          <a:ln w="12700">
            <a:solidFill>
              <a:srgbClr val="BFBFBF"/>
            </a:solidFill>
            <a:prstDash val="solid"/>
          </a:ln>
        </p:spPr>
      </p:sp>
      <p:sp>
        <p:nvSpPr>
          <p:cNvPr id="4" name="Text 2"/>
          <p:cNvSpPr/>
          <p:nvPr/>
        </p:nvSpPr>
        <p:spPr>
          <a:xfrm>
            <a:off x="914400" y="1508760"/>
            <a:ext cx="10332720" cy="1737360"/>
          </a:xfrm>
          <a:prstGeom prst="rect">
            <a:avLst/>
          </a:prstGeom>
          <a:noFill/>
          <a:ln/>
        </p:spPr>
        <p:txBody>
          <a:bodyPr wrap="square" lIns="0" tIns="0" rIns="0" bIns="0" rtlCol="0" anchor="ctr"/>
          <a:lstStyle/>
          <a:p>
            <a:pPr indent="0" marL="0">
              <a:buNone/>
            </a:pPr>
            <a:r>
              <a:rPr lang="en-US" sz="1250" dirty="0">
                <a:solidFill>
                  <a:srgbClr val="222222"/>
                </a:solidFill>
                <a:latin typeface="Courier New" pitchFamily="34" charset="0"/>
                <a:ea typeface="Courier New" pitchFamily="34" charset="-122"/>
                <a:cs typeface="Courier New" pitchFamily="34" charset="-120"/>
              </a:rPr>
              <a:t>"You are reviewing a credit rating file. The uploaded documents include the internal rating documents (the RAMP and the MUD RSR model output), the published rating article, and the rating criteria for the district. Find all inconsistencies between the internal documents and the published rating article. List each inconsistency, showing the value from each document."</a:t>
            </a:r>
            <a:endParaRPr lang="en-US" sz="1250" dirty="0"/>
          </a:p>
        </p:txBody>
      </p:sp>
      <p:sp>
        <p:nvSpPr>
          <p:cNvPr id="5" name="Text 3"/>
          <p:cNvSpPr/>
          <p:nvPr/>
        </p:nvSpPr>
        <p:spPr>
          <a:xfrm>
            <a:off x="640080" y="3749040"/>
            <a:ext cx="10881360" cy="201168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One message, all four documents.</a:t>
            </a:r>
            <a:endParaRPr lang="en-US" sz="1500" dirty="0"/>
          </a:p>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A reasonable, complete prompt — not a straw man.</a:t>
            </a:r>
            <a:endParaRPr lang="en-US" sz="1500" dirty="0"/>
          </a:p>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Ran 3 times.</a:t>
            </a:r>
            <a:endParaRPr lang="en-US" sz="1500" dirty="0"/>
          </a:p>
        </p:txBody>
      </p:sp>
      <p:sp>
        <p:nvSpPr>
          <p:cNvPr id="6" name="Text 4"/>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Method A results: three runs, zero real errors</a:t>
            </a:r>
            <a:endParaRPr lang="en-US" sz="2400" dirty="0"/>
          </a:p>
        </p:txBody>
      </p:sp>
      <p:sp>
        <p:nvSpPr>
          <p:cNvPr id="3" name="Text 1"/>
          <p:cNvSpPr/>
          <p:nvPr/>
        </p:nvSpPr>
        <p:spPr>
          <a:xfrm>
            <a:off x="640080" y="1280160"/>
            <a:ext cx="6949440" cy="4389120"/>
          </a:xfrm>
          <a:prstGeom prst="rect">
            <a:avLst/>
          </a:prstGeom>
          <a:noFill/>
          <a:ln/>
        </p:spPr>
        <p:txBody>
          <a:bodyPr wrap="square" lIns="0" tIns="0" rIns="0" bIns="0" rtlCol="0" anchor="t"/>
          <a:lstStyle/>
          <a:p>
            <a:pPr marL="177800" indent="-177800">
              <a:spcAft>
                <a:spcPts val="1500"/>
              </a:spcAft>
              <a:buSzPct val="100000"/>
              <a:buChar char="–"/>
            </a:pPr>
            <a:r>
              <a:rPr lang="en-US" sz="1500" b="1" dirty="0">
                <a:solidFill>
                  <a:srgbClr val="C8102E"/>
                </a:solidFill>
                <a:latin typeface="Arial" pitchFamily="34" charset="0"/>
                <a:ea typeface="Arial" pitchFamily="34" charset="-122"/>
                <a:cs typeface="Arial" pitchFamily="34" charset="-120"/>
              </a:rPr>
              <a:t>Real errors found: 0 of 5  (across all three runs)</a:t>
            </a:r>
            <a:endParaRPr lang="en-US" sz="1500" dirty="0"/>
          </a:p>
          <a:p>
            <a:pPr marL="177800" indent="-177800">
              <a:spcAft>
                <a:spcPts val="1500"/>
              </a:spcAft>
              <a:buSzPct val="100000"/>
              <a:buChar char="–"/>
            </a:pPr>
            <a:r>
              <a:rPr lang="en-US" sz="1500" dirty="0">
                <a:solidFill>
                  <a:srgbClr val="333333"/>
                </a:solidFill>
                <a:latin typeface="Arial" pitchFamily="34" charset="0"/>
                <a:ea typeface="Arial" pitchFamily="34" charset="-122"/>
                <a:cs typeface="Arial" pitchFamily="34" charset="-120"/>
              </a:rPr>
              <a:t>False alarms: 4 / 4 / 2 — and the three runs gave three different answers</a:t>
            </a:r>
            <a:endParaRPr lang="en-US" sz="1500" dirty="0"/>
          </a:p>
          <a:p>
            <a:pPr marL="177800" indent="-177800">
              <a:spcAft>
                <a:spcPts val="1500"/>
              </a:spcAft>
              <a:buSzPct val="100000"/>
              <a:buChar char="–"/>
            </a:pPr>
            <a:r>
              <a:rPr lang="en-US" sz="1500" dirty="0">
                <a:solidFill>
                  <a:srgbClr val="333333"/>
                </a:solidFill>
                <a:latin typeface="Arial" pitchFamily="34" charset="0"/>
                <a:ea typeface="Arial" pitchFamily="34" charset="-122"/>
                <a:cs typeface="Arial" pitchFamily="34" charset="-120"/>
              </a:rPr>
              <a:t>Typical false alarm (runs 1 &amp; 2): “7.26 vs 72.67 — inconsistent!” Same number, different units ($ per $100 of AV vs mills; 1 mill = $0.10 per $100). The real contradiction next to it — E1/E2, “Very Low” vs “High” — never mentioned in any run.</a:t>
            </a:r>
            <a:endParaRPr lang="en-US" sz="1500" dirty="0"/>
          </a:p>
          <a:p>
            <a:pPr marL="177800" indent="-177800">
              <a:spcAft>
                <a:spcPts val="1500"/>
              </a:spcAft>
              <a:buSzPct val="100000"/>
              <a:buChar char="–"/>
            </a:pPr>
            <a:r>
              <a:rPr lang="en-US" sz="1500" b="1" dirty="0">
                <a:solidFill>
                  <a:srgbClr val="333333"/>
                </a:solidFill>
                <a:latin typeface="Arial" pitchFamily="34" charset="0"/>
                <a:ea typeface="Arial" pitchFamily="34" charset="-122"/>
                <a:cs typeface="Arial" pitchFamily="34" charset="-120"/>
              </a:rPr>
              <a:t>Fake differences reported; real ones missed; different every run.</a:t>
            </a:r>
            <a:endParaRPr lang="en-US" sz="1500" dirty="0"/>
          </a:p>
        </p:txBody>
      </p:sp>
      <p:sp>
        <p:nvSpPr>
          <p:cNvPr id="4" name="Shape 2"/>
          <p:cNvSpPr/>
          <p:nvPr/>
        </p:nvSpPr>
        <p:spPr>
          <a:xfrm>
            <a:off x="7955280" y="1325880"/>
            <a:ext cx="3566160" cy="4206240"/>
          </a:xfrm>
          <a:prstGeom prst="rect">
            <a:avLst/>
          </a:prstGeom>
          <a:solidFill>
            <a:srgbClr val="FAFAFA"/>
          </a:solidFill>
          <a:ln w="12700">
            <a:solidFill>
              <a:srgbClr val="BFBFBF"/>
            </a:solidFill>
            <a:prstDash val="dash"/>
          </a:ln>
        </p:spPr>
        <p:txBody>
          <a:bodyPr/>
          <a:p/>
        </p:txBody>
      </p:sp>
      <p:sp>
        <p:nvSpPr>
          <p:cNvPr id="6" name="Text 4"/>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7</a:t>
            </a:r>
            <a:endParaRPr lang="en-US" sz="900" dirty="0"/>
          </a:p>
        </p:txBody>
      </p:sp>
      <p:sp>
        <p:nvSpPr>
          <p:cNvPr id="7" name="TextBox 6"/>
          <p:cNvSpPr txBox="1"/>
          <p:nvPr/>
        </p:nvSpPr>
        <p:spPr>
          <a:xfrm>
            <a:off x="8001000" y="1417320"/>
            <a:ext cx="3474720" cy="4023360"/>
          </a:xfrm>
          <a:prstGeom prst="rect">
            <a:avLst/>
          </a:prstGeom>
          <a:noFill/>
        </p:spPr>
        <p:txBody>
          <a:bodyPr wrap="square" lIns="76200" rIns="76200" tIns="76200" bIns="76200">
            <a:spAutoFit/>
          </a:bodyPr>
          <a:lstStyle/>
          <a:p>
            <a:pPr>
              <a:spcAft>
                <a:spcPts val="400"/>
              </a:spcAft>
            </a:pPr>
            <a:r>
              <a:rPr sz="900" b="1">
                <a:solidFill>
                  <a:srgbClr val="222222"/>
                </a:solidFill>
                <a:latin typeface="Arial"/>
              </a:rPr>
              <a:t>Run 1 output (condensed, archived)</a:t>
            </a:r>
          </a:p>
          <a:p>
            <a:pPr>
              <a:spcAft>
                <a:spcPts val="200"/>
              </a:spcAft>
            </a:pPr>
            <a:r>
              <a:rPr sz="750" b="1">
                <a:solidFill>
                  <a:srgbClr val="C8102E"/>
                </a:solidFill>
                <a:latin typeface="Courier New"/>
              </a:rPr>
              <a:t>1 ✗ </a:t>
            </a:r>
            <a:r>
              <a:rPr sz="750" b="0">
                <a:solidFill>
                  <a:srgbClr val="222222"/>
                </a:solidFill>
                <a:latin typeface="Courier New"/>
              </a:rPr>
              <a:t>Rating rec.: 'BBB+' vs 'BBB+'/'BBB' comparables — “discrepancy”</a:t>
            </a:r>
          </a:p>
          <a:p>
            <a:pPr>
              <a:spcAft>
                <a:spcPts val="200"/>
              </a:spcAft>
            </a:pPr>
            <a:r>
              <a:rPr sz="750" b="1">
                <a:solidFill>
                  <a:srgbClr val="C8102E"/>
                </a:solidFill>
                <a:latin typeface="Courier New"/>
              </a:rPr>
              <a:t>2 ✗ </a:t>
            </a:r>
            <a:r>
              <a:rPr sz="750" b="0">
                <a:solidFill>
                  <a:srgbClr val="222222"/>
                </a:solidFill>
                <a:latin typeface="Courier New"/>
              </a:rPr>
              <a:t>Direct tax rate: 7.26 ($/100 AV) vs 72.67 (mills)</a:t>
            </a:r>
          </a:p>
          <a:p>
            <a:pPr>
              <a:spcAft>
                <a:spcPts val="200"/>
              </a:spcAft>
            </a:pPr>
            <a:r>
              <a:rPr sz="750" b="1">
                <a:solidFill>
                  <a:srgbClr val="C8102E"/>
                </a:solidFill>
                <a:latin typeface="Courier New"/>
              </a:rPr>
              <a:t>3 ✗ </a:t>
            </a:r>
            <a:r>
              <a:rPr sz="750" b="0">
                <a:solidFill>
                  <a:srgbClr val="222222"/>
                </a:solidFill>
                <a:latin typeface="Courier New"/>
              </a:rPr>
              <a:t>Total tax rate: 17.1 ($/100 AV) vs 171.14 (mills)</a:t>
            </a:r>
          </a:p>
          <a:p>
            <a:pPr>
              <a:spcAft>
                <a:spcPts val="200"/>
              </a:spcAft>
            </a:pPr>
            <a:r>
              <a:rPr sz="750" b="1">
                <a:solidFill>
                  <a:srgbClr val="C8102E"/>
                </a:solidFill>
                <a:latin typeface="Courier New"/>
              </a:rPr>
              <a:t>4 ✗ </a:t>
            </a:r>
            <a:r>
              <a:rPr sz="750" b="0">
                <a:solidFill>
                  <a:srgbClr val="222222"/>
                </a:solidFill>
                <a:latin typeface="Courier New"/>
              </a:rPr>
              <a:t>DS fund balance: 1.96 vs 196%</a:t>
            </a:r>
          </a:p>
          <a:p>
            <a:pPr>
              <a:spcAft>
                <a:spcPts val="200"/>
              </a:spcAft>
            </a:pPr>
            <a:r>
              <a:rPr sz="750" b="1">
                <a:solidFill>
                  <a:srgbClr val="9C6500"/>
                </a:solidFill>
                <a:latin typeface="Courier New"/>
              </a:rPr>
              <a:t>5 △ </a:t>
            </a:r>
            <a:r>
              <a:rPr sz="750" b="0">
                <a:solidFill>
                  <a:srgbClr val="222222"/>
                </a:solidFill>
                <a:latin typeface="Courier New"/>
              </a:rPr>
              <a:t>Assessed value: 18,482 under 2026 [internal] vs 2024 [article]</a:t>
            </a:r>
          </a:p>
          <a:p>
            <a:pPr>
              <a:spcBef>
                <a:spcPts val="400"/>
              </a:spcBef>
            </a:pPr>
            <a:r>
              <a:rPr sz="700" i="1">
                <a:solidFill>
                  <a:srgbClr val="808080"/>
                </a:solidFill>
                <a:latin typeface="Arial"/>
              </a:rPr>
              <a:t>✗ = false alarm · △ = partial (E4) · E1 E2 E3 E5: not mentioned in any run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Why the one-shot fails here</a:t>
            </a:r>
            <a:endParaRPr lang="en-US" sz="2400" dirty="0"/>
          </a:p>
        </p:txBody>
      </p:sp>
      <p:sp>
        <p:nvSpPr>
          <p:cNvPr id="3" name="Text 1"/>
          <p:cNvSpPr/>
          <p:nvPr/>
        </p:nvSpPr>
        <p:spPr>
          <a:xfrm>
            <a:off x="640080" y="1280160"/>
            <a:ext cx="10881360" cy="4389120"/>
          </a:xfrm>
          <a:prstGeom prst="rect">
            <a:avLst/>
          </a:prstGeom>
          <a:noFill/>
          <a:ln/>
        </p:spPr>
        <p:txBody>
          <a:bodyPr wrap="square" lIns="0" tIns="0" rIns="0" bIns="0" rtlCol="0" anchor="t"/>
          <a:lstStyle/>
          <a:p>
            <a:pPr marL="177800" indent="-177800">
              <a:spcAft>
                <a:spcPts val="1500"/>
              </a:spcAft>
              <a:buSzPct val="100000"/>
              <a:buChar char="–"/>
            </a:pPr>
            <a:r>
              <a:rPr lang="en-US" sz="1500" dirty="0">
                <a:solidFill>
                  <a:srgbClr val="333333"/>
                </a:solidFill>
                <a:latin typeface="Arial" pitchFamily="34" charset="0"/>
                <a:ea typeface="Arial" pitchFamily="34" charset="-122"/>
                <a:cs typeface="Arial" pitchFamily="34" charset="-120"/>
              </a:rPr>
              <a:t>Retrieval by design — the model sees a handful of retrieved passages, not whole files; contradicting cells rarely arrive together.</a:t>
            </a:r>
            <a:endParaRPr lang="en-US" sz="1500" dirty="0"/>
          </a:p>
          <a:p>
            <a:pPr marL="177800" indent="-177800">
              <a:spcAft>
                <a:spcPts val="1500"/>
              </a:spcAft>
              <a:buSzPct val="100000"/>
              <a:buChar char="–"/>
            </a:pPr>
            <a:r>
              <a:rPr lang="en-US" sz="1500" dirty="0">
                <a:solidFill>
                  <a:srgbClr val="333333"/>
                </a:solidFill>
                <a:latin typeface="Arial" pitchFamily="34" charset="0"/>
                <a:ea typeface="Arial" pitchFamily="34" charset="-122"/>
                <a:cs typeface="Arial" pitchFamily="34" charset="-120"/>
              </a:rPr>
              <a:t>No procedure — “find all inconsistencies” gives no structure; each run improvises and misses differently.</a:t>
            </a:r>
            <a:endParaRPr lang="en-US" sz="1500" dirty="0"/>
          </a:p>
          <a:p>
            <a:pPr marL="177800" indent="-177800">
              <a:spcAft>
                <a:spcPts val="1500"/>
              </a:spcAft>
              <a:buSzPct val="100000"/>
              <a:buChar char="–"/>
            </a:pPr>
            <a:r>
              <a:rPr lang="en-US" sz="1500" dirty="0">
                <a:solidFill>
                  <a:srgbClr val="333333"/>
                </a:solidFill>
                <a:latin typeface="Arial" pitchFamily="34" charset="0"/>
                <a:ea typeface="Arial" pitchFamily="34" charset="-122"/>
                <a:cs typeface="Arial" pitchFamily="34" charset="-120"/>
              </a:rPr>
              <a:t>Cross-document matching — different labels + different units in one prompt: too many reasoning hops for a small model.</a:t>
            </a:r>
            <a:endParaRPr lang="en-US" sz="1500" dirty="0"/>
          </a:p>
          <a:p>
            <a:pPr marL="177800" indent="-177800">
              <a:spcAft>
                <a:spcPts val="1500"/>
              </a:spcAft>
              <a:buSzPct val="100000"/>
              <a:buChar char="–"/>
            </a:pPr>
            <a:r>
              <a:rPr lang="en-US" sz="1500" b="1" dirty="0">
                <a:solidFill>
                  <a:srgbClr val="333333"/>
                </a:solidFill>
                <a:latin typeface="Arial" pitchFamily="34" charset="0"/>
                <a:ea typeface="Arial" pitchFamily="34" charset="-122"/>
                <a:cs typeface="Arial" pitchFamily="34" charset="-120"/>
              </a:rPr>
              <a:t>But: on 10 small targeted questions, the same model scored 10/10, ~1 second each.</a:t>
            </a:r>
            <a:endParaRPr lang="en-US" sz="1500" dirty="0"/>
          </a:p>
          <a:p>
            <a:pPr marL="177800" indent="-177800">
              <a:spcAft>
                <a:spcPts val="1500"/>
              </a:spcAft>
              <a:buSzPct val="100000"/>
              <a:buChar char="–"/>
            </a:pPr>
            <a:r>
              <a:rPr lang="en-US" sz="1500" b="1" dirty="0">
                <a:solidFill>
                  <a:srgbClr val="C8102E"/>
                </a:solidFill>
                <a:latin typeface="Arial" pitchFamily="34" charset="0"/>
                <a:ea typeface="Arial" pitchFamily="34" charset="-122"/>
                <a:cs typeface="Arial" pitchFamily="34" charset="-120"/>
              </a:rPr>
              <a:t>The model is capable — the task structure is the problem.</a:t>
            </a:r>
            <a:endParaRPr lang="en-US" sz="1500" dirty="0"/>
          </a:p>
        </p:txBody>
      </p:sp>
      <p:sp>
        <p:nvSpPr>
          <p:cNvPr id="4" name="Text 2"/>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The key step: first think about what we actually check</a:t>
            </a:r>
            <a:endParaRPr lang="en-US" sz="2400" dirty="0"/>
          </a:p>
        </p:txBody>
      </p:sp>
      <p:sp>
        <p:nvSpPr>
          <p:cNvPr id="3" name="Text 1"/>
          <p:cNvSpPr/>
          <p:nvPr/>
        </p:nvSpPr>
        <p:spPr>
          <a:xfrm>
            <a:off x="640080" y="1280160"/>
            <a:ext cx="10881360" cy="4389120"/>
          </a:xfrm>
          <a:prstGeom prst="rect">
            <a:avLst/>
          </a:prstGeom>
          <a:noFill/>
          <a:ln/>
        </p:spPr>
        <p:txBody>
          <a:bodyPr wrap="square" lIns="0" tIns="0" rIns="0" bIns="0" rtlCol="0" anchor="t"/>
          <a:lstStyle/>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What does a human reviewer actually do with these documents?</a:t>
            </a:r>
            <a:endParaRPr lang="en-US" sz="1500" dirty="0"/>
          </a:p>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(1) Pull each metric out of each document — value, unit, characterization.   (2) Put everything into the same units and formats.   (3) Compare, item by item — numbers, labels, dates, years.</a:t>
            </a:r>
            <a:endParaRPr lang="en-US" sz="1500" dirty="0"/>
          </a:p>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That list IS the pipeline.</a:t>
            </a:r>
            <a:endParaRPr lang="en-US" sz="1500" dirty="0"/>
          </a:p>
          <a:p>
            <a:pPr marL="177800" indent="-177800">
              <a:spcAft>
                <a:spcPts val="1600"/>
              </a:spcAft>
              <a:buSzPct val="100000"/>
              <a:buChar char="–"/>
            </a:pPr>
            <a:r>
              <a:rPr lang="en-US" sz="1500" b="1" dirty="0">
                <a:solidFill>
                  <a:srgbClr val="333333"/>
                </a:solidFill>
                <a:latin typeface="Arial" pitchFamily="34" charset="0"/>
                <a:ea typeface="Arial" pitchFamily="34" charset="-122"/>
                <a:cs typeface="Arial" pitchFamily="34" charset="-120"/>
              </a:rPr>
              <a:t>No fancy technique — the checking procedure written down explicitly.</a:t>
            </a:r>
            <a:endParaRPr lang="en-US" sz="1500" dirty="0"/>
          </a:p>
          <a:p>
            <a:pPr marL="177800" indent="-177800">
              <a:spcAft>
                <a:spcPts val="1600"/>
              </a:spcAft>
              <a:buSzPct val="100000"/>
              <a:buChar char="–"/>
            </a:pPr>
            <a:r>
              <a:rPr lang="en-US" sz="1500" b="1" dirty="0">
                <a:solidFill>
                  <a:srgbClr val="333333"/>
                </a:solidFill>
                <a:latin typeface="Arial" pitchFamily="34" charset="0"/>
                <a:ea typeface="Arial" pitchFamily="34" charset="-122"/>
                <a:cs typeface="Arial" pitchFamily="34" charset="-120"/>
              </a:rPr>
              <a:t>Like briefing a brand-new intern: full context, clear instructions, simple tasks.</a:t>
            </a:r>
            <a:endParaRPr lang="en-US" sz="1500" dirty="0"/>
          </a:p>
        </p:txBody>
      </p:sp>
      <p:sp>
        <p:nvSpPr>
          <p:cNvPr id="4" name="Text 2"/>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Method B, first version: Extract → Compare</a:t>
            </a:r>
            <a:endParaRPr lang="en-US" sz="2400" dirty="0"/>
          </a:p>
        </p:txBody>
      </p:sp>
      <p:sp>
        <p:nvSpPr>
          <p:cNvPr id="3" name="Text 1"/>
          <p:cNvSpPr/>
          <p:nvPr/>
        </p:nvSpPr>
        <p:spPr>
          <a:xfrm>
            <a:off x="640080" y="1280160"/>
            <a:ext cx="7010400" cy="4389120"/>
          </a:xfrm>
          <a:prstGeom prst="rect">
            <a:avLst/>
          </a:prstGeom>
          <a:noFill/>
          <a:ln/>
        </p:spPr>
        <p:txBody>
          <a:bodyPr wrap="square" lIns="0" tIns="0" rIns="0" bIns="0" rtlCol="0" anchor="t"/>
          <a:lstStyle/>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Step 1 — Extract, one document at a time: “Convert the document’s data into one structured table: Section | Metric | Year | Value | Unit | Characterization. Copy values exactly as written; do NOT convert units. If a cell is blank, write BLANK. Do not guess.”</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Step 2 — Compare the extractions: “Compare EVERY piece of information that appears in more than one extraction… normalize units before comparing… different characterizations for the same metric ARE a disagreement, even when the numbers match.”</a:t>
            </a:r>
            <a:endParaRPr lang="en-US" sz="1500" dirty="0"/>
          </a:p>
          <a:p>
            <a:pPr marL="177800" indent="-177800">
              <a:spcAft>
                <a:spcPts val="1700"/>
              </a:spcAft>
              <a:buSzPct val="100000"/>
              <a:buChar char="–"/>
            </a:pPr>
            <a:r>
              <a:rPr lang="en-US" sz="1500" b="1" dirty="0">
                <a:solidFill>
                  <a:srgbClr val="333333"/>
                </a:solidFill>
                <a:latin typeface="Arial" pitchFamily="34" charset="0"/>
                <a:ea typeface="Arial" pitchFamily="34" charset="-122"/>
                <a:cs typeface="Arial" pitchFamily="34" charset="-120"/>
              </a:rPr>
              <a:t>Result: 3 of 5 (E1, E3, E4) — but 8 false alarms. E2 and E5 missed.</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Diagnosis (from the intermediate tables): characterizations sit in merged cells in the MUD RSR → each label lands on ONE arbitrary year row (E1 was matched across rows by luck, not by design); unit conversion buried inside the compare step → format/unit false alarms everywhere.</a:t>
            </a:r>
            <a:endParaRPr lang="en-US" sz="1500" dirty="0"/>
          </a:p>
        </p:txBody>
      </p:sp>
      <p:sp>
        <p:nvSpPr>
          <p:cNvPr id="20" name="ShotBox"/>
          <p:cNvSpPr/>
          <p:nvPr/>
        </p:nvSpPr>
        <p:spPr>
          <a:xfrm>
            <a:off x="7955280" y="1325880"/>
            <a:ext cx="3566160" cy="4206240"/>
          </a:xfrm>
          <a:prstGeom prst="rect">
            <a:avLst/>
          </a:prstGeom>
          <a:solidFill>
            <a:srgbClr val="FAFAFA"/>
          </a:solidFill>
          <a:ln w="12700">
            <a:solidFill>
              <a:srgbClr val="BFBFBF"/>
            </a:solidFill>
            <a:prstDash val="dash"/>
          </a:ln>
        </p:spPr>
        <p:txBody>
          <a:bodyPr/>
          <a:p/>
        </p:txBody>
      </p:sp>
      <p:sp>
        <p:nvSpPr>
          <p:cNvPr id="4" name="Text 2"/>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10</a:t>
            </a:r>
            <a:endParaRPr lang="en-US" sz="900" dirty="0"/>
          </a:p>
        </p:txBody>
      </p:sp>
      <p:sp>
        <p:nvSpPr>
          <p:cNvPr id="21" name="TextBox 20"/>
          <p:cNvSpPr txBox="1"/>
          <p:nvPr/>
        </p:nvSpPr>
        <p:spPr>
          <a:xfrm>
            <a:off x="8001000" y="1417320"/>
            <a:ext cx="3474720" cy="4023360"/>
          </a:xfrm>
          <a:prstGeom prst="rect">
            <a:avLst/>
          </a:prstGeom>
          <a:noFill/>
        </p:spPr>
        <p:txBody>
          <a:bodyPr wrap="square" lIns="76200" rIns="76200" tIns="76200" bIns="76200">
            <a:spAutoFit/>
          </a:bodyPr>
          <a:lstStyle/>
          <a:p>
            <a:pPr>
              <a:spcAft>
                <a:spcPts val="400"/>
              </a:spcAft>
            </a:pPr>
            <a:r>
              <a:rPr sz="900" b="1">
                <a:solidFill>
                  <a:srgbClr val="222222"/>
                </a:solidFill>
                <a:latin typeface="Arial"/>
              </a:rPr>
              <a:t>Compare-step output (condensed, archived)</a:t>
            </a:r>
          </a:p>
          <a:p>
            <a:pPr>
              <a:spcAft>
                <a:spcPts val="200"/>
              </a:spcAft>
            </a:pPr>
            <a:r>
              <a:rPr sz="750" b="1">
                <a:solidFill>
                  <a:srgbClr val="2E6B2A"/>
                </a:solidFill>
                <a:latin typeface="Courier New"/>
              </a:rPr>
              <a:t>1  ✓ </a:t>
            </a:r>
            <a:r>
              <a:rPr sz="750" b="0">
                <a:solidFill>
                  <a:srgbClr val="222222"/>
                </a:solidFill>
                <a:latin typeface="Courier New"/>
              </a:rPr>
              <a:t>Assessed value — year labels shifted  [E4]</a:t>
            </a:r>
          </a:p>
          <a:p>
            <a:pPr>
              <a:spcAft>
                <a:spcPts val="200"/>
              </a:spcAft>
            </a:pPr>
            <a:r>
              <a:rPr sz="750" b="1">
                <a:solidFill>
                  <a:srgbClr val="2E6B2A"/>
                </a:solidFill>
                <a:latin typeface="Courier New"/>
              </a:rPr>
              <a:t>2  ✓ </a:t>
            </a:r>
            <a:r>
              <a:rPr sz="750" b="0">
                <a:solidFill>
                  <a:srgbClr val="222222"/>
                </a:solidFill>
                <a:latin typeface="Courier New"/>
              </a:rPr>
              <a:t>Actual value — year labels shifted  [+]</a:t>
            </a:r>
          </a:p>
          <a:p>
            <a:pPr>
              <a:spcAft>
                <a:spcPts val="200"/>
              </a:spcAft>
            </a:pPr>
            <a:r>
              <a:rPr sz="750" b="1">
                <a:solidFill>
                  <a:srgbClr val="C8102E"/>
                </a:solidFill>
                <a:latin typeface="Courier New"/>
              </a:rPr>
              <a:t>3  ✗ </a:t>
            </a:r>
            <a:r>
              <a:rPr sz="750" b="0">
                <a:solidFill>
                  <a:srgbClr val="222222"/>
                </a:solidFill>
                <a:latin typeface="Courier New"/>
              </a:rPr>
              <a:t>Ten largest taxpayers: 0.0477% vs 4.8%</a:t>
            </a:r>
          </a:p>
          <a:p>
            <a:pPr>
              <a:spcAft>
                <a:spcPts val="200"/>
              </a:spcAft>
            </a:pPr>
            <a:r>
              <a:rPr sz="750" b="1">
                <a:solidFill>
                  <a:srgbClr val="C8102E"/>
                </a:solidFill>
                <a:latin typeface="Courier New"/>
              </a:rPr>
              <a:t>4  ✗ </a:t>
            </a:r>
            <a:r>
              <a:rPr sz="750" b="0">
                <a:solidFill>
                  <a:srgbClr val="222222"/>
                </a:solidFill>
                <a:latin typeface="Courier New"/>
              </a:rPr>
              <a:t>Status of dev.: “All built out” vs “Mature”</a:t>
            </a:r>
          </a:p>
          <a:p>
            <a:pPr>
              <a:spcAft>
                <a:spcPts val="200"/>
              </a:spcAft>
            </a:pPr>
            <a:r>
              <a:rPr sz="750" b="1">
                <a:solidFill>
                  <a:srgbClr val="C8102E"/>
                </a:solidFill>
                <a:latin typeface="Courier New"/>
              </a:rPr>
              <a:t>5  ✗ </a:t>
            </a:r>
            <a:r>
              <a:rPr sz="750" b="0">
                <a:solidFill>
                  <a:srgbClr val="222222"/>
                </a:solidFill>
                <a:latin typeface="Courier New"/>
              </a:rPr>
              <a:t>Available reserves: 0.64 vs 64.0%</a:t>
            </a:r>
          </a:p>
          <a:p>
            <a:pPr>
              <a:spcAft>
                <a:spcPts val="200"/>
              </a:spcAft>
            </a:pPr>
            <a:r>
              <a:rPr sz="750" b="1">
                <a:solidFill>
                  <a:srgbClr val="C8102E"/>
                </a:solidFill>
                <a:latin typeface="Courier New"/>
              </a:rPr>
              <a:t>6  ✗ </a:t>
            </a:r>
            <a:r>
              <a:rPr sz="750" b="0">
                <a:solidFill>
                  <a:srgbClr val="222222"/>
                </a:solidFill>
                <a:latin typeface="Courier New"/>
              </a:rPr>
              <a:t>DS fund balance: 1.96 vs 196%</a:t>
            </a:r>
          </a:p>
          <a:p>
            <a:pPr>
              <a:spcAft>
                <a:spcPts val="200"/>
              </a:spcAft>
            </a:pPr>
            <a:r>
              <a:rPr sz="750" b="1">
                <a:solidFill>
                  <a:srgbClr val="C8102E"/>
                </a:solidFill>
                <a:latin typeface="Courier New"/>
              </a:rPr>
              <a:t>7  ✗ </a:t>
            </a:r>
            <a:r>
              <a:rPr sz="750" b="0">
                <a:solidFill>
                  <a:srgbClr val="222222"/>
                </a:solidFill>
                <a:latin typeface="Courier New"/>
              </a:rPr>
              <a:t>Direct tax rate: 7.26 ($/100) vs 72.67 (mills)</a:t>
            </a:r>
          </a:p>
          <a:p>
            <a:pPr>
              <a:spcAft>
                <a:spcPts val="200"/>
              </a:spcAft>
            </a:pPr>
            <a:r>
              <a:rPr sz="750" b="1">
                <a:solidFill>
                  <a:srgbClr val="2E6B2A"/>
                </a:solidFill>
                <a:latin typeface="Courier New"/>
              </a:rPr>
              <a:t>8  ✓ </a:t>
            </a:r>
            <a:r>
              <a:rPr sz="750" b="1">
                <a:solidFill>
                  <a:srgbClr val="2E6B2A"/>
                </a:solidFill>
                <a:latin typeface="Courier New"/>
              </a:rPr>
              <a:t>Direct rate characterization: “Very low” vs “High”  [E1]</a:t>
            </a:r>
          </a:p>
          <a:p>
            <a:pPr>
              <a:spcAft>
                <a:spcPts val="200"/>
              </a:spcAft>
            </a:pPr>
            <a:r>
              <a:rPr sz="750" b="1">
                <a:solidFill>
                  <a:srgbClr val="C8102E"/>
                </a:solidFill>
                <a:latin typeface="Courier New"/>
              </a:rPr>
              <a:t>9  ✗ </a:t>
            </a:r>
            <a:r>
              <a:rPr sz="750" b="0">
                <a:solidFill>
                  <a:srgbClr val="222222"/>
                </a:solidFill>
                <a:latin typeface="Courier New"/>
              </a:rPr>
              <a:t>Total tax rate: 17.1 ($/100) vs 171.14 (mills)</a:t>
            </a:r>
          </a:p>
          <a:p>
            <a:pPr>
              <a:spcAft>
                <a:spcPts val="200"/>
              </a:spcAft>
            </a:pPr>
            <a:r>
              <a:rPr sz="750" b="1">
                <a:solidFill>
                  <a:srgbClr val="C8102E"/>
                </a:solidFill>
                <a:latin typeface="Courier New"/>
              </a:rPr>
              <a:t>10 ✗ </a:t>
            </a:r>
            <a:r>
              <a:rPr sz="750" b="0">
                <a:solidFill>
                  <a:srgbClr val="222222"/>
                </a:solidFill>
                <a:latin typeface="Courier New"/>
              </a:rPr>
              <a:t>Overall net debt: 0.0438% vs 4.4%</a:t>
            </a:r>
          </a:p>
          <a:p>
            <a:pPr>
              <a:spcAft>
                <a:spcPts val="200"/>
              </a:spcAft>
            </a:pPr>
            <a:r>
              <a:rPr sz="750" b="1">
                <a:solidFill>
                  <a:srgbClr val="2E6B2A"/>
                </a:solidFill>
                <a:latin typeface="Courier New"/>
              </a:rPr>
              <a:t>11 ✓ </a:t>
            </a:r>
            <a:r>
              <a:rPr sz="750" b="0">
                <a:solidFill>
                  <a:srgbClr val="222222"/>
                </a:solidFill>
                <a:latin typeface="Courier New"/>
              </a:rPr>
              <a:t>Bond maturity: Dec 01, 2065 vs 12/01/2055  [E3]</a:t>
            </a:r>
          </a:p>
          <a:p>
            <a:pPr>
              <a:spcAft>
                <a:spcPts val="200"/>
              </a:spcAft>
            </a:pPr>
            <a:r>
              <a:rPr sz="750" b="1">
                <a:solidFill>
                  <a:srgbClr val="C8102E"/>
                </a:solidFill>
                <a:latin typeface="Courier New"/>
              </a:rPr>
              <a:t>12 ✗ </a:t>
            </a:r>
            <a:r>
              <a:rPr sz="750" b="0">
                <a:solidFill>
                  <a:srgbClr val="222222"/>
                </a:solidFill>
                <a:latin typeface="Courier New"/>
              </a:rPr>
              <a:t>Bond amount: US$12,770,000 vs US$12.8 mil</a:t>
            </a:r>
          </a:p>
          <a:p>
            <a:pPr>
              <a:spcBef>
                <a:spcPts val="400"/>
              </a:spcBef>
            </a:pPr>
            <a:r>
              <a:rPr sz="700" i="1">
                <a:solidFill>
                  <a:srgbClr val="808080"/>
                </a:solidFill>
                <a:latin typeface="Arial"/>
              </a:rPr>
              <a:t>✓ = real error · + = beyond E1–E5 · ✗ = false alarm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Second version: better extraction rules</a:t>
            </a:r>
            <a:endParaRPr lang="en-US" sz="2400" dirty="0"/>
          </a:p>
        </p:txBody>
      </p:sp>
      <p:sp>
        <p:nvSpPr>
          <p:cNvPr id="3" name="Text 1"/>
          <p:cNvSpPr/>
          <p:nvPr/>
        </p:nvSpPr>
        <p:spPr>
          <a:xfrm>
            <a:off x="640080" y="1280160"/>
            <a:ext cx="7013448" cy="4389120"/>
          </a:xfrm>
          <a:prstGeom prst="rect">
            <a:avLst/>
          </a:prstGeom>
          <a:noFill/>
          <a:ln/>
        </p:spPr>
        <p:txBody>
          <a:bodyPr wrap="square" lIns="0" tIns="0" rIns="0" bIns="0" rtlCol="0" anchor="t"/>
          <a:lstStyle/>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Fix — one general rule: “Characterizations belong to the METRIC as a whole: repeat them on EVERY year row.” Plus: decimal 0.25 = 25%; compare years/dates in footnotes too.</a:t>
            </a:r>
            <a:endParaRPr lang="en-US" sz="1500" dirty="0"/>
          </a:p>
          <a:p>
            <a:pPr marL="177800" indent="-177800">
              <a:spcAft>
                <a:spcPts val="1700"/>
              </a:spcAft>
              <a:buSzPct val="100000"/>
              <a:buChar char="–"/>
            </a:pPr>
            <a:r>
              <a:rPr lang="en-US" sz="1500" b="1" dirty="0">
                <a:solidFill>
                  <a:srgbClr val="333333"/>
                </a:solidFill>
                <a:latin typeface="Arial" pitchFamily="34" charset="0"/>
                <a:ea typeface="Arial" pitchFamily="34" charset="-122"/>
                <a:cs typeface="Arial" pitchFamily="34" charset="-120"/>
              </a:rPr>
              <a:t>Result: still 3 of 5 — E5 gained, E1 LOST. False alarms down to 6.</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Diagnosis: the article extraction misplaced “High” into the Value column — nothing left to compare; and the compare step still did two jobs (computed the ×10 link, flagged it anyway).</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Fix: template knowledge of the table layout (words = characterization column) + normalization as its own prompt → final version.</a:t>
            </a:r>
            <a:endParaRPr lang="en-US" sz="1500" dirty="0"/>
          </a:p>
        </p:txBody>
      </p:sp>
      <p:sp>
        <p:nvSpPr>
          <p:cNvPr id="4" name="Text 2"/>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11</a:t>
            </a:r>
            <a:endParaRPr lang="en-US" sz="900" dirty="0"/>
          </a:p>
        </p:txBody>
      </p:sp>
      <p:sp>
        <p:nvSpPr>
          <p:cNvPr id="5" name="Rectangle 4"/>
          <p:cNvSpPr/>
          <p:nvPr/>
        </p:nvSpPr>
        <p:spPr>
          <a:xfrm>
            <a:off x="7955279" y="1325880"/>
            <a:ext cx="3566160" cy="4206240"/>
          </a:xfrm>
          <a:prstGeom prst="rect">
            <a:avLst/>
          </a:prstGeom>
          <a:solidFill>
            <a:srgbClr val="F7F7F7"/>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0" y="1417320"/>
            <a:ext cx="3474720" cy="4023360"/>
          </a:xfrm>
          <a:prstGeom prst="rect">
            <a:avLst/>
          </a:prstGeom>
          <a:noFill/>
        </p:spPr>
        <p:txBody>
          <a:bodyPr wrap="square" lIns="76200" rIns="76200" tIns="76200" bIns="76200">
            <a:spAutoFit/>
          </a:bodyPr>
          <a:lstStyle/>
          <a:p>
            <a:pPr>
              <a:spcAft>
                <a:spcPts val="400"/>
              </a:spcAft>
            </a:pPr>
            <a:r>
              <a:rPr sz="900" b="1">
                <a:solidFill>
                  <a:srgbClr val="222222"/>
                </a:solidFill>
                <a:latin typeface="Arial"/>
              </a:rPr>
              <a:t>Compare-step output (condensed, archived)</a:t>
            </a:r>
          </a:p>
          <a:p>
            <a:pPr>
              <a:spcAft>
                <a:spcPts val="200"/>
              </a:spcAft>
            </a:pPr>
            <a:r>
              <a:rPr sz="750" b="1">
                <a:solidFill>
                  <a:srgbClr val="2E6B2A"/>
                </a:solidFill>
                <a:latin typeface="Courier New"/>
              </a:rPr>
              <a:t>1  ✓ </a:t>
            </a:r>
            <a:r>
              <a:rPr sz="750" b="0">
                <a:solidFill>
                  <a:srgbClr val="222222"/>
                </a:solidFill>
                <a:latin typeface="Courier New"/>
              </a:rPr>
              <a:t>Assessed value — years shifted (2024: BLANK)  [E4]</a:t>
            </a:r>
          </a:p>
          <a:p>
            <a:pPr>
              <a:spcAft>
                <a:spcPts val="200"/>
              </a:spcAft>
            </a:pPr>
            <a:r>
              <a:rPr sz="750" b="1">
                <a:solidFill>
                  <a:srgbClr val="2E6B2A"/>
                </a:solidFill>
                <a:latin typeface="Courier New"/>
              </a:rPr>
              <a:t>2  ✓ </a:t>
            </a:r>
            <a:r>
              <a:rPr sz="750" b="0">
                <a:solidFill>
                  <a:srgbClr val="222222"/>
                </a:solidFill>
                <a:latin typeface="Courier New"/>
              </a:rPr>
              <a:t>Actual value — years shifted  [+]</a:t>
            </a:r>
          </a:p>
          <a:p>
            <a:pPr>
              <a:spcAft>
                <a:spcPts val="200"/>
              </a:spcAft>
            </a:pPr>
            <a:r>
              <a:rPr sz="750" b="1">
                <a:solidFill>
                  <a:srgbClr val="C8102E"/>
                </a:solidFill>
                <a:latin typeface="Courier New"/>
              </a:rPr>
              <a:t>3  ✗ </a:t>
            </a:r>
            <a:r>
              <a:rPr sz="750" b="0">
                <a:solidFill>
                  <a:srgbClr val="222222"/>
                </a:solidFill>
                <a:latin typeface="Courier New"/>
              </a:rPr>
              <a:t>Status of development: 1 vs 100%</a:t>
            </a:r>
          </a:p>
          <a:p>
            <a:pPr>
              <a:spcAft>
                <a:spcPts val="200"/>
              </a:spcAft>
            </a:pPr>
            <a:r>
              <a:rPr sz="750" b="1">
                <a:solidFill>
                  <a:srgbClr val="C8102E"/>
                </a:solidFill>
                <a:latin typeface="Courier New"/>
              </a:rPr>
              <a:t>4  ✗ </a:t>
            </a:r>
            <a:r>
              <a:rPr sz="750" b="0">
                <a:solidFill>
                  <a:srgbClr val="222222"/>
                </a:solidFill>
                <a:latin typeface="Courier New"/>
              </a:rPr>
              <a:t>Avail. GF balance: 0.761 vs 76.1%</a:t>
            </a:r>
          </a:p>
          <a:p>
            <a:pPr>
              <a:spcAft>
                <a:spcPts val="200"/>
              </a:spcAft>
            </a:pPr>
            <a:r>
              <a:rPr sz="750" b="1">
                <a:solidFill>
                  <a:srgbClr val="C8102E"/>
                </a:solidFill>
                <a:latin typeface="Courier New"/>
              </a:rPr>
              <a:t>5  ✗ </a:t>
            </a:r>
            <a:r>
              <a:rPr sz="750" b="0">
                <a:solidFill>
                  <a:srgbClr val="222222"/>
                </a:solidFill>
                <a:latin typeface="Courier New"/>
              </a:rPr>
              <a:t>DS fund bal.: “0.0196 vs 1.96” after normalization</a:t>
            </a:r>
          </a:p>
          <a:p>
            <a:pPr>
              <a:spcAft>
                <a:spcPts val="200"/>
              </a:spcAft>
            </a:pPr>
            <a:r>
              <a:rPr sz="750" b="1">
                <a:solidFill>
                  <a:srgbClr val="C8102E"/>
                </a:solidFill>
                <a:latin typeface="Courier New"/>
              </a:rPr>
              <a:t>6  ✗ </a:t>
            </a:r>
            <a:r>
              <a:rPr sz="750" b="1">
                <a:solidFill>
                  <a:srgbClr val="C8102E"/>
                </a:solidFill>
                <a:latin typeface="Courier New"/>
              </a:rPr>
              <a:t>Direct rate: shifted 1 yr; “do not align even after converting mills”</a:t>
            </a:r>
          </a:p>
          <a:p>
            <a:pPr>
              <a:spcAft>
                <a:spcPts val="200"/>
              </a:spcAft>
            </a:pPr>
            <a:r>
              <a:rPr sz="750" b="1">
                <a:solidFill>
                  <a:srgbClr val="C8102E"/>
                </a:solidFill>
                <a:latin typeface="Courier New"/>
              </a:rPr>
              <a:t>7  ✗ </a:t>
            </a:r>
            <a:r>
              <a:rPr sz="750" b="0">
                <a:solidFill>
                  <a:srgbClr val="222222"/>
                </a:solidFill>
                <a:latin typeface="Courier New"/>
              </a:rPr>
              <a:t>Total rate: values and year labels inconsistent</a:t>
            </a:r>
          </a:p>
          <a:p>
            <a:pPr>
              <a:spcAft>
                <a:spcPts val="200"/>
              </a:spcAft>
            </a:pPr>
            <a:r>
              <a:rPr sz="750" b="1">
                <a:solidFill>
                  <a:srgbClr val="C8102E"/>
                </a:solidFill>
                <a:latin typeface="Courier New"/>
              </a:rPr>
              <a:t>8  ✗ </a:t>
            </a:r>
            <a:r>
              <a:rPr sz="750" b="0">
                <a:solidFill>
                  <a:srgbClr val="222222"/>
                </a:solidFill>
                <a:latin typeface="Courier New"/>
              </a:rPr>
              <a:t>Net debt: 0.0438% vs 4.4%</a:t>
            </a:r>
          </a:p>
          <a:p>
            <a:pPr>
              <a:spcAft>
                <a:spcPts val="200"/>
              </a:spcAft>
            </a:pPr>
            <a:r>
              <a:rPr sz="750" b="1">
                <a:solidFill>
                  <a:srgbClr val="2E6B2A"/>
                </a:solidFill>
                <a:latin typeface="Courier New"/>
              </a:rPr>
              <a:t>9  ✓ </a:t>
            </a:r>
            <a:r>
              <a:rPr sz="750" b="1">
                <a:solidFill>
                  <a:srgbClr val="2E6B2A"/>
                </a:solidFill>
                <a:latin typeface="Courier New"/>
              </a:rPr>
              <a:t>MADS year: 2038 vs footnote 2035  [E5 — new]</a:t>
            </a:r>
          </a:p>
          <a:p>
            <a:pPr>
              <a:spcAft>
                <a:spcPts val="200"/>
              </a:spcAft>
            </a:pPr>
            <a:r>
              <a:rPr sz="750" b="1">
                <a:solidFill>
                  <a:srgbClr val="2E6B2A"/>
                </a:solidFill>
                <a:latin typeface="Courier New"/>
              </a:rPr>
              <a:t>10 ✓ </a:t>
            </a:r>
            <a:r>
              <a:rPr sz="750" b="0">
                <a:solidFill>
                  <a:srgbClr val="222222"/>
                </a:solidFill>
                <a:latin typeface="Courier New"/>
              </a:rPr>
              <a:t>Bond maturity: Dec 01, 2065 vs 12/01/2055  [E3]</a:t>
            </a:r>
          </a:p>
          <a:p>
            <a:pPr>
              <a:spcBef>
                <a:spcPts val="400"/>
              </a:spcBef>
            </a:pPr>
            <a:r>
              <a:rPr sz="700" i="1">
                <a:solidFill>
                  <a:srgbClr val="808080"/>
                </a:solidFill>
                <a:latin typeface="Arial"/>
              </a:rPr>
              <a:t>E1 gone — extraction put “High” into the Value column · item 6: computed ×10, flagged anyway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Final version: Extract → Normalize → Compare</a:t>
            </a:r>
            <a:endParaRPr lang="en-US" sz="2400" dirty="0"/>
          </a:p>
        </p:txBody>
      </p:sp>
      <p:sp>
        <p:nvSpPr>
          <p:cNvPr id="3" name="Text 1"/>
          <p:cNvSpPr/>
          <p:nvPr/>
        </p:nvSpPr>
        <p:spPr>
          <a:xfrm>
            <a:off x="640080" y="1234440"/>
            <a:ext cx="3520440" cy="32004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1. Extract</a:t>
            </a:r>
            <a:endParaRPr lang="en-US" sz="1500" dirty="0"/>
          </a:p>
        </p:txBody>
      </p:sp>
      <p:sp>
        <p:nvSpPr>
          <p:cNvPr id="4" name="Text 2"/>
          <p:cNvSpPr/>
          <p:nvPr/>
        </p:nvSpPr>
        <p:spPr>
          <a:xfrm>
            <a:off x="640080" y="1572768"/>
            <a:ext cx="3520440" cy="54864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One document at a time → one structured table.</a:t>
            </a:r>
            <a:endParaRPr lang="en-US" sz="1100" dirty="0"/>
          </a:p>
        </p:txBody>
      </p:sp>
      <p:sp>
        <p:nvSpPr>
          <p:cNvPr id="5" name="Shape 3"/>
          <p:cNvSpPr/>
          <p:nvPr/>
        </p:nvSpPr>
        <p:spPr>
          <a:xfrm>
            <a:off x="640080" y="2194560"/>
            <a:ext cx="3520440" cy="2743200"/>
          </a:xfrm>
          <a:prstGeom prst="rect">
            <a:avLst/>
          </a:prstGeom>
          <a:solidFill>
            <a:srgbClr val="F7F7F7"/>
          </a:solidFill>
          <a:ln w="12700">
            <a:solidFill>
              <a:srgbClr val="BFBFBF"/>
            </a:solidFill>
            <a:prstDash val="solid"/>
          </a:ln>
        </p:spPr>
      </p:sp>
      <p:sp>
        <p:nvSpPr>
          <p:cNvPr id="6" name="Text 4"/>
          <p:cNvSpPr/>
          <p:nvPr/>
        </p:nvSpPr>
        <p:spPr>
          <a:xfrm>
            <a:off x="804672" y="2331720"/>
            <a:ext cx="3191256" cy="2468880"/>
          </a:xfrm>
          <a:prstGeom prst="rect">
            <a:avLst/>
          </a:prstGeom>
          <a:noFill/>
          <a:ln/>
        </p:spPr>
        <p:txBody>
          <a:bodyPr wrap="square" lIns="0" tIns="0" rIns="0" bIns="0" rtlCol="0" anchor="ctr"/>
          <a:lstStyle/>
          <a:p>
            <a:pPr indent="0" marL="0">
              <a:buNone/>
            </a:pPr>
            <a:r>
              <a:rPr lang="en-US" sz="1000" dirty="0">
                <a:solidFill>
                  <a:srgbClr val="222222"/>
                </a:solidFill>
                <a:latin typeface="Courier New" pitchFamily="34" charset="0"/>
                <a:ea typeface="Courier New" pitchFamily="34" charset="-122"/>
                <a:cs typeface="Courier New" pitchFamily="34" charset="-120"/>
              </a:rPr>
              <a:t>“Extract EVERY metric row into a table: Metric | Year | Value | Unit | Characterization. Copy values exactly as written. Do NOT convert units. If a cell is blank, write BLANK. Do not guess.”</a:t>
            </a:r>
            <a:endParaRPr lang="en-US" sz="1000" dirty="0"/>
          </a:p>
        </p:txBody>
      </p:sp>
      <p:sp>
        <p:nvSpPr>
          <p:cNvPr id="7" name="Text 5"/>
          <p:cNvSpPr/>
          <p:nvPr/>
        </p:nvSpPr>
        <p:spPr>
          <a:xfrm>
            <a:off x="4169664" y="3291840"/>
            <a:ext cx="274320" cy="457200"/>
          </a:xfrm>
          <a:prstGeom prst="rect">
            <a:avLst/>
          </a:prstGeom>
          <a:noFill/>
          <a:ln/>
        </p:spPr>
        <p:txBody>
          <a:bodyPr wrap="square" lIns="0" tIns="0" rIns="0" bIns="0" rtlCol="0" anchor="ctr"/>
          <a:lstStyle/>
          <a:p>
            <a:pPr indent="0" marL="0">
              <a:buNone/>
            </a:pPr>
            <a:r>
              <a:rPr lang="en-US" sz="2000" b="1" dirty="0">
                <a:solidFill>
                  <a:srgbClr val="222222"/>
                </a:solidFill>
                <a:latin typeface="Arial" pitchFamily="34" charset="0"/>
                <a:ea typeface="Arial" pitchFamily="34" charset="-122"/>
                <a:cs typeface="Arial" pitchFamily="34" charset="-120"/>
              </a:rPr>
              <a:t>→</a:t>
            </a:r>
            <a:endParaRPr lang="en-US" sz="2000" dirty="0"/>
          </a:p>
        </p:txBody>
      </p:sp>
      <p:sp>
        <p:nvSpPr>
          <p:cNvPr id="8" name="Text 6"/>
          <p:cNvSpPr/>
          <p:nvPr/>
        </p:nvSpPr>
        <p:spPr>
          <a:xfrm>
            <a:off x="4343400" y="1234440"/>
            <a:ext cx="3520440" cy="32004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2. Normalize</a:t>
            </a:r>
            <a:endParaRPr lang="en-US" sz="1500" dirty="0"/>
          </a:p>
        </p:txBody>
      </p:sp>
      <p:sp>
        <p:nvSpPr>
          <p:cNvPr id="9" name="Text 7"/>
          <p:cNvSpPr/>
          <p:nvPr/>
        </p:nvSpPr>
        <p:spPr>
          <a:xfrm>
            <a:off x="4343400" y="1572768"/>
            <a:ext cx="3520440" cy="54864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Same units and formats everywhere. Pure mechanics.</a:t>
            </a:r>
            <a:endParaRPr lang="en-US" sz="1100" dirty="0"/>
          </a:p>
        </p:txBody>
      </p:sp>
      <p:sp>
        <p:nvSpPr>
          <p:cNvPr id="10" name="Shape 8"/>
          <p:cNvSpPr/>
          <p:nvPr/>
        </p:nvSpPr>
        <p:spPr>
          <a:xfrm>
            <a:off x="4343400" y="2194560"/>
            <a:ext cx="3520440" cy="2743200"/>
          </a:xfrm>
          <a:prstGeom prst="rect">
            <a:avLst/>
          </a:prstGeom>
          <a:solidFill>
            <a:srgbClr val="F7F7F7"/>
          </a:solidFill>
          <a:ln w="12700">
            <a:solidFill>
              <a:srgbClr val="BFBFBF"/>
            </a:solidFill>
            <a:prstDash val="solid"/>
          </a:ln>
        </p:spPr>
      </p:sp>
      <p:sp>
        <p:nvSpPr>
          <p:cNvPr id="11" name="Text 9"/>
          <p:cNvSpPr/>
          <p:nvPr/>
        </p:nvSpPr>
        <p:spPr>
          <a:xfrm>
            <a:off x="4507992" y="2331720"/>
            <a:ext cx="3191256" cy="2468880"/>
          </a:xfrm>
          <a:prstGeom prst="rect">
            <a:avLst/>
          </a:prstGeom>
          <a:noFill/>
          <a:ln/>
        </p:spPr>
        <p:txBody>
          <a:bodyPr wrap="square" lIns="0" tIns="0" rIns="0" bIns="0" rtlCol="0" anchor="ctr"/>
          <a:lstStyle/>
          <a:p>
            <a:pPr indent="0" marL="0">
              <a:buNone/>
            </a:pPr>
            <a:r>
              <a:rPr lang="en-US" sz="1000" dirty="0">
                <a:solidFill>
                  <a:srgbClr val="222222"/>
                </a:solidFill>
                <a:latin typeface="Courier New" pitchFamily="34" charset="0"/>
                <a:ea typeface="Courier New" pitchFamily="34" charset="-122"/>
                <a:cs typeface="Courier New" pitchFamily="34" charset="-120"/>
              </a:rPr>
              <a:t>“Rewrite the ENTIRE table in canonical form. A rate in ‘$ per $100 of AV’ is converted by multiplying by 10 → mills. A decimal like 0.25 for a % metric → 25%. Do not compare anything, do not drop any row.”</a:t>
            </a:r>
            <a:endParaRPr lang="en-US" sz="1000" dirty="0"/>
          </a:p>
        </p:txBody>
      </p:sp>
      <p:sp>
        <p:nvSpPr>
          <p:cNvPr id="12" name="Text 10"/>
          <p:cNvSpPr/>
          <p:nvPr/>
        </p:nvSpPr>
        <p:spPr>
          <a:xfrm>
            <a:off x="7872984" y="3291840"/>
            <a:ext cx="274320" cy="457200"/>
          </a:xfrm>
          <a:prstGeom prst="rect">
            <a:avLst/>
          </a:prstGeom>
          <a:noFill/>
          <a:ln/>
        </p:spPr>
        <p:txBody>
          <a:bodyPr wrap="square" lIns="0" tIns="0" rIns="0" bIns="0" rtlCol="0" anchor="ctr"/>
          <a:lstStyle/>
          <a:p>
            <a:pPr indent="0" marL="0">
              <a:buNone/>
            </a:pPr>
            <a:r>
              <a:rPr lang="en-US" sz="2000" b="1" dirty="0">
                <a:solidFill>
                  <a:srgbClr val="222222"/>
                </a:solidFill>
                <a:latin typeface="Arial" pitchFamily="34" charset="0"/>
                <a:ea typeface="Arial" pitchFamily="34" charset="-122"/>
                <a:cs typeface="Arial" pitchFamily="34" charset="-120"/>
              </a:rPr>
              <a:t>→</a:t>
            </a:r>
            <a:endParaRPr lang="en-US" sz="2000" dirty="0"/>
          </a:p>
        </p:txBody>
      </p:sp>
      <p:sp>
        <p:nvSpPr>
          <p:cNvPr id="13" name="Text 11"/>
          <p:cNvSpPr/>
          <p:nvPr/>
        </p:nvSpPr>
        <p:spPr>
          <a:xfrm>
            <a:off x="8046720" y="1234440"/>
            <a:ext cx="3520440" cy="32004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3. Compare</a:t>
            </a:r>
            <a:endParaRPr lang="en-US" sz="1500" dirty="0"/>
          </a:p>
        </p:txBody>
      </p:sp>
      <p:sp>
        <p:nvSpPr>
          <p:cNvPr id="14" name="Text 12"/>
          <p:cNvSpPr/>
          <p:nvPr/>
        </p:nvSpPr>
        <p:spPr>
          <a:xfrm>
            <a:off x="8046720" y="1572768"/>
            <a:ext cx="3520440" cy="54864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Two clean tables in, disagreement list out.</a:t>
            </a:r>
            <a:endParaRPr lang="en-US" sz="1100" dirty="0"/>
          </a:p>
        </p:txBody>
      </p:sp>
      <p:sp>
        <p:nvSpPr>
          <p:cNvPr id="15" name="Shape 13"/>
          <p:cNvSpPr/>
          <p:nvPr/>
        </p:nvSpPr>
        <p:spPr>
          <a:xfrm>
            <a:off x="8046720" y="2194560"/>
            <a:ext cx="3520440" cy="2743200"/>
          </a:xfrm>
          <a:prstGeom prst="rect">
            <a:avLst/>
          </a:prstGeom>
          <a:solidFill>
            <a:srgbClr val="F7F7F7"/>
          </a:solidFill>
          <a:ln w="12700">
            <a:solidFill>
              <a:srgbClr val="BFBFBF"/>
            </a:solidFill>
            <a:prstDash val="solid"/>
          </a:ln>
        </p:spPr>
      </p:sp>
      <p:sp>
        <p:nvSpPr>
          <p:cNvPr id="16" name="Text 14"/>
          <p:cNvSpPr/>
          <p:nvPr/>
        </p:nvSpPr>
        <p:spPr>
          <a:xfrm>
            <a:off x="8211312" y="2331720"/>
            <a:ext cx="3191256" cy="2468880"/>
          </a:xfrm>
          <a:prstGeom prst="rect">
            <a:avLst/>
          </a:prstGeom>
          <a:noFill/>
          <a:ln/>
        </p:spPr>
        <p:txBody>
          <a:bodyPr wrap="square" lIns="0" tIns="0" rIns="0" bIns="0" rtlCol="0" anchor="ctr"/>
          <a:lstStyle/>
          <a:p>
            <a:pPr indent="0" marL="0">
              <a:buNone/>
            </a:pPr>
            <a:r>
              <a:rPr lang="en-US" sz="1000" dirty="0">
                <a:solidFill>
                  <a:srgbClr val="222222"/>
                </a:solidFill>
                <a:latin typeface="Courier New" pitchFamily="34" charset="0"/>
                <a:ea typeface="Courier New" pitchFamily="34" charset="-122"/>
                <a:cs typeface="Courier New" pitchFamily="34" charset="-120"/>
              </a:rPr>
              <a:t>“Compare EVERY piece of information that appears in more than one extraction. After unit conversion, values that differ by less than 1% are the SAME — do not report them. Different characterizations for the same metric ARE a disagreement, even when the numbers match.”</a:t>
            </a:r>
            <a:endParaRPr lang="en-US" sz="1000" dirty="0"/>
          </a:p>
        </p:txBody>
      </p:sp>
      <p:sp>
        <p:nvSpPr>
          <p:cNvPr id="17" name="Text 15"/>
          <p:cNvSpPr/>
          <p:nvPr/>
        </p:nvSpPr>
        <p:spPr>
          <a:xfrm>
            <a:off x="640080" y="5120640"/>
            <a:ext cx="10881360" cy="109728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Real prompt excerpts, shortened.</a:t>
            </a:r>
            <a:endParaRPr lang="en-US" sz="1500" dirty="0"/>
          </a:p>
          <a:p>
            <a:pPr marL="177800" indent="-177800">
              <a:spcAft>
                <a:spcPts val="1000"/>
              </a:spcAft>
              <a:buSzPct val="100000"/>
              <a:buChar char="–"/>
            </a:pPr>
            <a:r>
              <a:rPr lang="en-US" sz="1500" b="1" dirty="0">
                <a:solidFill>
                  <a:srgbClr val="333333"/>
                </a:solidFill>
                <a:latin typeface="Arial" pitchFamily="34" charset="0"/>
                <a:ea typeface="Arial" pitchFamily="34" charset="-122"/>
                <a:cs typeface="Arial" pitchFamily="34" charset="-120"/>
              </a:rPr>
              <a:t>Prompts contain template knowledge and task rules — never the answers.</a:t>
            </a:r>
            <a:endParaRPr lang="en-US" sz="1500" dirty="0"/>
          </a:p>
        </p:txBody>
      </p:sp>
      <p:sp>
        <p:nvSpPr>
          <p:cNvPr id="18" name="Text 16"/>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We improved the instructions, not the model</a:t>
            </a:r>
            <a:endParaRPr lang="en-US" sz="2400" dirty="0"/>
          </a:p>
        </p:txBody>
      </p:sp>
      <p:graphicFrame>
        <p:nvGraphicFramePr>
          <p:cNvPr id="3" name="Chart 0" descr=""/>
          <p:cNvGraphicFramePr/>
          <p:nvPr/>
        </p:nvGraphicFramePr>
        <p:xfrm>
          <a:off x="640080" y="1371600"/>
          <a:ext cx="5669280" cy="39319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640080" y="5349240"/>
            <a:ext cx="5669280" cy="274320"/>
          </a:xfrm>
          <a:prstGeom prst="rect">
            <a:avLst/>
          </a:prstGeom>
          <a:noFill/>
          <a:ln/>
        </p:spPr>
        <p:txBody>
          <a:bodyPr wrap="square" lIns="0" tIns="0" rIns="0" bIns="0" rtlCol="0" anchor="ctr"/>
          <a:lstStyle/>
          <a:p>
            <a:pPr indent="0" marL="0">
              <a:buNone/>
            </a:pPr>
            <a:r>
              <a:rPr lang="en-US" sz="900" i="1" dirty="0">
                <a:solidFill>
                  <a:srgbClr val="808080"/>
                </a:solidFill>
                <a:latin typeface="Arial" pitchFamily="34" charset="0"/>
                <a:ea typeface="Arial" pitchFamily="34" charset="-122"/>
                <a:cs typeface="Arial" pitchFamily="34" charset="-120"/>
              </a:rPr>
              <a:t>* re-graded 2026-08-04 from the archived outputs. FP rule: any item containing a false difference claim counts as one false alarm.</a:t>
            </a:r>
            <a:endParaRPr lang="en-US" sz="900" dirty="0"/>
          </a:p>
        </p:txBody>
      </p:sp>
      <p:sp>
        <p:nvSpPr>
          <p:cNvPr id="5" name="Shape 2"/>
          <p:cNvSpPr/>
          <p:nvPr/>
        </p:nvSpPr>
        <p:spPr>
          <a:xfrm>
            <a:off x="6492240" y="1325880"/>
            <a:ext cx="5029200" cy="1691640"/>
          </a:xfrm>
          <a:prstGeom prst="rect">
            <a:avLst/>
          </a:prstGeom>
          <a:solidFill>
            <a:srgbClr val="FFFFFF"/>
          </a:solidFill>
          <a:ln w="12700">
            <a:solidFill>
              <a:srgbClr val="222222"/>
            </a:solidFill>
            <a:prstDash val="solid"/>
          </a:ln>
        </p:spPr>
      </p:sp>
      <p:sp>
        <p:nvSpPr>
          <p:cNvPr id="6" name="Text 3"/>
          <p:cNvSpPr/>
          <p:nvPr/>
        </p:nvSpPr>
        <p:spPr>
          <a:xfrm>
            <a:off x="6675120" y="1417320"/>
            <a:ext cx="4663440" cy="29260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What changed between versions</a:t>
            </a:r>
            <a:endParaRPr lang="en-US" sz="1250" dirty="0"/>
          </a:p>
        </p:txBody>
      </p:sp>
      <p:sp>
        <p:nvSpPr>
          <p:cNvPr id="7" name="Text 4"/>
          <p:cNvSpPr/>
          <p:nvPr/>
        </p:nvSpPr>
        <p:spPr>
          <a:xfrm>
            <a:off x="6675120" y="1728216"/>
            <a:ext cx="4663440" cy="685800"/>
          </a:xfrm>
          <a:prstGeom prst="rect">
            <a:avLst/>
          </a:prstGeom>
          <a:noFill/>
          <a:ln/>
        </p:spPr>
        <p:txBody>
          <a:bodyPr wrap="square" lIns="0" tIns="0" rIns="0" bIns="0" rtlCol="0" anchor="ctr"/>
          <a:lstStyle/>
          <a:p>
            <a:pPr indent="0" marL="0">
              <a:buNone/>
            </a:pPr>
            <a:r>
              <a:rPr lang="en-US" sz="1050" dirty="0">
                <a:solidFill>
                  <a:srgbClr val="333333"/>
                </a:solidFill>
                <a:latin typeface="Arial" pitchFamily="34" charset="0"/>
                <a:ea typeface="Arial" pitchFamily="34" charset="-122"/>
                <a:cs typeface="Arial" pitchFamily="34" charset="-120"/>
              </a:rPr>
              <a:t>Only the instructions — every fix a general rule; never the answers.</a:t>
            </a:r>
            <a:endParaRPr lang="en-US" sz="1050" dirty="0"/>
          </a:p>
        </p:txBody>
      </p:sp>
      <p:sp>
        <p:nvSpPr>
          <p:cNvPr id="8" name="Text 5"/>
          <p:cNvSpPr/>
          <p:nvPr/>
        </p:nvSpPr>
        <p:spPr>
          <a:xfrm>
            <a:off x="6675120" y="2404872"/>
            <a:ext cx="4663440" cy="548640"/>
          </a:xfrm>
          <a:prstGeom prst="rect">
            <a:avLst/>
          </a:prstGeom>
          <a:noFill/>
          <a:ln/>
        </p:spPr>
        <p:txBody>
          <a:bodyPr wrap="square" lIns="0" tIns="0" rIns="0" bIns="0" rtlCol="0" anchor="ctr"/>
          <a:lstStyle/>
          <a:p>
            <a:pPr indent="0" marL="0">
              <a:buNone/>
            </a:pPr>
            <a:r>
              <a:rPr lang="en-US" sz="950" dirty="0">
                <a:solidFill>
                  <a:srgbClr val="222222"/>
                </a:solidFill>
                <a:latin typeface="Courier New" pitchFamily="34" charset="0"/>
                <a:ea typeface="Courier New" pitchFamily="34" charset="-122"/>
                <a:cs typeface="Courier New" pitchFamily="34" charset="-120"/>
              </a:rPr>
              <a:t/>
            </a:r>
            <a:endParaRPr lang="en-US" sz="950" dirty="0"/>
          </a:p>
        </p:txBody>
      </p:sp>
      <p:sp>
        <p:nvSpPr>
          <p:cNvPr id="9" name="Shape 6"/>
          <p:cNvSpPr/>
          <p:nvPr/>
        </p:nvSpPr>
        <p:spPr>
          <a:xfrm>
            <a:off x="6492240" y="3182112"/>
            <a:ext cx="5029200" cy="1371600"/>
          </a:xfrm>
          <a:prstGeom prst="rect">
            <a:avLst/>
          </a:prstGeom>
          <a:solidFill>
            <a:srgbClr val="FFFFFF"/>
          </a:solidFill>
          <a:ln w="12700">
            <a:solidFill>
              <a:srgbClr val="222222"/>
            </a:solidFill>
            <a:prstDash val="solid"/>
          </a:ln>
        </p:spPr>
      </p:sp>
      <p:sp>
        <p:nvSpPr>
          <p:cNvPr id="10" name="Text 7"/>
          <p:cNvSpPr/>
          <p:nvPr/>
        </p:nvSpPr>
        <p:spPr>
          <a:xfrm>
            <a:off x="6675120" y="3273552"/>
            <a:ext cx="4663440" cy="29260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Why iteration worked</a:t>
            </a:r>
            <a:endParaRPr lang="en-US" sz="1250" dirty="0"/>
          </a:p>
        </p:txBody>
      </p:sp>
      <p:sp>
        <p:nvSpPr>
          <p:cNvPr id="11" name="Text 8"/>
          <p:cNvSpPr/>
          <p:nvPr/>
        </p:nvSpPr>
        <p:spPr>
          <a:xfrm>
            <a:off x="6675120" y="3584448"/>
            <a:ext cx="4663440" cy="685800"/>
          </a:xfrm>
          <a:prstGeom prst="rect">
            <a:avLst/>
          </a:prstGeom>
          <a:noFill/>
          <a:ln/>
        </p:spPr>
        <p:txBody>
          <a:bodyPr wrap="square" lIns="0" tIns="0" rIns="0" bIns="0" rtlCol="0" anchor="ctr"/>
          <a:lstStyle/>
          <a:p>
            <a:pPr indent="0" marL="0">
              <a:buNone/>
            </a:pPr>
            <a:r>
              <a:rPr lang="en-US" sz="1050" dirty="0">
                <a:solidFill>
                  <a:srgbClr val="333333"/>
                </a:solidFill>
                <a:latin typeface="Arial" pitchFamily="34" charset="0"/>
                <a:ea typeface="Arial" pitchFamily="34" charset="-122"/>
                <a:cs typeface="Arial" pitchFamily="34" charset="-120"/>
              </a:rPr>
              <a:t>Read step outputs → find cause → fix instructions. The pipeline shows where it fails.</a:t>
            </a:r>
            <a:endParaRPr lang="en-US" sz="1050" dirty="0"/>
          </a:p>
        </p:txBody>
      </p:sp>
      <p:sp>
        <p:nvSpPr>
          <p:cNvPr id="12" name="Shape 9"/>
          <p:cNvSpPr/>
          <p:nvPr/>
        </p:nvSpPr>
        <p:spPr>
          <a:xfrm>
            <a:off x="6492240" y="4718304"/>
            <a:ext cx="5029200" cy="1371600"/>
          </a:xfrm>
          <a:prstGeom prst="rect">
            <a:avLst/>
          </a:prstGeom>
          <a:solidFill>
            <a:srgbClr val="FFFFFF"/>
          </a:solidFill>
          <a:ln w="12700">
            <a:solidFill>
              <a:srgbClr val="222222"/>
            </a:solidFill>
            <a:prstDash val="solid"/>
          </a:ln>
        </p:spPr>
      </p:sp>
      <p:sp>
        <p:nvSpPr>
          <p:cNvPr id="13" name="Text 10"/>
          <p:cNvSpPr/>
          <p:nvPr/>
        </p:nvSpPr>
        <p:spPr>
          <a:xfrm>
            <a:off x="6675120" y="4809744"/>
            <a:ext cx="4663440" cy="29260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Final: 5 of 5, false alarms: 1</a:t>
            </a:r>
            <a:endParaRPr lang="en-US" sz="1250" dirty="0"/>
          </a:p>
        </p:txBody>
      </p:sp>
      <p:sp>
        <p:nvSpPr>
          <p:cNvPr id="14" name="Text 11"/>
          <p:cNvSpPr/>
          <p:nvPr/>
        </p:nvSpPr>
        <p:spPr>
          <a:xfrm>
            <a:off x="6675120" y="5120640"/>
            <a:ext cx="4663440" cy="685800"/>
          </a:xfrm>
          <a:prstGeom prst="rect">
            <a:avLst/>
          </a:prstGeom>
          <a:noFill/>
          <a:ln/>
        </p:spPr>
        <p:txBody>
          <a:bodyPr wrap="square" lIns="0" tIns="0" rIns="0" bIns="0" rtlCol="0" anchor="ctr"/>
          <a:lstStyle/>
          <a:p>
            <a:pPr indent="0" marL="0">
              <a:buNone/>
            </a:pPr>
            <a:r>
              <a:rPr lang="en-US" sz="1050" dirty="0">
                <a:solidFill>
                  <a:srgbClr val="333333"/>
                </a:solidFill>
                <a:latin typeface="Arial" pitchFamily="34" charset="0"/>
                <a:ea typeface="Arial" pitchFamily="34" charset="-122"/>
                <a:cs typeface="Arial" pitchFamily="34" charset="-120"/>
              </a:rPr>
              <a:t>Scores: A 0/5 → 1st version 3/5 → 2nd version 3/5 → final 5/5.</a:t>
            </a:r>
            <a:endParaRPr lang="en-US" sz="1050" dirty="0"/>
          </a:p>
        </p:txBody>
      </p:sp>
      <p:sp>
        <p:nvSpPr>
          <p:cNvPr id="15" name="Text 12"/>
          <p:cNvSpPr/>
          <p:nvPr/>
        </p:nvSpPr>
        <p:spPr>
          <a:xfrm>
            <a:off x="640080" y="6035040"/>
            <a:ext cx="10972800" cy="320040"/>
          </a:xfrm>
          <a:prstGeom prst="rect">
            <a:avLst/>
          </a:prstGeom>
          <a:noFill/>
          <a:ln/>
        </p:spPr>
        <p:txBody>
          <a:bodyPr wrap="square" lIns="0" tIns="0" rIns="0" bIns="0" rtlCol="0" anchor="ctr"/>
          <a:lstStyle/>
          <a:p>
            <a:pPr indent="0" marL="0">
              <a:buNone/>
            </a:pPr>
            <a:r>
              <a:rPr lang="en-US" sz="1250" b="1" i="1" dirty="0">
                <a:solidFill>
                  <a:srgbClr val="222222"/>
                </a:solidFill>
                <a:latin typeface="Arial" pitchFamily="34" charset="0"/>
                <a:ea typeface="Arial" pitchFamily="34" charset="-122"/>
                <a:cs typeface="Arial" pitchFamily="34" charset="-120"/>
              </a:rPr>
              <a:t>A step that underperforms can be seen and fixed. A bad one-shot gives nothing to fix.</a:t>
            </a:r>
            <a:endParaRPr lang="en-US" sz="1250" dirty="0"/>
          </a:p>
        </p:txBody>
      </p:sp>
      <p:sp>
        <p:nvSpPr>
          <p:cNvPr id="16" name="Text 13"/>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Final score: one-shot vs step-by-step</a:t>
            </a:r>
            <a:endParaRPr lang="en-US" sz="2400" dirty="0"/>
          </a:p>
        </p:txBody>
      </p:sp>
      <p:sp>
        <p:nvSpPr>
          <p:cNvPr id="3" name="Text 1"/>
          <p:cNvSpPr/>
          <p:nvPr/>
        </p:nvSpPr>
        <p:spPr>
          <a:xfrm>
            <a:off x="777240" y="1399032"/>
            <a:ext cx="3566160" cy="365760"/>
          </a:xfrm>
          <a:prstGeom prst="rect">
            <a:avLst/>
          </a:prstGeom>
          <a:noFill/>
          <a:ln/>
        </p:spPr>
        <p:txBody>
          <a:bodyPr wrap="square" lIns="0" tIns="0" rIns="0" bIns="0" rtlCol="0" anchor="ctr"/>
          <a:lstStyle/>
          <a:p>
            <a:pPr indent="0" marL="0">
              <a:buNone/>
            </a:pPr>
            <a:endParaRPr lang="en-US" sz="1100" dirty="0"/>
          </a:p>
        </p:txBody>
      </p:sp>
      <p:sp>
        <p:nvSpPr>
          <p:cNvPr id="4" name="Text 2"/>
          <p:cNvSpPr/>
          <p:nvPr/>
        </p:nvSpPr>
        <p:spPr>
          <a:xfrm>
            <a:off x="4480560" y="1399032"/>
            <a:ext cx="1463040" cy="365760"/>
          </a:xfrm>
          <a:prstGeom prst="rect">
            <a:avLst/>
          </a:prstGeom>
          <a:noFill/>
          <a:ln/>
        </p:spPr>
        <p:txBody>
          <a:bodyPr wrap="square" lIns="0" tIns="0" rIns="0" bIns="0" rtlCol="0" anchor="ctr"/>
          <a:lstStyle/>
          <a:p>
            <a:pPr algn="ctr" indent="0" marL="0">
              <a:buNone/>
            </a:pPr>
            <a:r>
              <a:rPr lang="en-US" sz="1100" b="1" dirty="0">
                <a:solidFill>
                  <a:srgbClr val="808080"/>
                </a:solidFill>
                <a:latin typeface="Arial" pitchFamily="34" charset="0"/>
                <a:ea typeface="Arial" pitchFamily="34" charset="-122"/>
                <a:cs typeface="Arial" pitchFamily="34" charset="-120"/>
              </a:rPr>
              <a:t>Method A (3 runs)</a:t>
            </a:r>
            <a:endParaRPr lang="en-US" sz="1100" dirty="0"/>
          </a:p>
        </p:txBody>
      </p:sp>
      <p:sp>
        <p:nvSpPr>
          <p:cNvPr id="5" name="Text 3"/>
          <p:cNvSpPr/>
          <p:nvPr/>
        </p:nvSpPr>
        <p:spPr>
          <a:xfrm>
            <a:off x="6035040" y="1399032"/>
            <a:ext cx="1463040" cy="365760"/>
          </a:xfrm>
          <a:prstGeom prst="rect">
            <a:avLst/>
          </a:prstGeom>
          <a:noFill/>
          <a:ln/>
        </p:spPr>
        <p:txBody>
          <a:bodyPr wrap="square" lIns="0" tIns="0" rIns="0" bIns="0" rtlCol="0" anchor="ctr"/>
          <a:lstStyle/>
          <a:p>
            <a:pPr algn="ctr" indent="0" marL="0">
              <a:buNone/>
            </a:pPr>
            <a:r>
              <a:rPr lang="en-US" sz="1100" b="1" dirty="0">
                <a:solidFill>
                  <a:srgbClr val="808080"/>
                </a:solidFill>
                <a:latin typeface="Arial" pitchFamily="34" charset="0"/>
                <a:ea typeface="Arial" pitchFamily="34" charset="-122"/>
                <a:cs typeface="Arial" pitchFamily="34" charset="-120"/>
              </a:rPr>
              <a:t>Method B final</a:t>
            </a:r>
            <a:endParaRPr lang="en-US" sz="1100" dirty="0"/>
          </a:p>
        </p:txBody>
      </p:sp>
      <p:sp>
        <p:nvSpPr>
          <p:cNvPr id="6" name="Shape 4"/>
          <p:cNvSpPr/>
          <p:nvPr/>
        </p:nvSpPr>
        <p:spPr>
          <a:xfrm>
            <a:off x="640080" y="1783080"/>
            <a:ext cx="6858000" cy="530352"/>
          </a:xfrm>
          <a:prstGeom prst="rect">
            <a:avLst/>
          </a:prstGeom>
          <a:solidFill>
            <a:srgbClr val="EFEFEF"/>
          </a:solidFill>
          <a:ln w="6350">
            <a:solidFill>
              <a:srgbClr val="BFBFBF"/>
            </a:solidFill>
            <a:prstDash val="solid"/>
          </a:ln>
        </p:spPr>
        <p:txBody>
          <a:bodyPr/>
          <a:p/>
        </p:txBody>
      </p:sp>
      <p:sp>
        <p:nvSpPr>
          <p:cNvPr id="7" name="Text 5"/>
          <p:cNvSpPr/>
          <p:nvPr/>
        </p:nvSpPr>
        <p:spPr>
          <a:xfrm>
            <a:off x="777240" y="1810512"/>
            <a:ext cx="3566160" cy="47548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E1   Direct rate characterization</a:t>
            </a:r>
            <a:endParaRPr lang="en-US" sz="1250" dirty="0"/>
          </a:p>
        </p:txBody>
      </p:sp>
      <p:sp>
        <p:nvSpPr>
          <p:cNvPr id="8" name="Text 6"/>
          <p:cNvSpPr/>
          <p:nvPr/>
        </p:nvSpPr>
        <p:spPr>
          <a:xfrm>
            <a:off x="4480560" y="1810512"/>
            <a:ext cx="1463040" cy="475488"/>
          </a:xfrm>
          <a:prstGeom prst="rect">
            <a:avLst/>
          </a:prstGeom>
          <a:noFill/>
          <a:ln/>
        </p:spPr>
        <p:txBody>
          <a:bodyPr wrap="square" lIns="0" tIns="0" rIns="0" bIns="0" rtlCol="0" anchor="ctr"/>
          <a:lstStyle/>
          <a:p>
            <a:pPr algn="ctr" indent="0" marL="0">
              <a:buNone/>
            </a:pPr>
            <a:r>
              <a:rPr lang="en-US" sz="1200" b="1" dirty="0">
                <a:solidFill>
                  <a:srgbClr val="C8102E"/>
                </a:solidFill>
                <a:latin typeface="Arial" pitchFamily="34" charset="0"/>
                <a:ea typeface="Arial" pitchFamily="34" charset="-122"/>
                <a:cs typeface="Arial" pitchFamily="34" charset="-120"/>
              </a:rPr>
              <a:t>missed</a:t>
            </a:r>
            <a:endParaRPr lang="en-US" sz="1200" dirty="0"/>
          </a:p>
        </p:txBody>
      </p:sp>
      <p:sp>
        <p:nvSpPr>
          <p:cNvPr id="9" name="Text 7"/>
          <p:cNvSpPr/>
          <p:nvPr/>
        </p:nvSpPr>
        <p:spPr>
          <a:xfrm>
            <a:off x="6035040" y="1810512"/>
            <a:ext cx="1463040" cy="475488"/>
          </a:xfrm>
          <a:prstGeom prst="rect">
            <a:avLst/>
          </a:prstGeom>
          <a:noFill/>
          <a:ln/>
        </p:spPr>
        <p:txBody>
          <a:bodyPr wrap="square" lIns="0" tIns="0" rIns="0" bIns="0" rtlCol="0" anchor="ctr"/>
          <a:lstStyle/>
          <a:p>
            <a:pPr algn="ctr" indent="0" marL="0">
              <a:buNone/>
            </a:pPr>
            <a:r>
              <a:rPr lang="en-US" sz="1200" b="1" dirty="0">
                <a:solidFill>
                  <a:srgbClr val="2E6B2A"/>
                </a:solidFill>
                <a:latin typeface="Arial" pitchFamily="34" charset="0"/>
                <a:ea typeface="Arial" pitchFamily="34" charset="-122"/>
                <a:cs typeface="Arial" pitchFamily="34" charset="-120"/>
              </a:rPr>
              <a:t>caught</a:t>
            </a:r>
            <a:endParaRPr lang="en-US" sz="1200" dirty="0"/>
          </a:p>
        </p:txBody>
      </p:sp>
      <p:sp>
        <p:nvSpPr>
          <p:cNvPr id="10" name="Shape 8"/>
          <p:cNvSpPr/>
          <p:nvPr/>
        </p:nvSpPr>
        <p:spPr>
          <a:xfrm>
            <a:off x="640080" y="2350008"/>
            <a:ext cx="6858000" cy="530352"/>
          </a:xfrm>
          <a:prstGeom prst="rect">
            <a:avLst/>
          </a:prstGeom>
          <a:solidFill>
            <a:srgbClr val="FFFFFF"/>
          </a:solidFill>
          <a:ln w="6350">
            <a:solidFill>
              <a:srgbClr val="BFBFBF"/>
            </a:solidFill>
            <a:prstDash val="solid"/>
          </a:ln>
        </p:spPr>
        <p:txBody>
          <a:bodyPr/>
          <a:p/>
        </p:txBody>
      </p:sp>
      <p:sp>
        <p:nvSpPr>
          <p:cNvPr id="11" name="Text 9"/>
          <p:cNvSpPr/>
          <p:nvPr/>
        </p:nvSpPr>
        <p:spPr>
          <a:xfrm>
            <a:off x="777240" y="2377440"/>
            <a:ext cx="3566160" cy="47548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E2   Total rate characterization</a:t>
            </a:r>
            <a:endParaRPr lang="en-US" sz="1250" dirty="0"/>
          </a:p>
        </p:txBody>
      </p:sp>
      <p:sp>
        <p:nvSpPr>
          <p:cNvPr id="12" name="Text 10"/>
          <p:cNvSpPr/>
          <p:nvPr/>
        </p:nvSpPr>
        <p:spPr>
          <a:xfrm>
            <a:off x="4480560" y="2377440"/>
            <a:ext cx="1463040" cy="475488"/>
          </a:xfrm>
          <a:prstGeom prst="rect">
            <a:avLst/>
          </a:prstGeom>
          <a:noFill/>
          <a:ln/>
        </p:spPr>
        <p:txBody>
          <a:bodyPr wrap="square" lIns="0" tIns="0" rIns="0" bIns="0" rtlCol="0" anchor="ctr"/>
          <a:lstStyle/>
          <a:p>
            <a:pPr algn="ctr" indent="0" marL="0">
              <a:buNone/>
            </a:pPr>
            <a:r>
              <a:rPr lang="en-US" sz="1200" b="1" dirty="0">
                <a:solidFill>
                  <a:srgbClr val="C8102E"/>
                </a:solidFill>
                <a:latin typeface="Arial" pitchFamily="34" charset="0"/>
                <a:ea typeface="Arial" pitchFamily="34" charset="-122"/>
                <a:cs typeface="Arial" pitchFamily="34" charset="-120"/>
              </a:rPr>
              <a:t>missed</a:t>
            </a:r>
            <a:endParaRPr lang="en-US" sz="1200" dirty="0"/>
          </a:p>
        </p:txBody>
      </p:sp>
      <p:sp>
        <p:nvSpPr>
          <p:cNvPr id="13" name="Text 11"/>
          <p:cNvSpPr/>
          <p:nvPr/>
        </p:nvSpPr>
        <p:spPr>
          <a:xfrm>
            <a:off x="6035040" y="2377440"/>
            <a:ext cx="1463040" cy="475488"/>
          </a:xfrm>
          <a:prstGeom prst="rect">
            <a:avLst/>
          </a:prstGeom>
          <a:noFill/>
          <a:ln/>
        </p:spPr>
        <p:txBody>
          <a:bodyPr wrap="square" lIns="0" tIns="0" rIns="0" bIns="0" rtlCol="0" anchor="ctr"/>
          <a:lstStyle/>
          <a:p>
            <a:pPr algn="ctr" indent="0" marL="0">
              <a:buNone/>
            </a:pPr>
            <a:r>
              <a:rPr lang="en-US" sz="1200" b="1" dirty="0">
                <a:solidFill>
                  <a:srgbClr val="2E6B2A"/>
                </a:solidFill>
                <a:latin typeface="Arial" pitchFamily="34" charset="0"/>
                <a:ea typeface="Arial" pitchFamily="34" charset="-122"/>
                <a:cs typeface="Arial" pitchFamily="34" charset="-120"/>
              </a:rPr>
              <a:t>caught</a:t>
            </a:r>
            <a:endParaRPr lang="en-US" sz="1200" dirty="0"/>
          </a:p>
        </p:txBody>
      </p:sp>
      <p:sp>
        <p:nvSpPr>
          <p:cNvPr id="14" name="Shape 12"/>
          <p:cNvSpPr/>
          <p:nvPr/>
        </p:nvSpPr>
        <p:spPr>
          <a:xfrm>
            <a:off x="640080" y="2916936"/>
            <a:ext cx="6858000" cy="530352"/>
          </a:xfrm>
          <a:prstGeom prst="rect">
            <a:avLst/>
          </a:prstGeom>
          <a:solidFill>
            <a:srgbClr val="EFEFEF"/>
          </a:solidFill>
          <a:ln w="6350">
            <a:solidFill>
              <a:srgbClr val="BFBFBF"/>
            </a:solidFill>
            <a:prstDash val="solid"/>
          </a:ln>
        </p:spPr>
        <p:txBody>
          <a:bodyPr/>
          <a:p/>
        </p:txBody>
      </p:sp>
      <p:sp>
        <p:nvSpPr>
          <p:cNvPr id="15" name="Text 13"/>
          <p:cNvSpPr/>
          <p:nvPr/>
        </p:nvSpPr>
        <p:spPr>
          <a:xfrm>
            <a:off x="777240" y="2944368"/>
            <a:ext cx="3566160" cy="47548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E3   Maturity date</a:t>
            </a:r>
            <a:endParaRPr lang="en-US" sz="1250" dirty="0"/>
          </a:p>
        </p:txBody>
      </p:sp>
      <p:sp>
        <p:nvSpPr>
          <p:cNvPr id="16" name="Text 14"/>
          <p:cNvSpPr/>
          <p:nvPr/>
        </p:nvSpPr>
        <p:spPr>
          <a:xfrm>
            <a:off x="4480560" y="2944368"/>
            <a:ext cx="1463040" cy="475488"/>
          </a:xfrm>
          <a:prstGeom prst="rect">
            <a:avLst/>
          </a:prstGeom>
          <a:noFill/>
          <a:ln/>
        </p:spPr>
        <p:txBody>
          <a:bodyPr wrap="square" lIns="0" tIns="0" rIns="0" bIns="0" rtlCol="0" anchor="ctr"/>
          <a:lstStyle/>
          <a:p>
            <a:pPr algn="ctr" indent="0" marL="0">
              <a:buNone/>
            </a:pPr>
            <a:r>
              <a:rPr lang="en-US" sz="1200" b="1" dirty="0">
                <a:solidFill>
                  <a:srgbClr val="C8102E"/>
                </a:solidFill>
                <a:latin typeface="Arial" pitchFamily="34" charset="0"/>
                <a:ea typeface="Arial" pitchFamily="34" charset="-122"/>
                <a:cs typeface="Arial" pitchFamily="34" charset="-120"/>
              </a:rPr>
              <a:t>missed</a:t>
            </a:r>
            <a:endParaRPr lang="en-US" sz="1200" dirty="0"/>
          </a:p>
        </p:txBody>
      </p:sp>
      <p:sp>
        <p:nvSpPr>
          <p:cNvPr id="17" name="Text 15"/>
          <p:cNvSpPr/>
          <p:nvPr/>
        </p:nvSpPr>
        <p:spPr>
          <a:xfrm>
            <a:off x="6035040" y="2944368"/>
            <a:ext cx="1463040" cy="475488"/>
          </a:xfrm>
          <a:prstGeom prst="rect">
            <a:avLst/>
          </a:prstGeom>
          <a:noFill/>
          <a:ln/>
        </p:spPr>
        <p:txBody>
          <a:bodyPr wrap="square" lIns="0" tIns="0" rIns="0" bIns="0" rtlCol="0" anchor="ctr"/>
          <a:lstStyle/>
          <a:p>
            <a:pPr algn="ctr" indent="0" marL="0">
              <a:buNone/>
            </a:pPr>
            <a:r>
              <a:rPr lang="en-US" sz="1200" b="1" dirty="0">
                <a:solidFill>
                  <a:srgbClr val="2E6B2A"/>
                </a:solidFill>
                <a:latin typeface="Arial" pitchFamily="34" charset="0"/>
                <a:ea typeface="Arial" pitchFamily="34" charset="-122"/>
                <a:cs typeface="Arial" pitchFamily="34" charset="-120"/>
              </a:rPr>
              <a:t>caught</a:t>
            </a:r>
            <a:endParaRPr lang="en-US" sz="1200" dirty="0"/>
          </a:p>
        </p:txBody>
      </p:sp>
      <p:sp>
        <p:nvSpPr>
          <p:cNvPr id="18" name="Shape 16"/>
          <p:cNvSpPr/>
          <p:nvPr/>
        </p:nvSpPr>
        <p:spPr>
          <a:xfrm>
            <a:off x="640080" y="3483864"/>
            <a:ext cx="6858000" cy="530352"/>
          </a:xfrm>
          <a:prstGeom prst="rect">
            <a:avLst/>
          </a:prstGeom>
          <a:solidFill>
            <a:srgbClr val="FFFFFF"/>
          </a:solidFill>
          <a:ln w="6350">
            <a:solidFill>
              <a:srgbClr val="BFBFBF"/>
            </a:solidFill>
            <a:prstDash val="solid"/>
          </a:ln>
        </p:spPr>
        <p:txBody>
          <a:bodyPr/>
          <a:p/>
        </p:txBody>
      </p:sp>
      <p:sp>
        <p:nvSpPr>
          <p:cNvPr id="19" name="Text 17"/>
          <p:cNvSpPr/>
          <p:nvPr/>
        </p:nvSpPr>
        <p:spPr>
          <a:xfrm>
            <a:off x="777240" y="3511296"/>
            <a:ext cx="3566160" cy="47548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E4   Value table shift</a:t>
            </a:r>
            <a:endParaRPr lang="en-US" sz="1250" dirty="0"/>
          </a:p>
        </p:txBody>
      </p:sp>
      <p:sp>
        <p:nvSpPr>
          <p:cNvPr id="20" name="Text 18"/>
          <p:cNvSpPr/>
          <p:nvPr/>
        </p:nvSpPr>
        <p:spPr>
          <a:xfrm>
            <a:off x="4480560" y="3511296"/>
            <a:ext cx="1463040" cy="475488"/>
          </a:xfrm>
          <a:prstGeom prst="rect">
            <a:avLst/>
          </a:prstGeom>
          <a:noFill/>
          <a:ln/>
        </p:spPr>
        <p:txBody>
          <a:bodyPr wrap="square" lIns="0" tIns="0" rIns="0" bIns="0" rtlCol="0" anchor="ctr"/>
          <a:lstStyle/>
          <a:p>
            <a:pPr algn="ctr" indent="0" marL="0">
              <a:buNone/>
            </a:pPr>
            <a:r>
              <a:rPr lang="en-US" sz="1200" b="1" dirty="0">
                <a:solidFill>
                  <a:srgbClr val="9C6500"/>
                </a:solidFill>
                <a:latin typeface="Arial" pitchFamily="34" charset="0"/>
                <a:ea typeface="Arial" pitchFamily="34" charset="-122"/>
                <a:cs typeface="Arial" pitchFamily="34" charset="-120"/>
              </a:rPr>
              <a:t>partial</a:t>
            </a:r>
            <a:endParaRPr lang="en-US" sz="1200" dirty="0"/>
          </a:p>
        </p:txBody>
      </p:sp>
      <p:sp>
        <p:nvSpPr>
          <p:cNvPr id="21" name="Text 19"/>
          <p:cNvSpPr/>
          <p:nvPr/>
        </p:nvSpPr>
        <p:spPr>
          <a:xfrm>
            <a:off x="6035040" y="3511296"/>
            <a:ext cx="1463040" cy="475488"/>
          </a:xfrm>
          <a:prstGeom prst="rect">
            <a:avLst/>
          </a:prstGeom>
          <a:noFill/>
          <a:ln/>
        </p:spPr>
        <p:txBody>
          <a:bodyPr wrap="square" lIns="0" tIns="0" rIns="0" bIns="0" rtlCol="0" anchor="ctr"/>
          <a:lstStyle/>
          <a:p>
            <a:pPr algn="ctr" indent="0" marL="0">
              <a:buNone/>
            </a:pPr>
            <a:r>
              <a:rPr lang="en-US" sz="1200" b="1" dirty="0">
                <a:solidFill>
                  <a:srgbClr val="2E6B2A"/>
                </a:solidFill>
                <a:latin typeface="Arial" pitchFamily="34" charset="0"/>
                <a:ea typeface="Arial" pitchFamily="34" charset="-122"/>
                <a:cs typeface="Arial" pitchFamily="34" charset="-120"/>
              </a:rPr>
              <a:t>caught</a:t>
            </a:r>
            <a:endParaRPr lang="en-US" sz="1200" dirty="0"/>
          </a:p>
        </p:txBody>
      </p:sp>
      <p:sp>
        <p:nvSpPr>
          <p:cNvPr id="22" name="Shape 20"/>
          <p:cNvSpPr/>
          <p:nvPr/>
        </p:nvSpPr>
        <p:spPr>
          <a:xfrm>
            <a:off x="640080" y="4050792"/>
            <a:ext cx="6858000" cy="530352"/>
          </a:xfrm>
          <a:prstGeom prst="rect">
            <a:avLst/>
          </a:prstGeom>
          <a:solidFill>
            <a:srgbClr val="EFEFEF"/>
          </a:solidFill>
          <a:ln w="6350">
            <a:solidFill>
              <a:srgbClr val="BFBFBF"/>
            </a:solidFill>
            <a:prstDash val="solid"/>
          </a:ln>
        </p:spPr>
        <p:txBody>
          <a:bodyPr/>
          <a:p/>
        </p:txBody>
      </p:sp>
      <p:sp>
        <p:nvSpPr>
          <p:cNvPr id="23" name="Text 21"/>
          <p:cNvSpPr/>
          <p:nvPr/>
        </p:nvSpPr>
        <p:spPr>
          <a:xfrm>
            <a:off x="777240" y="4078224"/>
            <a:ext cx="3566160" cy="47548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E5   MADS year</a:t>
            </a:r>
            <a:endParaRPr lang="en-US" sz="1250" dirty="0"/>
          </a:p>
        </p:txBody>
      </p:sp>
      <p:sp>
        <p:nvSpPr>
          <p:cNvPr id="24" name="Text 22"/>
          <p:cNvSpPr/>
          <p:nvPr/>
        </p:nvSpPr>
        <p:spPr>
          <a:xfrm>
            <a:off x="4480560" y="4078224"/>
            <a:ext cx="1463040" cy="475488"/>
          </a:xfrm>
          <a:prstGeom prst="rect">
            <a:avLst/>
          </a:prstGeom>
          <a:noFill/>
          <a:ln/>
        </p:spPr>
        <p:txBody>
          <a:bodyPr wrap="square" lIns="0" tIns="0" rIns="0" bIns="0" rtlCol="0" anchor="ctr"/>
          <a:lstStyle/>
          <a:p>
            <a:pPr algn="ctr" indent="0" marL="0">
              <a:buNone/>
            </a:pPr>
            <a:r>
              <a:rPr lang="en-US" sz="1200" b="1" dirty="0">
                <a:solidFill>
                  <a:srgbClr val="C8102E"/>
                </a:solidFill>
                <a:latin typeface="Arial" pitchFamily="34" charset="0"/>
                <a:ea typeface="Arial" pitchFamily="34" charset="-122"/>
                <a:cs typeface="Arial" pitchFamily="34" charset="-120"/>
              </a:rPr>
              <a:t>missed</a:t>
            </a:r>
            <a:endParaRPr lang="en-US" sz="1200" dirty="0"/>
          </a:p>
        </p:txBody>
      </p:sp>
      <p:sp>
        <p:nvSpPr>
          <p:cNvPr id="25" name="Text 23"/>
          <p:cNvSpPr/>
          <p:nvPr/>
        </p:nvSpPr>
        <p:spPr>
          <a:xfrm>
            <a:off x="6035040" y="4078224"/>
            <a:ext cx="1463040" cy="475488"/>
          </a:xfrm>
          <a:prstGeom prst="rect">
            <a:avLst/>
          </a:prstGeom>
          <a:noFill/>
          <a:ln/>
        </p:spPr>
        <p:txBody>
          <a:bodyPr wrap="square" lIns="0" tIns="0" rIns="0" bIns="0" rtlCol="0" anchor="ctr"/>
          <a:lstStyle/>
          <a:p>
            <a:pPr algn="ctr" indent="0" marL="0">
              <a:buNone/>
            </a:pPr>
            <a:r>
              <a:rPr lang="en-US" sz="1200" b="1" dirty="0">
                <a:solidFill>
                  <a:srgbClr val="2E6B2A"/>
                </a:solidFill>
                <a:latin typeface="Arial" pitchFamily="34" charset="0"/>
                <a:ea typeface="Arial" pitchFamily="34" charset="-122"/>
                <a:cs typeface="Arial" pitchFamily="34" charset="-120"/>
              </a:rPr>
              <a:t>caught</a:t>
            </a:r>
            <a:endParaRPr lang="en-US" sz="1200" dirty="0"/>
          </a:p>
        </p:txBody>
      </p:sp>
      <p:sp>
        <p:nvSpPr>
          <p:cNvPr id="26" name="Shape 24"/>
          <p:cNvSpPr/>
          <p:nvPr/>
        </p:nvSpPr>
        <p:spPr>
          <a:xfrm>
            <a:off x="640080" y="4617720"/>
            <a:ext cx="6858000" cy="530352"/>
          </a:xfrm>
          <a:prstGeom prst="rect">
            <a:avLst/>
          </a:prstGeom>
          <a:solidFill>
            <a:srgbClr val="FFFFFF"/>
          </a:solidFill>
          <a:ln w="6350">
            <a:solidFill>
              <a:srgbClr val="BFBFBF"/>
            </a:solidFill>
            <a:prstDash val="solid"/>
          </a:ln>
        </p:spPr>
        <p:txBody>
          <a:bodyPr/>
          <a:p/>
        </p:txBody>
      </p:sp>
      <p:sp>
        <p:nvSpPr>
          <p:cNvPr id="27" name="Text 25"/>
          <p:cNvSpPr/>
          <p:nvPr/>
        </p:nvSpPr>
        <p:spPr>
          <a:xfrm>
            <a:off x="777240" y="4645152"/>
            <a:ext cx="3566160" cy="47548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False alarms</a:t>
            </a:r>
            <a:endParaRPr lang="en-US" sz="1250" dirty="0"/>
          </a:p>
        </p:txBody>
      </p:sp>
      <p:sp>
        <p:nvSpPr>
          <p:cNvPr id="28" name="Text 26"/>
          <p:cNvSpPr/>
          <p:nvPr/>
        </p:nvSpPr>
        <p:spPr>
          <a:xfrm>
            <a:off x="4480560" y="4645152"/>
            <a:ext cx="1463040" cy="475488"/>
          </a:xfrm>
          <a:prstGeom prst="rect">
            <a:avLst/>
          </a:prstGeom>
          <a:noFill/>
          <a:ln/>
        </p:spPr>
        <p:txBody>
          <a:bodyPr wrap="square" lIns="0" tIns="0" rIns="0" bIns="0" rtlCol="0" anchor="ctr"/>
          <a:lstStyle/>
          <a:p>
            <a:pPr algn="ctr" indent="0" marL="0">
              <a:buNone/>
            </a:pPr>
            <a:r>
              <a:rPr lang="en-US" sz="1200" b="1" dirty="0">
                <a:solidFill>
                  <a:srgbClr val="C8102E"/>
                </a:solidFill>
                <a:latin typeface="Arial" pitchFamily="34" charset="0"/>
                <a:ea typeface="Arial" pitchFamily="34" charset="-122"/>
                <a:cs typeface="Arial" pitchFamily="34" charset="-120"/>
              </a:rPr>
              <a:t>4 / 4 / 2</a:t>
            </a:r>
            <a:endParaRPr lang="en-US" sz="1200" dirty="0"/>
          </a:p>
        </p:txBody>
      </p:sp>
      <p:sp>
        <p:nvSpPr>
          <p:cNvPr id="29" name="Text 27"/>
          <p:cNvSpPr/>
          <p:nvPr/>
        </p:nvSpPr>
        <p:spPr>
          <a:xfrm>
            <a:off x="6035040" y="4645152"/>
            <a:ext cx="1463040" cy="475488"/>
          </a:xfrm>
          <a:prstGeom prst="rect">
            <a:avLst/>
          </a:prstGeom>
          <a:noFill/>
          <a:ln/>
        </p:spPr>
        <p:txBody>
          <a:bodyPr wrap="square" lIns="0" tIns="0" rIns="0" bIns="0" rtlCol="0" anchor="ctr"/>
          <a:lstStyle/>
          <a:p>
            <a:pPr algn="ctr" indent="0" marL="0">
              <a:buNone/>
            </a:pPr>
            <a:r>
              <a:rPr lang="en-US" sz="1200" b="1" dirty="0">
                <a:solidFill>
                  <a:srgbClr val="2E6B2A"/>
                </a:solidFill>
                <a:latin typeface="Arial" pitchFamily="34" charset="0"/>
                <a:ea typeface="Arial" pitchFamily="34" charset="-122"/>
                <a:cs typeface="Arial" pitchFamily="34" charset="-120"/>
              </a:rPr>
              <a:t>1</a:t>
            </a:r>
            <a:endParaRPr lang="en-US" sz="1200" dirty="0"/>
          </a:p>
        </p:txBody>
      </p:sp>
      <p:sp>
        <p:nvSpPr>
          <p:cNvPr id="30" name="Text 28"/>
          <p:cNvSpPr/>
          <p:nvPr/>
        </p:nvSpPr>
        <p:spPr>
          <a:xfrm>
            <a:off x="640080" y="5303520"/>
            <a:ext cx="6858000" cy="822960"/>
          </a:xfrm>
          <a:prstGeom prst="rect">
            <a:avLst/>
          </a:prstGeom>
          <a:noFill/>
          <a:ln/>
        </p:spPr>
        <p:txBody>
          <a:bodyPr wrap="square" lIns="0" tIns="0" rIns="0" bIns="0" rtlCol="0" anchor="ctr"/>
          <a:lstStyle/>
          <a:p>
            <a:pPr indent="0" marL="0">
              <a:buNone/>
            </a:pPr>
            <a:r>
              <a:rPr lang="en-US" sz="1250" b="1" dirty="0">
                <a:solidFill>
                  <a:srgbClr val="2E6B2A"/>
                </a:solidFill>
                <a:latin typeface="Arial" pitchFamily="34" charset="0"/>
                <a:ea typeface="Arial" pitchFamily="34" charset="-122"/>
                <a:cs typeface="Arial" pitchFamily="34" charset="-120"/>
              </a:rPr>
              <a:t>Bonus: </a:t>
            </a:r>
            <a:pPr indent="0" marL="0">
              <a:buNone/>
            </a:pPr>
            <a:r>
              <a:rPr lang="en-US" sz="1250" dirty="0">
                <a:solidFill>
                  <a:srgbClr val="333333"/>
                </a:solidFill>
                <a:latin typeface="Arial" pitchFamily="34" charset="0"/>
                <a:ea typeface="Arial" pitchFamily="34" charset="-122"/>
                <a:cs typeface="Arial" pitchFamily="34" charset="-120"/>
              </a:rPr>
              <a:t>the step-by-step method surfaced the MADS-year mismatch (2038 vs 2035) — an inconsistency that was not in the official review findings.</a:t>
            </a:r>
            <a:endParaRPr lang="en-US" sz="1250" dirty="0"/>
          </a:p>
        </p:txBody>
      </p:sp>
      <p:sp>
        <p:nvSpPr>
          <p:cNvPr id="31" name="Shape 29"/>
          <p:cNvSpPr/>
          <p:nvPr/>
        </p:nvSpPr>
        <p:spPr>
          <a:xfrm>
            <a:off x="7863840" y="1371600"/>
            <a:ext cx="3657600" cy="4023360"/>
          </a:xfrm>
          <a:prstGeom prst="rect">
            <a:avLst/>
          </a:prstGeom>
          <a:solidFill>
            <a:srgbClr val="FAFAFA"/>
          </a:solidFill>
          <a:ln w="12700">
            <a:solidFill>
              <a:srgbClr val="BFBFBF"/>
            </a:solidFill>
            <a:prstDash val="dash"/>
          </a:ln>
        </p:spPr>
        <p:txBody>
          <a:bodyPr/>
          <a:p/>
        </p:txBody>
      </p:sp>
      <p:sp>
        <p:nvSpPr>
          <p:cNvPr id="33" name="Text 31"/>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14</a:t>
            </a:r>
            <a:endParaRPr lang="en-US" sz="900" dirty="0"/>
          </a:p>
        </p:txBody>
      </p:sp>
      <p:sp>
        <p:nvSpPr>
          <p:cNvPr id="34" name="TextBox 33"/>
          <p:cNvSpPr txBox="1"/>
          <p:nvPr/>
        </p:nvSpPr>
        <p:spPr>
          <a:xfrm>
            <a:off x="7909560" y="1417320"/>
            <a:ext cx="3566160" cy="3977639"/>
          </a:xfrm>
          <a:prstGeom prst="rect">
            <a:avLst/>
          </a:prstGeom>
          <a:noFill/>
        </p:spPr>
        <p:txBody>
          <a:bodyPr wrap="square" lIns="76200" rIns="76200" tIns="76200" bIns="76200">
            <a:spAutoFit/>
          </a:bodyPr>
          <a:lstStyle/>
          <a:p>
            <a:pPr>
              <a:spcAft>
                <a:spcPts val="400"/>
              </a:spcAft>
            </a:pPr>
            <a:r>
              <a:rPr sz="900" b="1">
                <a:solidFill>
                  <a:srgbClr val="222222"/>
                </a:solidFill>
                <a:latin typeface="Arial"/>
              </a:rPr>
              <a:t>Final version — compare output (condensed, archived)</a:t>
            </a:r>
          </a:p>
          <a:p>
            <a:pPr>
              <a:spcAft>
                <a:spcPts val="200"/>
              </a:spcAft>
            </a:pPr>
            <a:r>
              <a:rPr sz="750" b="1">
                <a:solidFill>
                  <a:srgbClr val="2E6B2A"/>
                </a:solidFill>
                <a:latin typeface="Courier New"/>
              </a:rPr>
              <a:t>1  ✓ </a:t>
            </a:r>
            <a:r>
              <a:rPr sz="750" b="0">
                <a:solidFill>
                  <a:srgbClr val="222222"/>
                </a:solidFill>
                <a:latin typeface="Courier New"/>
              </a:rPr>
              <a:t>Assessed value — year sequences shifted  [E4]</a:t>
            </a:r>
          </a:p>
          <a:p>
            <a:pPr>
              <a:spcAft>
                <a:spcPts val="200"/>
              </a:spcAft>
            </a:pPr>
            <a:r>
              <a:rPr sz="750" b="1">
                <a:solidFill>
                  <a:srgbClr val="2E6B2A"/>
                </a:solidFill>
                <a:latin typeface="Courier New"/>
              </a:rPr>
              <a:t>2  ✓ </a:t>
            </a:r>
            <a:r>
              <a:rPr sz="750" b="0">
                <a:solidFill>
                  <a:srgbClr val="222222"/>
                </a:solidFill>
                <a:latin typeface="Courier New"/>
              </a:rPr>
              <a:t>Actual value — years shifted  [+]</a:t>
            </a:r>
          </a:p>
          <a:p>
            <a:pPr>
              <a:spcAft>
                <a:spcPts val="200"/>
              </a:spcAft>
            </a:pPr>
            <a:r>
              <a:rPr sz="750" b="1">
                <a:solidFill>
                  <a:srgbClr val="2E6B2A"/>
                </a:solidFill>
                <a:latin typeface="Courier New"/>
              </a:rPr>
              <a:t>3  ✓ </a:t>
            </a:r>
            <a:r>
              <a:rPr sz="750" b="0">
                <a:solidFill>
                  <a:srgbClr val="222222"/>
                </a:solidFill>
                <a:latin typeface="Courier New"/>
              </a:rPr>
              <a:t>Direct rate series shifted 1 yr (64.4… vs 64.48…, in mills)  [+]</a:t>
            </a:r>
          </a:p>
          <a:p>
            <a:pPr>
              <a:spcAft>
                <a:spcPts val="200"/>
              </a:spcAft>
            </a:pPr>
            <a:r>
              <a:rPr sz="750" b="1">
                <a:solidFill>
                  <a:srgbClr val="2E6B2A"/>
                </a:solidFill>
                <a:latin typeface="Courier New"/>
              </a:rPr>
              <a:t>4  ✓ </a:t>
            </a:r>
            <a:r>
              <a:rPr sz="750" b="0">
                <a:solidFill>
                  <a:srgbClr val="222222"/>
                </a:solidFill>
                <a:latin typeface="Courier New"/>
              </a:rPr>
              <a:t>Total rate: 171 [2025] vs 171.14 [2024]  [+]</a:t>
            </a:r>
          </a:p>
          <a:p>
            <a:pPr>
              <a:spcAft>
                <a:spcPts val="200"/>
              </a:spcAft>
            </a:pPr>
            <a:r>
              <a:rPr sz="750" b="1">
                <a:solidFill>
                  <a:srgbClr val="2E6B2A"/>
                </a:solidFill>
                <a:latin typeface="Courier New"/>
              </a:rPr>
              <a:t>5  ✓ </a:t>
            </a:r>
            <a:r>
              <a:rPr sz="750" b="0">
                <a:solidFill>
                  <a:srgbClr val="222222"/>
                </a:solidFill>
                <a:latin typeface="Courier New"/>
              </a:rPr>
              <a:t>Net debt: 4.38 [2026] vs 4.4 [2024]  [+]</a:t>
            </a:r>
          </a:p>
          <a:p>
            <a:pPr>
              <a:spcAft>
                <a:spcPts val="200"/>
              </a:spcAft>
            </a:pPr>
            <a:r>
              <a:rPr sz="750" b="1">
                <a:solidFill>
                  <a:srgbClr val="2E6B2A"/>
                </a:solidFill>
                <a:latin typeface="Courier New"/>
              </a:rPr>
              <a:t>6  ✓ </a:t>
            </a:r>
            <a:r>
              <a:rPr sz="750" b="1">
                <a:solidFill>
                  <a:srgbClr val="2E6B2A"/>
                </a:solidFill>
                <a:latin typeface="Courier New"/>
              </a:rPr>
              <a:t>Direct rate characterization: “Very low” vs “High”  [E1]</a:t>
            </a:r>
          </a:p>
          <a:p>
            <a:pPr>
              <a:spcAft>
                <a:spcPts val="200"/>
              </a:spcAft>
            </a:pPr>
            <a:r>
              <a:rPr sz="750" b="1">
                <a:solidFill>
                  <a:srgbClr val="2E6B2A"/>
                </a:solidFill>
                <a:latin typeface="Courier New"/>
              </a:rPr>
              <a:t>7  ✓ </a:t>
            </a:r>
            <a:r>
              <a:rPr sz="750" b="1">
                <a:solidFill>
                  <a:srgbClr val="2E6B2A"/>
                </a:solidFill>
                <a:latin typeface="Courier New"/>
              </a:rPr>
              <a:t>Total rate characterization: “Very low” vs “High”  [E2]</a:t>
            </a:r>
          </a:p>
          <a:p>
            <a:pPr>
              <a:spcAft>
                <a:spcPts val="200"/>
              </a:spcAft>
            </a:pPr>
            <a:r>
              <a:rPr sz="750" b="1">
                <a:solidFill>
                  <a:srgbClr val="C8102E"/>
                </a:solidFill>
                <a:latin typeface="Courier New"/>
              </a:rPr>
              <a:t>8  ✗ </a:t>
            </a:r>
            <a:r>
              <a:rPr sz="750" b="0">
                <a:solidFill>
                  <a:srgbClr val="222222"/>
                </a:solidFill>
                <a:latin typeface="Courier New"/>
              </a:rPr>
              <a:t>Status of dev.: “All built out” vs “Mature”</a:t>
            </a:r>
          </a:p>
          <a:p>
            <a:pPr>
              <a:spcAft>
                <a:spcPts val="200"/>
              </a:spcAft>
            </a:pPr>
            <a:r>
              <a:rPr sz="750" b="1">
                <a:solidFill>
                  <a:srgbClr val="2E6B2A"/>
                </a:solidFill>
                <a:latin typeface="Courier New"/>
              </a:rPr>
              <a:t>9  ✓ </a:t>
            </a:r>
            <a:r>
              <a:rPr sz="750" b="0">
                <a:solidFill>
                  <a:srgbClr val="222222"/>
                </a:solidFill>
                <a:latin typeface="Courier New"/>
              </a:rPr>
              <a:t>MADS year: 2038 vs 2035  [E5]</a:t>
            </a:r>
          </a:p>
          <a:p>
            <a:pPr>
              <a:spcAft>
                <a:spcPts val="200"/>
              </a:spcAft>
            </a:pPr>
            <a:r>
              <a:rPr sz="750" b="1">
                <a:solidFill>
                  <a:srgbClr val="2E6B2A"/>
                </a:solidFill>
                <a:latin typeface="Courier New"/>
              </a:rPr>
              <a:t>10 ✓ </a:t>
            </a:r>
            <a:r>
              <a:rPr sz="750" b="0">
                <a:solidFill>
                  <a:srgbClr val="222222"/>
                </a:solidFill>
                <a:latin typeface="Courier New"/>
              </a:rPr>
              <a:t>Bond maturity: Dec 01, 2065 vs 12/01/2055  [E3]</a:t>
            </a:r>
          </a:p>
          <a:p>
            <a:pPr>
              <a:spcBef>
                <a:spcPts val="400"/>
              </a:spcBef>
            </a:pPr>
            <a:r>
              <a:rPr sz="700" i="1">
                <a:solidFill>
                  <a:srgbClr val="808080"/>
                </a:solidFill>
                <a:latin typeface="Arial"/>
              </a:rPr>
              <a:t>all five E1–E5 caught · one false alarm (item 8) · + = bonus year-shift catches · units normalized, no unit false alarms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“Aren't these prompts too specific?”</a:t>
            </a:r>
            <a:endParaRPr lang="en-US" sz="2400" dirty="0"/>
          </a:p>
        </p:txBody>
      </p:sp>
      <p:sp>
        <p:nvSpPr>
          <p:cNvPr id="3" name="Text 1"/>
          <p:cNvSpPr/>
          <p:nvPr/>
        </p:nvSpPr>
        <p:spPr>
          <a:xfrm>
            <a:off x="640080" y="1280160"/>
            <a:ext cx="10881360" cy="4389120"/>
          </a:xfrm>
          <a:prstGeom prst="rect">
            <a:avLst/>
          </a:prstGeom>
          <a:noFill/>
          <a:ln/>
        </p:spPr>
        <p:txBody>
          <a:bodyPr wrap="square" lIns="0" tIns="0" rIns="0" bIns="0" rtlCol="0" anchor="t"/>
          <a:lstStyle/>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Yes — carved for one class of files: district ratings on the MUD RSR template.</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Same class, same templates → carve the prompts once, check every future file of the class.</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The example is specific; the method is general: define the task, split into steps, structure each step, iterate.</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Trade-off: more specific prompts → more capability, but more customization work. A Method A prompt won’t get there on Spark AIR; each task needs some tailoring. Cost-efficiency: case by case.</a:t>
            </a:r>
            <a:endParaRPr lang="en-US" sz="1500" dirty="0"/>
          </a:p>
          <a:p>
            <a:pPr marL="177800" indent="-177800">
              <a:spcAft>
                <a:spcPts val="1700"/>
              </a:spcAft>
              <a:buSzPct val="100000"/>
              <a:buChar char="–"/>
            </a:pPr>
            <a:r>
              <a:rPr lang="en-US" sz="1500" b="1" dirty="0">
                <a:solidFill>
                  <a:srgbClr val="333333"/>
                </a:solidFill>
                <a:latin typeface="Arial" pitchFamily="34" charset="0"/>
                <a:ea typeface="Arial" pitchFamily="34" charset="-122"/>
                <a:cs typeface="Arial" pitchFamily="34" charset="-120"/>
              </a:rPr>
              <a:t>Carve once, reuse many times.</a:t>
            </a:r>
            <a:endParaRPr lang="en-US" sz="1500" dirty="0"/>
          </a:p>
        </p:txBody>
      </p:sp>
      <p:sp>
        <p:nvSpPr>
          <p:cNvPr id="4" name="Text 2"/>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Takeaways</a:t>
            </a:r>
            <a:endParaRPr lang="en-US" sz="2400" dirty="0"/>
          </a:p>
        </p:txBody>
      </p:sp>
      <p:sp>
        <p:nvSpPr>
          <p:cNvPr id="3" name="Text 1"/>
          <p:cNvSpPr/>
          <p:nvPr/>
        </p:nvSpPr>
        <p:spPr>
          <a:xfrm>
            <a:off x="640080" y="1280160"/>
            <a:ext cx="10881360" cy="4389120"/>
          </a:xfrm>
          <a:prstGeom prst="rect">
            <a:avLst/>
          </a:prstGeom>
          <a:noFill/>
          <a:ln/>
        </p:spPr>
        <p:txBody>
          <a:bodyPr wrap="square" lIns="0" tIns="0" rIns="0" bIns="0" rtlCol="0" anchor="t"/>
          <a:lstStyle/>
          <a:p>
            <a:pPr marL="177800" indent="-177800">
              <a:spcAft>
                <a:spcPts val="1800"/>
              </a:spcAft>
              <a:buSzPct val="100000"/>
              <a:buChar char="–"/>
            </a:pPr>
            <a:r>
              <a:rPr lang="en-US" sz="1500" dirty="0">
                <a:solidFill>
                  <a:srgbClr val="333333"/>
                </a:solidFill>
                <a:latin typeface="Arial" pitchFamily="34" charset="0"/>
                <a:ea typeface="Arial" pitchFamily="34" charset="-122"/>
                <a:cs typeface="Arial" pitchFamily="34" charset="-120"/>
              </a:rPr>
              <a:t>Small models can do big jobs — as small steps. Same model: 10/10 on small questions, 0/5 on the big vague one.</a:t>
            </a:r>
            <a:endParaRPr lang="en-US" sz="1500" dirty="0"/>
          </a:p>
          <a:p>
            <a:pPr marL="177800" indent="-177800">
              <a:spcAft>
                <a:spcPts val="1800"/>
              </a:spcAft>
              <a:buSzPct val="100000"/>
              <a:buChar char="–"/>
            </a:pPr>
            <a:r>
              <a:rPr lang="en-US" sz="1500" dirty="0">
                <a:solidFill>
                  <a:srgbClr val="333333"/>
                </a:solidFill>
                <a:latin typeface="Arial" pitchFamily="34" charset="0"/>
                <a:ea typeface="Arial" pitchFamily="34" charset="-122"/>
                <a:cs typeface="Arial" pitchFamily="34" charset="-120"/>
              </a:rPr>
              <a:t>Reliability comes from process, not model size. 0/5 → 5/5 with no model change.</a:t>
            </a:r>
            <a:endParaRPr lang="en-US" sz="1500" dirty="0"/>
          </a:p>
          <a:p>
            <a:pPr marL="177800" indent="-177800">
              <a:spcAft>
                <a:spcPts val="1800"/>
              </a:spcAft>
              <a:buSzPct val="100000"/>
              <a:buChar char="–"/>
            </a:pPr>
            <a:r>
              <a:rPr lang="en-US" sz="1500" dirty="0">
                <a:solidFill>
                  <a:srgbClr val="333333"/>
                </a:solidFill>
                <a:latin typeface="Arial" pitchFamily="34" charset="0"/>
                <a:ea typeface="Arial" pitchFamily="34" charset="-122"/>
                <a:cs typeface="Arial" pitchFamily="34" charset="-120"/>
              </a:rPr>
              <a:t>The real win is diagnosability — pipelines fail transparently; one-shots just answer wrong.</a:t>
            </a:r>
            <a:endParaRPr lang="en-US" sz="1500" dirty="0"/>
          </a:p>
        </p:txBody>
      </p:sp>
      <p:sp>
        <p:nvSpPr>
          <p:cNvPr id="4" name="Text 2"/>
          <p:cNvSpPr/>
          <p:nvPr/>
        </p:nvSpPr>
        <p:spPr>
          <a:xfrm>
            <a:off x="640080" y="5029200"/>
            <a:ext cx="10881360" cy="548640"/>
          </a:xfrm>
          <a:prstGeom prst="rect">
            <a:avLst/>
          </a:prstGeom>
          <a:noFill/>
          <a:ln/>
        </p:spPr>
        <p:txBody>
          <a:bodyPr wrap="square" lIns="0" tIns="0" rIns="0" bIns="0" rtlCol="0" anchor="ctr"/>
          <a:lstStyle/>
          <a:p>
            <a:pPr indent="0" marL="0">
              <a:buNone/>
            </a:pPr>
            <a:r>
              <a:rPr lang="en-US" sz="2000" b="1" i="1" dirty="0">
                <a:solidFill>
                  <a:srgbClr val="C8102E"/>
                </a:solidFill>
                <a:latin typeface="Arial" pitchFamily="34" charset="0"/>
                <a:ea typeface="Arial" pitchFamily="34" charset="-122"/>
                <a:cs typeface="Arial" pitchFamily="34" charset="-120"/>
              </a:rPr>
              <a:t>“We didn't make the model smarter. We changed the way we ask.”</a:t>
            </a:r>
            <a:endParaRPr lang="en-US" sz="2000" dirty="0"/>
          </a:p>
        </p:txBody>
      </p:sp>
      <p:sp>
        <p:nvSpPr>
          <p:cNvPr id="5" name="Text 3"/>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Thanks</a:t>
            </a:r>
            <a:endParaRPr lang="en-US" sz="2400" dirty="0"/>
          </a:p>
        </p:txBody>
      </p:sp>
      <p:sp>
        <p:nvSpPr>
          <p:cNvPr id="3" name="Text 1"/>
          <p:cNvSpPr/>
          <p:nvPr/>
        </p:nvSpPr>
        <p:spPr>
          <a:xfrm>
            <a:off x="640080" y="1280160"/>
            <a:ext cx="10881360" cy="2560320"/>
          </a:xfrm>
          <a:prstGeom prst="rect">
            <a:avLst/>
          </a:prstGeom>
          <a:noFill/>
          <a:ln/>
        </p:spPr>
        <p:txBody>
          <a:bodyPr wrap="square" lIns="0" tIns="0" rIns="0" bIns="0" rtlCol="0" anchor="t"/>
          <a:lstStyle/>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Inspired by the File Review AI project — the extract-then-check approach comes from that squad’s work.</a:t>
            </a:r>
            <a:endParaRPr lang="en-US" sz="1500" dirty="0"/>
          </a:p>
          <a:p>
            <a:pPr marL="177800" indent="-177800">
              <a:spcAft>
                <a:spcPts val="1600"/>
              </a:spcAft>
              <a:buSzPct val="100000"/>
              <a:buChar char="–"/>
            </a:pPr>
            <a:r>
              <a:rPr lang="en-US" sz="1500" b="1" dirty="0">
                <a:solidFill>
                  <a:srgbClr val="333333"/>
                </a:solidFill>
                <a:latin typeface="Arial" pitchFamily="34" charset="0"/>
                <a:ea typeface="Arial" pitchFamily="34" charset="-122"/>
                <a:cs typeface="Arial" pitchFamily="34" charset="-120"/>
              </a:rPr>
              <a:t>Thank you to Jeff and the File Review AI squad.</a:t>
            </a:r>
            <a:endParaRPr lang="en-US" sz="1500" dirty="0"/>
          </a:p>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Demo materials and prompts available on request.</a:t>
            </a:r>
            <a:endParaRPr lang="en-US" sz="1500" dirty="0"/>
          </a:p>
        </p:txBody>
      </p:sp>
      <p:sp>
        <p:nvSpPr>
          <p:cNvPr id="4" name="Text 2"/>
          <p:cNvSpPr/>
          <p:nvPr/>
        </p:nvSpPr>
        <p:spPr>
          <a:xfrm>
            <a:off x="640080" y="4297680"/>
            <a:ext cx="10881360" cy="822960"/>
          </a:xfrm>
          <a:prstGeom prst="rect">
            <a:avLst/>
          </a:prstGeom>
          <a:noFill/>
          <a:ln/>
        </p:spPr>
        <p:txBody>
          <a:bodyPr wrap="square" lIns="0" tIns="0" rIns="0" bIns="0" rtlCol="0" anchor="ctr"/>
          <a:lstStyle/>
          <a:p>
            <a:pPr indent="0" marL="0">
              <a:buNone/>
            </a:pPr>
            <a:r>
              <a:rPr lang="en-US" sz="3600" b="1" dirty="0">
                <a:solidFill>
                  <a:srgbClr val="222222"/>
                </a:solidFill>
                <a:latin typeface="Arial" pitchFamily="34" charset="0"/>
                <a:ea typeface="Arial" pitchFamily="34" charset="-122"/>
                <a:cs typeface="Arial" pitchFamily="34" charset="-120"/>
              </a:rPr>
              <a:t>Questions?</a:t>
            </a:r>
            <a:endParaRPr lang="en-US" sz="3600" dirty="0"/>
          </a:p>
        </p:txBody>
      </p:sp>
      <p:sp>
        <p:nvSpPr>
          <p:cNvPr id="5" name="Text 3"/>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2026-08-03T17:25:52Z</dcterms:created>
  <dcterms:modified xsi:type="dcterms:W3CDTF">2026-08-03T17:25:52Z</dcterms:modified>
</cp:coreProperties>
</file>